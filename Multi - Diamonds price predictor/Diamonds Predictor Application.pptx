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64" r:id="rId4"/>
  </p:sldMasterIdLst>
  <p:notesMasterIdLst>
    <p:notesMasterId r:id="rId19"/>
  </p:notesMasterIdLst>
  <p:handoutMasterIdLst>
    <p:handoutMasterId r:id="rId20"/>
  </p:handoutMasterIdLst>
  <p:sldIdLst>
    <p:sldId id="1497" r:id="rId5"/>
    <p:sldId id="1525" r:id="rId6"/>
    <p:sldId id="1498" r:id="rId7"/>
    <p:sldId id="1514" r:id="rId8"/>
    <p:sldId id="1523" r:id="rId9"/>
    <p:sldId id="1515" r:id="rId10"/>
    <p:sldId id="1516" r:id="rId11"/>
    <p:sldId id="1519" r:id="rId12"/>
    <p:sldId id="1520" r:id="rId13"/>
    <p:sldId id="1502" r:id="rId14"/>
    <p:sldId id="1506" r:id="rId15"/>
    <p:sldId id="1524" r:id="rId16"/>
    <p:sldId id="1521" r:id="rId17"/>
    <p:sldId id="1518"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941987A-41B7-49AC-EE6E-03F2D0BD95BA}" name="Daria Naidenov" initials="DN" userId="S::danaidenov@microsoft.com::ab38ab5f-bdf0-4774-ae5a-d2782abb2027"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9012ECD-51FC-41F1-AA8D-1B2483CD663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303"/>
    <p:restoredTop sz="77482" autoAdjust="0"/>
  </p:normalViewPr>
  <p:slideViewPr>
    <p:cSldViewPr snapToGrid="0">
      <p:cViewPr varScale="1">
        <p:scale>
          <a:sx n="86" d="100"/>
          <a:sy n="86" d="100"/>
        </p:scale>
        <p:origin x="1878" y="78"/>
      </p:cViewPr>
      <p:guideLst/>
    </p:cSldViewPr>
  </p:slideViewPr>
  <p:notesTextViewPr>
    <p:cViewPr>
      <p:scale>
        <a:sx n="1" d="1"/>
        <a:sy n="1" d="1"/>
      </p:scale>
      <p:origin x="0" y="0"/>
    </p:cViewPr>
  </p:notesTextViewPr>
  <p:sorterViewPr>
    <p:cViewPr>
      <p:scale>
        <a:sx n="100" d="100"/>
        <a:sy n="100" d="100"/>
      </p:scale>
      <p:origin x="0" y="-1972"/>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4198972-73C8-9327-0850-18A64251345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2955A2EB-01C3-20E0-FF45-07CCC86724F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5D1EC30-5B0B-48D0-A1A8-66A96720DF24}" type="datetimeFigureOut">
              <a:rPr lang="en-US" smtClean="0"/>
              <a:t>7/28/2026</a:t>
            </a:fld>
            <a:endParaRPr lang="en-US" dirty="0"/>
          </a:p>
        </p:txBody>
      </p:sp>
      <p:sp>
        <p:nvSpPr>
          <p:cNvPr id="4" name="Footer Placeholder 3">
            <a:extLst>
              <a:ext uri="{FF2B5EF4-FFF2-40B4-BE49-F238E27FC236}">
                <a16:creationId xmlns:a16="http://schemas.microsoft.com/office/drawing/2014/main" id="{91C50A84-CDF8-9D1C-7599-D1B543581C0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1BAAFBD2-1F7B-DB18-5994-6D22C6743F9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B8FBFCE-2205-4B9C-81E5-532E0690D8C1}" type="slidenum">
              <a:rPr lang="en-US" smtClean="0"/>
              <a:t>‹#›</a:t>
            </a:fld>
            <a:endParaRPr lang="en-US" dirty="0"/>
          </a:p>
        </p:txBody>
      </p:sp>
    </p:spTree>
    <p:extLst>
      <p:ext uri="{BB962C8B-B14F-4D97-AF65-F5344CB8AC3E}">
        <p14:creationId xmlns:p14="http://schemas.microsoft.com/office/powerpoint/2010/main" val="11787311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F68A4D-42A7-45F7-9930-00E8DCB48D7E}" type="datetimeFigureOut">
              <a:rPr lang="en-US" smtClean="0"/>
              <a:t>7/28/2026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DD6F49-EBB7-4CCF-97A8-E526BB28BB69}" type="slidenum">
              <a:rPr lang="en-US" smtClean="0"/>
              <a:t>‹#›</a:t>
            </a:fld>
            <a:endParaRPr lang="en-US" dirty="0"/>
          </a:p>
        </p:txBody>
      </p:sp>
    </p:spTree>
    <p:extLst>
      <p:ext uri="{BB962C8B-B14F-4D97-AF65-F5344CB8AC3E}">
        <p14:creationId xmlns:p14="http://schemas.microsoft.com/office/powerpoint/2010/main" val="27871936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Hello</a:t>
            </a:r>
            <a:r>
              <a:rPr lang="en-US" dirty="0"/>
              <a:t> everyone. My name is Saad, and today I’m presenting my Diamonds Predictor Application. This project uses machine learning to predict diamond prices, classify diamond clarity, segment customers, and provide an AI assistant for diamond analysis. It’s a complete end‑to‑end data science project.”</a:t>
            </a:r>
          </a:p>
        </p:txBody>
      </p:sp>
      <p:sp>
        <p:nvSpPr>
          <p:cNvPr id="4" name="Slide Number Placeholder 3"/>
          <p:cNvSpPr>
            <a:spLocks noGrp="1"/>
          </p:cNvSpPr>
          <p:nvPr>
            <p:ph type="sldNum" sz="quarter" idx="5"/>
          </p:nvPr>
        </p:nvSpPr>
        <p:spPr/>
        <p:txBody>
          <a:bodyPr/>
          <a:lstStyle/>
          <a:p>
            <a:fld id="{BFDD6F49-EBB7-4CCF-97A8-E526BB28BB69}" type="slidenum">
              <a:rPr lang="en-US" smtClean="0"/>
              <a:t>1</a:t>
            </a:fld>
            <a:endParaRPr lang="en-US" dirty="0"/>
          </a:p>
        </p:txBody>
      </p:sp>
    </p:spTree>
    <p:extLst>
      <p:ext uri="{BB962C8B-B14F-4D97-AF65-F5344CB8AC3E}">
        <p14:creationId xmlns:p14="http://schemas.microsoft.com/office/powerpoint/2010/main" val="32752964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I begin, let me quickly explain what this project actually is. I built a complete end‑to‑end machine learning system for the diamond industry. It can predict diamond prices, classify diamond clarity, segment diamonds into meaningful market groups, and even answer natural‑language questions through an AI assistant. All of this is deployed inside a Gradio web application, making the system interactive and easy for anyone to use. So in the next few slides, I’ll show you how each part works.</a:t>
            </a:r>
          </a:p>
        </p:txBody>
      </p:sp>
      <p:sp>
        <p:nvSpPr>
          <p:cNvPr id="4" name="Slide Number Placeholder 3"/>
          <p:cNvSpPr>
            <a:spLocks noGrp="1"/>
          </p:cNvSpPr>
          <p:nvPr>
            <p:ph type="sldNum" sz="quarter" idx="5"/>
          </p:nvPr>
        </p:nvSpPr>
        <p:spPr/>
        <p:txBody>
          <a:bodyPr/>
          <a:lstStyle/>
          <a:p>
            <a:fld id="{BFDD6F49-EBB7-4CCF-97A8-E526BB28BB69}" type="slidenum">
              <a:rPr lang="en-US" smtClean="0"/>
              <a:t>2</a:t>
            </a:fld>
            <a:endParaRPr lang="en-US" dirty="0"/>
          </a:p>
        </p:txBody>
      </p:sp>
    </p:spTree>
    <p:extLst>
      <p:ext uri="{BB962C8B-B14F-4D97-AF65-F5344CB8AC3E}">
        <p14:creationId xmlns:p14="http://schemas.microsoft.com/office/powerpoint/2010/main" val="5138558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diamond industry faces three major challenges: First, pricing diamonds accurately is difficult because many features influence price. Second, clarity grading requires expert knowledge and is time‑consuming. Third, customers vary widely in budget and preferences, so segmentation is important. My project solves all three problems using machine learning.”</a:t>
            </a:r>
          </a:p>
        </p:txBody>
      </p:sp>
      <p:sp>
        <p:nvSpPr>
          <p:cNvPr id="4" name="Slide Number Placeholder 3"/>
          <p:cNvSpPr>
            <a:spLocks noGrp="1"/>
          </p:cNvSpPr>
          <p:nvPr>
            <p:ph type="sldNum" sz="quarter" idx="5"/>
          </p:nvPr>
        </p:nvSpPr>
        <p:spPr/>
        <p:txBody>
          <a:bodyPr/>
          <a:lstStyle/>
          <a:p>
            <a:fld id="{BFDD6F49-EBB7-4CCF-97A8-E526BB28BB69}" type="slidenum">
              <a:rPr lang="en-US" smtClean="0"/>
              <a:t>3</a:t>
            </a:fld>
            <a:endParaRPr lang="en-US" dirty="0"/>
          </a:p>
        </p:txBody>
      </p:sp>
    </p:spTree>
    <p:extLst>
      <p:ext uri="{BB962C8B-B14F-4D97-AF65-F5344CB8AC3E}">
        <p14:creationId xmlns:p14="http://schemas.microsoft.com/office/powerpoint/2010/main" val="40209297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 used the Diamonds dataset from Kaggle, which contains over fifty‑three thousand rows. It includes numeric features like carat and price, and categorical features like cut, color, and clarity. This dataset is widely used in ML research and represents real diamond market data.</a:t>
            </a:r>
          </a:p>
        </p:txBody>
      </p:sp>
      <p:sp>
        <p:nvSpPr>
          <p:cNvPr id="4" name="Slide Number Placeholder 3"/>
          <p:cNvSpPr>
            <a:spLocks noGrp="1"/>
          </p:cNvSpPr>
          <p:nvPr>
            <p:ph type="sldNum" sz="quarter" idx="5"/>
          </p:nvPr>
        </p:nvSpPr>
        <p:spPr/>
        <p:txBody>
          <a:bodyPr/>
          <a:lstStyle/>
          <a:p>
            <a:fld id="{BFDD6F49-EBB7-4CCF-97A8-E526BB28BB69}" type="slidenum">
              <a:rPr lang="en-US" smtClean="0"/>
              <a:t>4</a:t>
            </a:fld>
            <a:endParaRPr lang="en-US" dirty="0"/>
          </a:p>
        </p:txBody>
      </p:sp>
    </p:spTree>
    <p:extLst>
      <p:ext uri="{BB962C8B-B14F-4D97-AF65-F5344CB8AC3E}">
        <p14:creationId xmlns:p14="http://schemas.microsoft.com/office/powerpoint/2010/main" val="31229205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5AF5BD-1180-F811-2C41-CC0166536F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541563-C87F-8A4D-69BB-16DB767B6E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8E403A-97A4-7136-4940-23FAC7EA45A1}"/>
              </a:ext>
            </a:extLst>
          </p:cNvPr>
          <p:cNvSpPr>
            <a:spLocks noGrp="1"/>
          </p:cNvSpPr>
          <p:nvPr>
            <p:ph type="body" idx="1"/>
          </p:nvPr>
        </p:nvSpPr>
        <p:spPr/>
        <p:txBody>
          <a:bodyPr/>
          <a:lstStyle/>
          <a:p>
            <a:r>
              <a:rPr lang="en-US" dirty="0"/>
              <a:t>EDA showed a very strong correlation between carat and price, no missing values, and clear patterns between quality features and price. The heatmap highlights how carat, x, y, and z all strongly relate to price. Outliers were removed, and a </a:t>
            </a:r>
            <a:r>
              <a:rPr lang="en-US" dirty="0" err="1"/>
              <a:t>Sweetviz</a:t>
            </a:r>
            <a:r>
              <a:rPr lang="en-US" dirty="0"/>
              <a:t> report confirmed these insights.</a:t>
            </a:r>
          </a:p>
        </p:txBody>
      </p:sp>
      <p:sp>
        <p:nvSpPr>
          <p:cNvPr id="4" name="Slide Number Placeholder 3">
            <a:extLst>
              <a:ext uri="{FF2B5EF4-FFF2-40B4-BE49-F238E27FC236}">
                <a16:creationId xmlns:a16="http://schemas.microsoft.com/office/drawing/2014/main" id="{760BE633-8C0A-8E6E-838C-754D0ACB4B37}"/>
              </a:ext>
            </a:extLst>
          </p:cNvPr>
          <p:cNvSpPr>
            <a:spLocks noGrp="1"/>
          </p:cNvSpPr>
          <p:nvPr>
            <p:ph type="sldNum" sz="quarter" idx="5"/>
          </p:nvPr>
        </p:nvSpPr>
        <p:spPr/>
        <p:txBody>
          <a:bodyPr/>
          <a:lstStyle/>
          <a:p>
            <a:fld id="{BFDD6F49-EBB7-4CCF-97A8-E526BB28BB69}" type="slidenum">
              <a:rPr lang="en-US" smtClean="0"/>
              <a:t>5</a:t>
            </a:fld>
            <a:endParaRPr lang="en-US" dirty="0"/>
          </a:p>
        </p:txBody>
      </p:sp>
    </p:spTree>
    <p:extLst>
      <p:ext uri="{BB962C8B-B14F-4D97-AF65-F5344CB8AC3E}">
        <p14:creationId xmlns:p14="http://schemas.microsoft.com/office/powerpoint/2010/main" val="19453212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prepare the data, I removed duplicates and physically impossible rows. I encoded categorical features using One‑Hot Encoding and scaled numeric features using </a:t>
            </a:r>
            <a:r>
              <a:rPr lang="en-US" dirty="0" err="1"/>
              <a:t>StandardScaler</a:t>
            </a:r>
            <a:r>
              <a:rPr lang="en-US" dirty="0"/>
              <a:t>. Finally, I split the dataset into training and testing sets. This ensures the models learn from clean, consistent data.</a:t>
            </a:r>
          </a:p>
        </p:txBody>
      </p:sp>
      <p:sp>
        <p:nvSpPr>
          <p:cNvPr id="4" name="Slide Number Placeholder 3"/>
          <p:cNvSpPr>
            <a:spLocks noGrp="1"/>
          </p:cNvSpPr>
          <p:nvPr>
            <p:ph type="sldNum" sz="quarter" idx="5"/>
          </p:nvPr>
        </p:nvSpPr>
        <p:spPr/>
        <p:txBody>
          <a:bodyPr/>
          <a:lstStyle/>
          <a:p>
            <a:fld id="{BFDD6F49-EBB7-4CCF-97A8-E526BB28BB69}" type="slidenum">
              <a:rPr lang="en-US" smtClean="0"/>
              <a:t>6</a:t>
            </a:fld>
            <a:endParaRPr lang="en-US" dirty="0"/>
          </a:p>
        </p:txBody>
      </p:sp>
    </p:spTree>
    <p:extLst>
      <p:ext uri="{BB962C8B-B14F-4D97-AF65-F5344CB8AC3E}">
        <p14:creationId xmlns:p14="http://schemas.microsoft.com/office/powerpoint/2010/main" val="18176744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For price prediction, I built an Artificial Neural Network with two hidden layers. The model was evaluated using MAE, MSE, RMSE, and R². The results showed strong predictive accuracy, meaning the model can estimate diamond prices effectively.</a:t>
            </a:r>
          </a:p>
        </p:txBody>
      </p:sp>
      <p:sp>
        <p:nvSpPr>
          <p:cNvPr id="4" name="Slide Number Placeholder 3"/>
          <p:cNvSpPr>
            <a:spLocks noGrp="1"/>
          </p:cNvSpPr>
          <p:nvPr>
            <p:ph type="sldNum" sz="quarter" idx="5"/>
          </p:nvPr>
        </p:nvSpPr>
        <p:spPr/>
        <p:txBody>
          <a:bodyPr/>
          <a:lstStyle/>
          <a:p>
            <a:fld id="{BFDD6F49-EBB7-4CCF-97A8-E526BB28BB69}" type="slidenum">
              <a:rPr lang="en-US" smtClean="0"/>
              <a:t>7</a:t>
            </a:fld>
            <a:endParaRPr lang="en-US" dirty="0"/>
          </a:p>
        </p:txBody>
      </p:sp>
    </p:spTree>
    <p:extLst>
      <p:ext uri="{BB962C8B-B14F-4D97-AF65-F5344CB8AC3E}">
        <p14:creationId xmlns:p14="http://schemas.microsoft.com/office/powerpoint/2010/main" val="11062685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DCF505-CBF7-C40C-A4CC-2AA979CE1A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ABCE19-4FA9-DB52-8AFE-5D9D34AB07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62DECE-FBFA-9C2C-F77A-33A8F609E36D}"/>
              </a:ext>
            </a:extLst>
          </p:cNvPr>
          <p:cNvSpPr>
            <a:spLocks noGrp="1"/>
          </p:cNvSpPr>
          <p:nvPr>
            <p:ph type="body" idx="1"/>
          </p:nvPr>
        </p:nvSpPr>
        <p:spPr/>
        <p:txBody>
          <a:bodyPr/>
          <a:lstStyle/>
          <a:p>
            <a:r>
              <a:rPr lang="en-US"/>
              <a:t>For clarity prediction, I built another ANN classifier. It predicts clarity categories such as SI1, VS2, and IF. The model achieved good accuracy and strong precision and recall across most classes. This shows the model learned clarity patterns well.</a:t>
            </a:r>
          </a:p>
        </p:txBody>
      </p:sp>
      <p:sp>
        <p:nvSpPr>
          <p:cNvPr id="4" name="Slide Number Placeholder 3">
            <a:extLst>
              <a:ext uri="{FF2B5EF4-FFF2-40B4-BE49-F238E27FC236}">
                <a16:creationId xmlns:a16="http://schemas.microsoft.com/office/drawing/2014/main" id="{74603CAA-DB33-A4EE-EB6B-3C80A053D692}"/>
              </a:ext>
            </a:extLst>
          </p:cNvPr>
          <p:cNvSpPr>
            <a:spLocks noGrp="1"/>
          </p:cNvSpPr>
          <p:nvPr>
            <p:ph type="sldNum" sz="quarter" idx="5"/>
          </p:nvPr>
        </p:nvSpPr>
        <p:spPr/>
        <p:txBody>
          <a:bodyPr/>
          <a:lstStyle/>
          <a:p>
            <a:fld id="{BFDD6F49-EBB7-4CCF-97A8-E526BB28BB69}" type="slidenum">
              <a:rPr lang="en-US" smtClean="0"/>
              <a:t>8</a:t>
            </a:fld>
            <a:endParaRPr lang="en-US" dirty="0"/>
          </a:p>
        </p:txBody>
      </p:sp>
    </p:spTree>
    <p:extLst>
      <p:ext uri="{BB962C8B-B14F-4D97-AF65-F5344CB8AC3E}">
        <p14:creationId xmlns:p14="http://schemas.microsoft.com/office/powerpoint/2010/main" val="41798899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EC81E6-0FB3-5D32-46B4-B1C2DEE28B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773797-F2D5-4160-3B6E-7459C1CB38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7F8F98-0CC0-9449-8398-A76F5CB2793B}"/>
              </a:ext>
            </a:extLst>
          </p:cNvPr>
          <p:cNvSpPr>
            <a:spLocks noGrp="1"/>
          </p:cNvSpPr>
          <p:nvPr>
            <p:ph type="body" idx="1"/>
          </p:nvPr>
        </p:nvSpPr>
        <p:spPr/>
        <p:txBody>
          <a:bodyPr/>
          <a:lstStyle/>
          <a:p>
            <a:r>
              <a:rPr lang="en-US" dirty="0"/>
              <a:t>I applied KMeans clustering to segment diamonds into meaningful groups. Using scaled numeric features and price, the model produced four clear clusters. These clusters represent luxury diamonds, mid‑tier diamonds, budget diamonds, and diamonds with unusual proportions. The silhouette score confirmed good separation between clusters.</a:t>
            </a:r>
          </a:p>
        </p:txBody>
      </p:sp>
      <p:sp>
        <p:nvSpPr>
          <p:cNvPr id="4" name="Slide Number Placeholder 3">
            <a:extLst>
              <a:ext uri="{FF2B5EF4-FFF2-40B4-BE49-F238E27FC236}">
                <a16:creationId xmlns:a16="http://schemas.microsoft.com/office/drawing/2014/main" id="{800114D8-2859-ADCE-8250-19B4B3B07D32}"/>
              </a:ext>
            </a:extLst>
          </p:cNvPr>
          <p:cNvSpPr>
            <a:spLocks noGrp="1"/>
          </p:cNvSpPr>
          <p:nvPr>
            <p:ph type="sldNum" sz="quarter" idx="5"/>
          </p:nvPr>
        </p:nvSpPr>
        <p:spPr/>
        <p:txBody>
          <a:bodyPr/>
          <a:lstStyle/>
          <a:p>
            <a:fld id="{BFDD6F49-EBB7-4CCF-97A8-E526BB28BB69}" type="slidenum">
              <a:rPr lang="en-US" smtClean="0"/>
              <a:t>9</a:t>
            </a:fld>
            <a:endParaRPr lang="en-US" dirty="0"/>
          </a:p>
        </p:txBody>
      </p:sp>
    </p:spTree>
    <p:extLst>
      <p:ext uri="{BB962C8B-B14F-4D97-AF65-F5344CB8AC3E}">
        <p14:creationId xmlns:p14="http://schemas.microsoft.com/office/powerpoint/2010/main" val="29567651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 also built an AI assistant that allows users to search the dataset using natural language. For example, users can ask for ‘expensive diamonds’ or ‘large premium diamonds.’ The assistant filters the dataset and explains the results like a human expert. This adds intelligence and usability to the system.</a:t>
            </a:r>
          </a:p>
        </p:txBody>
      </p:sp>
      <p:sp>
        <p:nvSpPr>
          <p:cNvPr id="4" name="Slide Number Placeholder 3"/>
          <p:cNvSpPr>
            <a:spLocks noGrp="1"/>
          </p:cNvSpPr>
          <p:nvPr>
            <p:ph type="sldNum" sz="quarter" idx="5"/>
          </p:nvPr>
        </p:nvSpPr>
        <p:spPr/>
        <p:txBody>
          <a:bodyPr/>
          <a:lstStyle/>
          <a:p>
            <a:fld id="{BFDD6F49-EBB7-4CCF-97A8-E526BB28BB69}" type="slidenum">
              <a:rPr lang="en-US" smtClean="0"/>
              <a:t>10</a:t>
            </a:fld>
            <a:endParaRPr lang="en-US" dirty="0"/>
          </a:p>
        </p:txBody>
      </p:sp>
    </p:spTree>
    <p:extLst>
      <p:ext uri="{BB962C8B-B14F-4D97-AF65-F5344CB8AC3E}">
        <p14:creationId xmlns:p14="http://schemas.microsoft.com/office/powerpoint/2010/main" val="37875951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This is the Gradio app that brings all the models together. Users can predict price, predict clarity, or ask the AI assistant questions. Gradio makes the entire system interactive and easy to use.</a:t>
            </a:r>
          </a:p>
        </p:txBody>
      </p:sp>
      <p:sp>
        <p:nvSpPr>
          <p:cNvPr id="4" name="Slide Number Placeholder 3"/>
          <p:cNvSpPr>
            <a:spLocks noGrp="1"/>
          </p:cNvSpPr>
          <p:nvPr>
            <p:ph type="sldNum" sz="quarter" idx="5"/>
          </p:nvPr>
        </p:nvSpPr>
        <p:spPr/>
        <p:txBody>
          <a:bodyPr/>
          <a:lstStyle/>
          <a:p>
            <a:fld id="{BFDD6F49-EBB7-4CCF-97A8-E526BB28BB69}" type="slidenum">
              <a:rPr lang="en-US" smtClean="0"/>
              <a:t>11</a:t>
            </a:fld>
            <a:endParaRPr lang="en-US" dirty="0"/>
          </a:p>
        </p:txBody>
      </p:sp>
    </p:spTree>
    <p:extLst>
      <p:ext uri="{BB962C8B-B14F-4D97-AF65-F5344CB8AC3E}">
        <p14:creationId xmlns:p14="http://schemas.microsoft.com/office/powerpoint/2010/main" val="40925452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Here’s the big picture: Price prediction, clarity prediction, and customer segmentation — three models working together to solve real business challenges in the diamond industry. This is what makes the Diamonds Predictor Application a complete, practical, and powerful machine learning system.</a:t>
            </a:r>
          </a:p>
        </p:txBody>
      </p:sp>
      <p:sp>
        <p:nvSpPr>
          <p:cNvPr id="4" name="Slide Number Placeholder 3"/>
          <p:cNvSpPr>
            <a:spLocks noGrp="1"/>
          </p:cNvSpPr>
          <p:nvPr>
            <p:ph type="sldNum" sz="quarter" idx="5"/>
          </p:nvPr>
        </p:nvSpPr>
        <p:spPr/>
        <p:txBody>
          <a:bodyPr/>
          <a:lstStyle/>
          <a:p>
            <a:fld id="{BFDD6F49-EBB7-4CCF-97A8-E526BB28BB69}" type="slidenum">
              <a:rPr lang="en-US" smtClean="0"/>
              <a:t>12</a:t>
            </a:fld>
            <a:endParaRPr lang="en-US" dirty="0"/>
          </a:p>
        </p:txBody>
      </p:sp>
    </p:spTree>
    <p:extLst>
      <p:ext uri="{BB962C8B-B14F-4D97-AF65-F5344CB8AC3E}">
        <p14:creationId xmlns:p14="http://schemas.microsoft.com/office/powerpoint/2010/main" val="35355187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project demonstrates a full end‑to‑end machine learning solution for the diamond industry. It predicts prices, grades clarity, segments customers, and provides an AI assistant. In the future, I can improve the models using </a:t>
            </a:r>
            <a:r>
              <a:rPr lang="en-US" dirty="0" err="1"/>
              <a:t>XGBoost</a:t>
            </a:r>
            <a:r>
              <a:rPr lang="en-US" dirty="0"/>
              <a:t> or CNNs, deploy the app on HuggingFace Spaces, and add a recommendation system or real‑time pricing API. Thank you.</a:t>
            </a:r>
          </a:p>
        </p:txBody>
      </p:sp>
      <p:sp>
        <p:nvSpPr>
          <p:cNvPr id="4" name="Slide Number Placeholder 3"/>
          <p:cNvSpPr>
            <a:spLocks noGrp="1"/>
          </p:cNvSpPr>
          <p:nvPr>
            <p:ph type="sldNum" sz="quarter" idx="5"/>
          </p:nvPr>
        </p:nvSpPr>
        <p:spPr/>
        <p:txBody>
          <a:bodyPr/>
          <a:lstStyle/>
          <a:p>
            <a:fld id="{BFDD6F49-EBB7-4CCF-97A8-E526BB28BB69}" type="slidenum">
              <a:rPr lang="en-US" smtClean="0"/>
              <a:t>13</a:t>
            </a:fld>
            <a:endParaRPr lang="en-US" dirty="0"/>
          </a:p>
        </p:txBody>
      </p:sp>
    </p:spTree>
    <p:extLst>
      <p:ext uri="{BB962C8B-B14F-4D97-AF65-F5344CB8AC3E}">
        <p14:creationId xmlns:p14="http://schemas.microsoft.com/office/powerpoint/2010/main" val="24749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That concludes my presentation. I’m happy to answer any questions you have — whether technical or business‑related. Let’s discuss them together.</a:t>
            </a:r>
          </a:p>
        </p:txBody>
      </p:sp>
      <p:sp>
        <p:nvSpPr>
          <p:cNvPr id="4" name="Slide Number Placeholder 3"/>
          <p:cNvSpPr>
            <a:spLocks noGrp="1"/>
          </p:cNvSpPr>
          <p:nvPr>
            <p:ph type="sldNum" sz="quarter" idx="5"/>
          </p:nvPr>
        </p:nvSpPr>
        <p:spPr/>
        <p:txBody>
          <a:bodyPr/>
          <a:lstStyle/>
          <a:p>
            <a:fld id="{BFDD6F49-EBB7-4CCF-97A8-E526BB28BB69}" type="slidenum">
              <a:rPr lang="en-US" smtClean="0"/>
              <a:t>14</a:t>
            </a:fld>
            <a:endParaRPr lang="en-US" dirty="0"/>
          </a:p>
        </p:txBody>
      </p:sp>
    </p:spTree>
    <p:extLst>
      <p:ext uri="{BB962C8B-B14F-4D97-AF65-F5344CB8AC3E}">
        <p14:creationId xmlns:p14="http://schemas.microsoft.com/office/powerpoint/2010/main" val="285862180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98327" y="5096040"/>
            <a:ext cx="10963051" cy="761201"/>
          </a:xfrm>
        </p:spPr>
        <p:txBody>
          <a:bodyPr anchor="b">
            <a:normAutofit/>
          </a:bodyPr>
          <a:lstStyle>
            <a:lvl1pPr algn="l">
              <a:defRPr sz="4000"/>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598328" y="5972629"/>
            <a:ext cx="10963050" cy="519884"/>
          </a:xfrm>
        </p:spPr>
        <p:txBody>
          <a:bodyPr anchor="t">
            <a:normAutofit/>
          </a:bodyPr>
          <a:lstStyle>
            <a:lvl1pPr marL="0" indent="0" algn="l">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cxnSp>
        <p:nvCxnSpPr>
          <p:cNvPr id="4" name="Straight Connector 3">
            <a:extLst>
              <a:ext uri="{FF2B5EF4-FFF2-40B4-BE49-F238E27FC236}">
                <a16:creationId xmlns:a16="http://schemas.microsoft.com/office/drawing/2014/main" id="{E2615D95-4353-B9DA-619F-62F51763C54C}"/>
              </a:ext>
            </a:extLst>
          </p:cNvPr>
          <p:cNvCxnSpPr>
            <a:cxnSpLocks/>
          </p:cNvCxnSpPr>
          <p:nvPr/>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Footer Placeholder 7">
            <a:extLst>
              <a:ext uri="{FF2B5EF4-FFF2-40B4-BE49-F238E27FC236}">
                <a16:creationId xmlns:a16="http://schemas.microsoft.com/office/drawing/2014/main" id="{1B5B8C48-05E9-5280-3F6A-22F8BCBB477E}"/>
              </a:ext>
            </a:extLst>
          </p:cNvPr>
          <p:cNvSpPr>
            <a:spLocks noGrp="1"/>
          </p:cNvSpPr>
          <p:nvPr>
            <p:ph type="ftr" sz="quarter" idx="15"/>
          </p:nvPr>
        </p:nvSpPr>
        <p:spPr/>
        <p:txBody>
          <a:bodyPr/>
          <a:lstStyle/>
          <a:p>
            <a:r>
              <a:rPr lang="en-US" dirty="0"/>
              <a:t>GROWTH MARKETING PLAN</a:t>
            </a:r>
          </a:p>
        </p:txBody>
      </p:sp>
      <p:sp>
        <p:nvSpPr>
          <p:cNvPr id="7" name="Date Placeholder 6">
            <a:extLst>
              <a:ext uri="{FF2B5EF4-FFF2-40B4-BE49-F238E27FC236}">
                <a16:creationId xmlns:a16="http://schemas.microsoft.com/office/drawing/2014/main" id="{1AA6C9C7-A264-237A-7F3C-46E6A7A9646D}"/>
              </a:ext>
            </a:extLst>
          </p:cNvPr>
          <p:cNvSpPr>
            <a:spLocks noGrp="1"/>
          </p:cNvSpPr>
          <p:nvPr>
            <p:ph type="dt" sz="half" idx="14"/>
          </p:nvPr>
        </p:nvSpPr>
        <p:spPr/>
        <p:txBody>
          <a:bodyPr/>
          <a:lstStyle/>
          <a:p>
            <a:fld id="{9DE1B49B-C7C7-46C5-86D1-04B289EB7888}" type="datetime1">
              <a:rPr lang="en-US" smtClean="0"/>
              <a:t>7/28/2026</a:t>
            </a:fld>
            <a:endParaRPr lang="en-US" dirty="0"/>
          </a:p>
        </p:txBody>
      </p:sp>
      <p:sp>
        <p:nvSpPr>
          <p:cNvPr id="9" name="Slide Number Placeholder 8">
            <a:extLst>
              <a:ext uri="{FF2B5EF4-FFF2-40B4-BE49-F238E27FC236}">
                <a16:creationId xmlns:a16="http://schemas.microsoft.com/office/drawing/2014/main" id="{47BC820F-C031-6832-5CA0-B972903E0D5F}"/>
              </a:ext>
            </a:extLst>
          </p:cNvPr>
          <p:cNvSpPr>
            <a:spLocks noGrp="1"/>
          </p:cNvSpPr>
          <p:nvPr>
            <p:ph type="sldNum" sz="quarter" idx="16"/>
          </p:nvPr>
        </p:nvSpPr>
        <p:spPr/>
        <p:txBody>
          <a:bodyPr/>
          <a:lstStyle/>
          <a:p>
            <a:fld id="{CC057153-B650-4DEB-B370-79DDCFDCE934}" type="slidenum">
              <a:rPr lang="en-US" smtClean="0"/>
              <a:t>‹#›</a:t>
            </a:fld>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p:nvPr>
        </p:nvSpPr>
        <p:spPr>
          <a:xfrm>
            <a:off x="598327" y="0"/>
            <a:ext cx="11593671" cy="4723939"/>
          </a:xfrm>
          <a:blipFill dpi="0" rotWithShape="1">
            <a:blip r:embed="rId2">
              <a:alphaModFix amt="60000"/>
            </a:blip>
            <a:srcRect/>
            <a:stretch>
              <a:fillRect l="-1459" r="-1"/>
            </a:stretch>
          </a:blipFill>
        </p:spPr>
        <p:txBody>
          <a:bodyPr/>
          <a:lstStyle>
            <a:lvl1pPr marL="0" indent="0">
              <a:buNone/>
              <a:defRPr/>
            </a:lvl1pPr>
          </a:lstStyle>
          <a:p>
            <a:r>
              <a:rPr lang="en-US" dirty="0"/>
              <a:t>Click icon to add picture</a:t>
            </a:r>
          </a:p>
        </p:txBody>
      </p:sp>
    </p:spTree>
    <p:extLst>
      <p:ext uri="{BB962C8B-B14F-4D97-AF65-F5344CB8AC3E}">
        <p14:creationId xmlns:p14="http://schemas.microsoft.com/office/powerpoint/2010/main" val="196848888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dirty="0"/>
              <a:t>Click to edit Master title style</a:t>
            </a:r>
          </a:p>
        </p:txBody>
      </p:sp>
      <p:cxnSp>
        <p:nvCxnSpPr>
          <p:cNvPr id="7" name="Straight Connector 6">
            <a:extLst>
              <a:ext uri="{FF2B5EF4-FFF2-40B4-BE49-F238E27FC236}">
                <a16:creationId xmlns:a16="http://schemas.microsoft.com/office/drawing/2014/main" id="{6E5A671A-CD1D-3726-5EBC-4251B0B1F630}"/>
              </a:ext>
            </a:extLst>
          </p:cNvPr>
          <p:cNvCxnSpPr/>
          <p:nvPr/>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rot="16200000">
            <a:off x="-2067304" y="2241964"/>
            <a:ext cx="4564376" cy="429768"/>
          </a:xfrm>
        </p:spPr>
        <p:txBody>
          <a:bodyPr/>
          <a:lstStyle/>
          <a:p>
            <a:r>
              <a:rPr lang="en-US" dirty="0"/>
              <a:t>GROWTH MARKETING PLAN</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94170032-0FB4-49A9-8F94-A4A948FEFA19}" type="datetime1">
              <a:rPr lang="en-US" smtClean="0"/>
              <a:t>7/28/2026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normAutofit/>
          </a:bodyPr>
          <a:lstStyle>
            <a:lvl1pPr>
              <a:defRPr sz="1600"/>
            </a:lvl1pPr>
            <a:lvl2pPr>
              <a:defRPr sz="1600"/>
            </a:lvl2pPr>
            <a:lvl3pPr>
              <a:defRPr sz="1600"/>
            </a:lvl3pPr>
            <a:lvl4pPr>
              <a:defRPr sz="1600"/>
            </a:lvl4pPr>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9" name="Straight Connector 8">
            <a:extLst>
              <a:ext uri="{FF2B5EF4-FFF2-40B4-BE49-F238E27FC236}">
                <a16:creationId xmlns:a16="http://schemas.microsoft.com/office/drawing/2014/main" id="{652BC221-6328-07B8-5E00-E12DFAC6BF43}"/>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800751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012214" y="1001716"/>
            <a:ext cx="4545750" cy="3358242"/>
          </a:xfrm>
        </p:spPr>
        <p:txBody>
          <a:bodyPr anchor="b">
            <a:normAutofit/>
          </a:bodyPr>
          <a:lstStyle>
            <a:lvl1pPr algn="l">
              <a:defRPr sz="5400"/>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012214" y="4740957"/>
            <a:ext cx="4545749" cy="1482043"/>
          </a:xfrm>
        </p:spPr>
        <p:txBody>
          <a:bodyPr anchor="t">
            <a:normAutofit/>
          </a:bodyPr>
          <a:lstStyle>
            <a:lvl1pPr marL="0" indent="0" algn="l">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cxnSp>
        <p:nvCxnSpPr>
          <p:cNvPr id="8" name="Straight Connector 7">
            <a:extLst>
              <a:ext uri="{FF2B5EF4-FFF2-40B4-BE49-F238E27FC236}">
                <a16:creationId xmlns:a16="http://schemas.microsoft.com/office/drawing/2014/main" id="{4C62B492-23F8-09B4-BA81-5C910AC15279}"/>
              </a:ext>
            </a:extLst>
          </p:cNvPr>
          <p:cNvCxnSpPr>
            <a:cxnSpLocks/>
          </p:cNvCxnSpPr>
          <p:nvPr/>
        </p:nvCxnSpPr>
        <p:spPr>
          <a:xfrm>
            <a:off x="6754068" y="164150"/>
            <a:ext cx="543793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rot="16200000">
            <a:off x="-2067304" y="2231454"/>
            <a:ext cx="4564376" cy="429768"/>
          </a:xfrm>
        </p:spPr>
        <p:txBody>
          <a:bodyPr/>
          <a:lstStyle/>
          <a:p>
            <a:r>
              <a:rPr lang="en-US" dirty="0"/>
              <a:t>GROWTH MARKETING PLAN</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rot="16200000">
            <a:off x="-532354" y="5260880"/>
            <a:ext cx="1494476" cy="429768"/>
          </a:xfrm>
        </p:spPr>
        <p:txBody>
          <a:bodyPr/>
          <a:lstStyle>
            <a:lvl1pPr>
              <a:defRPr>
                <a:solidFill>
                  <a:schemeClr val="tx1"/>
                </a:solidFill>
                <a:effectLst/>
              </a:defRPr>
            </a:lvl1pPr>
          </a:lstStyle>
          <a:p>
            <a:fld id="{60806314-2923-4BCD-81C6-1762557E3AD1}" type="datetime1">
              <a:rPr lang="en-US" smtClean="0"/>
              <a:t>7/28/2026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p:nvPr>
        </p:nvSpPr>
        <p:spPr>
          <a:xfrm>
            <a:off x="598327" y="0"/>
            <a:ext cx="5986622" cy="6858000"/>
          </a:xfrm>
          <a:blipFill dpi="0" rotWithShape="1">
            <a:blip r:embed="rId2">
              <a:alphaModFix amt="60000"/>
            </a:blip>
            <a:srcRect/>
            <a:stretch>
              <a:fillRect l="-2824" r="-1"/>
            </a:stretch>
          </a:blipFill>
        </p:spPr>
        <p:txBody>
          <a:bodyPr/>
          <a:lstStyle>
            <a:lvl1pPr marL="0" indent="0">
              <a:buNone/>
              <a:defRPr/>
            </a:lvl1pPr>
          </a:lstStyle>
          <a:p>
            <a:r>
              <a:rPr lang="en-US" dirty="0"/>
              <a:t>Click icon to add picture</a:t>
            </a:r>
          </a:p>
        </p:txBody>
      </p:sp>
      <p:cxnSp>
        <p:nvCxnSpPr>
          <p:cNvPr id="9" name="Straight Connector 8">
            <a:extLst>
              <a:ext uri="{FF2B5EF4-FFF2-40B4-BE49-F238E27FC236}">
                <a16:creationId xmlns:a16="http://schemas.microsoft.com/office/drawing/2014/main" id="{5680DD37-AA75-5265-3DD3-EADFD5870C34}"/>
              </a:ext>
            </a:extLst>
          </p:cNvPr>
          <p:cNvCxnSpPr>
            <a:cxnSpLocks/>
          </p:cNvCxnSpPr>
          <p:nvPr userDrawn="1"/>
        </p:nvCxnSpPr>
        <p:spPr>
          <a:xfrm>
            <a:off x="6754068"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35FEC9D1-6B65-BD86-B34E-71F8F5629EE4}"/>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615562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24832" y="1001715"/>
            <a:ext cx="4724078" cy="2980051"/>
          </a:xfrm>
        </p:spPr>
        <p:txBody>
          <a:bodyPr anchor="t">
            <a:normAutofit/>
          </a:bodyPr>
          <a:lstStyle>
            <a:lvl1pPr algn="l">
              <a:defRPr sz="4000"/>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24831" y="4362766"/>
            <a:ext cx="4724077" cy="1860234"/>
          </a:xfrm>
        </p:spPr>
        <p:txBody>
          <a:bodyPr anchor="t">
            <a:normAutofit/>
          </a:bodyPr>
          <a:lstStyle>
            <a:lvl1pPr marL="0" indent="0" algn="l">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cxnSp>
        <p:nvCxnSpPr>
          <p:cNvPr id="5" name="Straight Connector 4">
            <a:extLst>
              <a:ext uri="{FF2B5EF4-FFF2-40B4-BE49-F238E27FC236}">
                <a16:creationId xmlns:a16="http://schemas.microsoft.com/office/drawing/2014/main" id="{61F22791-F1DC-82EE-574A-946C4F39A8F5}"/>
              </a:ext>
            </a:extLst>
          </p:cNvPr>
          <p:cNvCxnSpPr>
            <a:cxnSpLocks/>
          </p:cNvCxnSpPr>
          <p:nvPr userDrawn="1"/>
        </p:nvCxnSpPr>
        <p:spPr>
          <a:xfrm>
            <a:off x="429209" y="164150"/>
            <a:ext cx="514041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rot="16200000">
            <a:off x="-2067733" y="2231455"/>
            <a:ext cx="4564378" cy="429768"/>
          </a:xfrm>
        </p:spPr>
        <p:txBody>
          <a:bodyPr/>
          <a:lstStyle/>
          <a:p>
            <a:r>
              <a:rPr lang="en-US" dirty="0"/>
              <a:t>GROWTH MARKETING PLAN</a:t>
            </a:r>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rot="16200000">
            <a:off x="-537354" y="5265452"/>
            <a:ext cx="1494475" cy="420624"/>
          </a:xfrm>
        </p:spPr>
        <p:txBody>
          <a:bodyPr/>
          <a:lstStyle/>
          <a:p>
            <a:fld id="{D1BD44EB-637E-42FE-BCB7-7CFC0B1C3376}" type="datetime1">
              <a:rPr lang="en-US" smtClean="0"/>
              <a:t>7/28/2026</a:t>
            </a:fld>
            <a:endParaRPr lang="en-US" dirty="0"/>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429" y="6492875"/>
            <a:ext cx="429207" cy="365125"/>
          </a:xfrm>
        </p:spPr>
        <p:txBody>
          <a:bodyPr/>
          <a:lstStyle/>
          <a:p>
            <a:fld id="{CC057153-B650-4DEB-B370-79DDCFDCE934}" type="slidenum">
              <a:rPr lang="en-US" smtClean="0"/>
              <a:t>‹#›</a:t>
            </a:fld>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p:nvPr>
        </p:nvSpPr>
        <p:spPr>
          <a:xfrm>
            <a:off x="5765246" y="0"/>
            <a:ext cx="6426753" cy="6858000"/>
          </a:xfrm>
          <a:blipFill dpi="0" rotWithShape="1">
            <a:blip r:embed="rId2">
              <a:alphaModFix amt="60000"/>
            </a:blip>
            <a:srcRect/>
            <a:stretch>
              <a:fillRect l="-2631"/>
            </a:stretch>
          </a:blipFill>
        </p:spPr>
        <p:txBody>
          <a:bodyPr/>
          <a:lstStyle>
            <a:lvl1pPr marL="0" indent="0">
              <a:buNone/>
              <a:defRPr/>
            </a:lvl1pPr>
          </a:lstStyle>
          <a:p>
            <a:r>
              <a:rPr lang="en-US" dirty="0"/>
              <a:t>Click icon to add picture</a:t>
            </a:r>
          </a:p>
        </p:txBody>
      </p:sp>
      <p:cxnSp>
        <p:nvCxnSpPr>
          <p:cNvPr id="10" name="Straight Connector 9">
            <a:extLst>
              <a:ext uri="{FF2B5EF4-FFF2-40B4-BE49-F238E27FC236}">
                <a16:creationId xmlns:a16="http://schemas.microsoft.com/office/drawing/2014/main" id="{EDC9DC64-28F1-DE35-BA93-42BE9EDD8B26}"/>
              </a:ext>
            </a:extLst>
          </p:cNvPr>
          <p:cNvCxnSpPr>
            <a:cxnSpLocks/>
          </p:cNvCxnSpPr>
          <p:nvPr userDrawn="1"/>
        </p:nvCxnSpPr>
        <p:spPr>
          <a:xfrm>
            <a:off x="556962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8A3CE87-786A-4910-E740-1852BBC75C53}"/>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421592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34030" y="1001715"/>
            <a:ext cx="7538423" cy="3457299"/>
          </a:xfrm>
        </p:spPr>
        <p:txBody>
          <a:bodyPr anchor="t">
            <a:normAutofit/>
          </a:bodyPr>
          <a:lstStyle>
            <a:lvl1pPr algn="l">
              <a:defRPr sz="7200"/>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34031" y="4728526"/>
            <a:ext cx="6595444" cy="1494473"/>
          </a:xfrm>
        </p:spPr>
        <p:txBody>
          <a:bodyPr anchor="b">
            <a:normAutofit/>
          </a:bodyPr>
          <a:lstStyle>
            <a:lvl1pPr marL="0" indent="0" algn="l">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cxnSp>
        <p:nvCxnSpPr>
          <p:cNvPr id="8" name="Straight Connector 7">
            <a:extLst>
              <a:ext uri="{FF2B5EF4-FFF2-40B4-BE49-F238E27FC236}">
                <a16:creationId xmlns:a16="http://schemas.microsoft.com/office/drawing/2014/main" id="{D8D58296-262D-E3A1-3EDA-108D59ADDEB9}"/>
              </a:ext>
            </a:extLst>
          </p:cNvPr>
          <p:cNvCxnSpPr/>
          <p:nvPr userDrawn="1"/>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GROWTH MARKETING PLAN</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5425F719-9770-4838-A1BF-8640CFA44CC3}" type="datetime1">
              <a:rPr lang="en-US" smtClean="0"/>
              <a:t>7/28/2026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cxnSp>
        <p:nvCxnSpPr>
          <p:cNvPr id="9" name="Straight Connector 8">
            <a:extLst>
              <a:ext uri="{FF2B5EF4-FFF2-40B4-BE49-F238E27FC236}">
                <a16:creationId xmlns:a16="http://schemas.microsoft.com/office/drawing/2014/main" id="{5FC82B15-2BAA-B79D-562D-AB6EE143DF74}"/>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2253083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34030" y="1001715"/>
            <a:ext cx="8095015" cy="3361051"/>
          </a:xfrm>
        </p:spPr>
        <p:txBody>
          <a:bodyPr anchor="b">
            <a:normAutofit/>
          </a:bodyPr>
          <a:lstStyle>
            <a:lvl1pPr algn="l">
              <a:defRPr sz="7200"/>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34030" y="4728524"/>
            <a:ext cx="7538424" cy="1127761"/>
          </a:xfrm>
        </p:spPr>
        <p:txBody>
          <a:bodyPr anchor="t">
            <a:normAutofit/>
          </a:bodyPr>
          <a:lstStyle>
            <a:lvl1pPr marL="0" indent="0" algn="l">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cxnSp>
        <p:nvCxnSpPr>
          <p:cNvPr id="9" name="Straight Connector 8">
            <a:extLst>
              <a:ext uri="{FF2B5EF4-FFF2-40B4-BE49-F238E27FC236}">
                <a16:creationId xmlns:a16="http://schemas.microsoft.com/office/drawing/2014/main" id="{617A912A-256D-661B-C181-034D06ED868C}"/>
              </a:ext>
            </a:extLst>
          </p:cNvPr>
          <p:cNvCxnSpPr/>
          <p:nvPr userDrawn="1"/>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GROWTH MARKETING PLAN</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AB2F92B4-CE1A-4C71-BEF0-93A2274B672B}" type="datetime1">
              <a:rPr lang="en-US" smtClean="0"/>
              <a:t>7/28/2026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cxnSp>
        <p:nvCxnSpPr>
          <p:cNvPr id="8" name="Straight Connector 7">
            <a:extLst>
              <a:ext uri="{FF2B5EF4-FFF2-40B4-BE49-F238E27FC236}">
                <a16:creationId xmlns:a16="http://schemas.microsoft.com/office/drawing/2014/main" id="{DCC649EA-F1C7-472F-52D7-A93BB7EC19BC}"/>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4731194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133602" y="1404262"/>
            <a:ext cx="7924802" cy="2577504"/>
          </a:xfrm>
        </p:spPr>
        <p:txBody>
          <a:bodyPr anchor="b">
            <a:noAutofit/>
          </a:bodyPr>
          <a:lstStyle>
            <a:lvl1pPr algn="ctr">
              <a:defRPr sz="7200"/>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519980" y="4353867"/>
            <a:ext cx="7152034" cy="1121418"/>
          </a:xfrm>
        </p:spPr>
        <p:txBody>
          <a:bodyPr>
            <a:normAutofit/>
          </a:bodyPr>
          <a:lstStyle>
            <a:lvl1pPr marL="0" indent="0" algn="ctr">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cxnSp>
        <p:nvCxnSpPr>
          <p:cNvPr id="9" name="Straight Connector 8">
            <a:extLst>
              <a:ext uri="{FF2B5EF4-FFF2-40B4-BE49-F238E27FC236}">
                <a16:creationId xmlns:a16="http://schemas.microsoft.com/office/drawing/2014/main" id="{0CFC45B0-B1A3-3E44-43D7-C15E5073EEB5}"/>
              </a:ext>
            </a:extLst>
          </p:cNvPr>
          <p:cNvCxnSpPr/>
          <p:nvPr userDrawn="1"/>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GROWTH MARKETING PLAN</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4655A5E0-7ACA-4081-A937-2CF1CEC074EB}" type="datetime1">
              <a:rPr lang="en-US" smtClean="0"/>
              <a:t>7/28/2026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cxnSp>
        <p:nvCxnSpPr>
          <p:cNvPr id="7" name="Straight Connector 6">
            <a:extLst>
              <a:ext uri="{FF2B5EF4-FFF2-40B4-BE49-F238E27FC236}">
                <a16:creationId xmlns:a16="http://schemas.microsoft.com/office/drawing/2014/main" id="{3BEA1CDC-959E-33FA-9AF1-75DB91B6A967}"/>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091970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33478" y="1748475"/>
            <a:ext cx="10924476" cy="4730749"/>
          </a:xfrm>
        </p:spPr>
        <p:txBody>
          <a:bodyPr anchor="b">
            <a:normAutofit/>
          </a:bodyPr>
          <a:lstStyle>
            <a:lvl1pPr algn="l">
              <a:defRPr sz="7200">
                <a:solidFill>
                  <a:schemeClr val="bg1"/>
                </a:solidFill>
              </a:defRPr>
            </a:lvl1pPr>
          </a:lstStyle>
          <a:p>
            <a:r>
              <a:rPr lang="en-US" dirty="0"/>
              <a:t>Click to edit Master title style</a:t>
            </a:r>
          </a:p>
        </p:txBody>
      </p:sp>
      <p:cxnSp>
        <p:nvCxnSpPr>
          <p:cNvPr id="7" name="Straight Connector 6">
            <a:extLst>
              <a:ext uri="{FF2B5EF4-FFF2-40B4-BE49-F238E27FC236}">
                <a16:creationId xmlns:a16="http://schemas.microsoft.com/office/drawing/2014/main" id="{6A27FB5B-F1F4-96F1-0152-318F0A4000BC}"/>
              </a:ext>
            </a:extLst>
          </p:cNvPr>
          <p:cNvCxnSpPr/>
          <p:nvPr/>
        </p:nvCxnSpPr>
        <p:spPr>
          <a:xfrm>
            <a:off x="429209" y="164150"/>
            <a:ext cx="11762791"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bg1"/>
                </a:solidFill>
              </a:defRPr>
            </a:lvl1pPr>
          </a:lstStyle>
          <a:p>
            <a:r>
              <a:rPr lang="en-US" dirty="0"/>
              <a:t>GROWTH MARKETING PLAN</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bg1"/>
                </a:solidFill>
              </a:defRPr>
            </a:lvl1pPr>
          </a:lstStyle>
          <a:p>
            <a:fld id="{C8626840-FA11-4374-BE46-30DF1EAD92FE}" type="datetime1">
              <a:rPr lang="en-US" smtClean="0"/>
              <a:pPr/>
              <a:t>7/28/2026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cxnSp>
        <p:nvCxnSpPr>
          <p:cNvPr id="3" name="Straight Connector 2">
            <a:extLst>
              <a:ext uri="{FF2B5EF4-FFF2-40B4-BE49-F238E27FC236}">
                <a16:creationId xmlns:a16="http://schemas.microsoft.com/office/drawing/2014/main" id="{61593392-0733-4701-8F74-B58075202E27}"/>
              </a:ext>
            </a:extLst>
          </p:cNvPr>
          <p:cNvCxnSpPr>
            <a:cxnSpLocks/>
          </p:cNvCxnSpPr>
          <p:nvPr userDrawn="1"/>
        </p:nvCxnSpPr>
        <p:spPr>
          <a:xfrm>
            <a:off x="429793" y="0"/>
            <a:ext cx="0" cy="6858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6892460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Agenda">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34030" y="1001713"/>
            <a:ext cx="5702371" cy="4855527"/>
          </a:xfrm>
        </p:spPr>
        <p:txBody>
          <a:bodyPr anchor="ctr">
            <a:normAutofit/>
          </a:bodyPr>
          <a:lstStyle>
            <a:lvl1pPr algn="ctr">
              <a:defRPr sz="4000"/>
            </a:lvl1pPr>
          </a:lstStyle>
          <a:p>
            <a:r>
              <a:rPr lang="en-US" dirty="0"/>
              <a:t>Click to edit Master title style</a:t>
            </a:r>
          </a:p>
        </p:txBody>
      </p:sp>
      <p:cxnSp>
        <p:nvCxnSpPr>
          <p:cNvPr id="6" name="Straight Connector 5">
            <a:extLst>
              <a:ext uri="{FF2B5EF4-FFF2-40B4-BE49-F238E27FC236}">
                <a16:creationId xmlns:a16="http://schemas.microsoft.com/office/drawing/2014/main" id="{95807522-A1BC-0AAD-E7B4-C948DF50EAC6}"/>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B08506C6-7398-25A3-A121-87E3BF8366E4}"/>
              </a:ext>
            </a:extLst>
          </p:cNvPr>
          <p:cNvCxnSpPr>
            <a:cxnSpLocks/>
          </p:cNvCxnSpPr>
          <p:nvPr userDrawn="1"/>
        </p:nvCxnSpPr>
        <p:spPr>
          <a:xfrm>
            <a:off x="6541227"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2C4D0019-5D4E-18AB-5653-979E0D7032FB}"/>
              </a:ext>
            </a:extLst>
          </p:cNvPr>
          <p:cNvCxnSpPr>
            <a:cxnSpLocks/>
          </p:cNvCxnSpPr>
          <p:nvPr userDrawn="1"/>
        </p:nvCxnSpPr>
        <p:spPr>
          <a:xfrm>
            <a:off x="6541227" y="164150"/>
            <a:ext cx="565077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dirty="0"/>
              <a:t>GROWTH MARKETING PLAN</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32C7AAB3-9B5A-4636-BF0B-2B99D42F5638}" type="datetime1">
              <a:rPr lang="en-US" smtClean="0"/>
              <a:t>7/28/2026</a:t>
            </a:fld>
            <a:endParaRPr lang="en-US" dirty="0"/>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224097" y="1001713"/>
            <a:ext cx="4333859" cy="4855527"/>
          </a:xfrm>
        </p:spPr>
        <p:txBody>
          <a:bodyPr anchor="ctr">
            <a:normAutofit/>
          </a:bodyPr>
          <a:lstStyle>
            <a:lvl1pPr marL="457200" indent="-457200" algn="l">
              <a:buFont typeface="+mj-lt"/>
              <a:buAutoNum type="arabicPeriod"/>
              <a:defRPr sz="1600"/>
            </a:lvl1pPr>
            <a:lvl2pPr marL="685800" indent="-457200" algn="l">
              <a:buFont typeface="+mj-lt"/>
              <a:buAutoNum type="arabicPeriod"/>
              <a:defRPr sz="1600"/>
            </a:lvl2pPr>
            <a:lvl3pPr marL="800100" indent="-342900" algn="l">
              <a:buFont typeface="+mj-lt"/>
              <a:buAutoNum type="arabicPeriod"/>
              <a:defRPr sz="1600"/>
            </a:lvl3pPr>
            <a:lvl4pPr marL="1028700" indent="-342900" algn="l">
              <a:buFont typeface="+mj-lt"/>
              <a:buAutoNum type="arabicPeriod"/>
              <a:defRPr sz="1600"/>
            </a:lvl4pPr>
            <a:lvl5pPr marL="1257300" indent="-342900" algn="l">
              <a:buFont typeface="+mj-lt"/>
              <a:buAutoNum type="arabicPeriod"/>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2144722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genda with Pictur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761419" y="1001716"/>
            <a:ext cx="4796545" cy="1503374"/>
          </a:xfrm>
        </p:spPr>
        <p:txBody>
          <a:bodyPr anchor="b">
            <a:normAutofit/>
          </a:bodyPr>
          <a:lstStyle>
            <a:lvl1pPr>
              <a:defRPr sz="4000"/>
            </a:lvl1pPr>
          </a:lstStyle>
          <a:p>
            <a:r>
              <a:rPr lang="en-US" dirty="0"/>
              <a:t>Click to edit Master title style</a:t>
            </a:r>
          </a:p>
        </p:txBody>
      </p:sp>
      <p:cxnSp>
        <p:nvCxnSpPr>
          <p:cNvPr id="9" name="Straight Connector 8">
            <a:extLst>
              <a:ext uri="{FF2B5EF4-FFF2-40B4-BE49-F238E27FC236}">
                <a16:creationId xmlns:a16="http://schemas.microsoft.com/office/drawing/2014/main" id="{1C92E087-D311-16FB-DFD8-7DFD79458D04}"/>
              </a:ext>
            </a:extLst>
          </p:cNvPr>
          <p:cNvCxnSpPr>
            <a:cxnSpLocks/>
          </p:cNvCxnSpPr>
          <p:nvPr userDrawn="1"/>
        </p:nvCxnSpPr>
        <p:spPr>
          <a:xfrm>
            <a:off x="6096000" y="164150"/>
            <a:ext cx="609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rot="16200000">
            <a:off x="-2067304" y="2231454"/>
            <a:ext cx="4564376" cy="429768"/>
          </a:xfrm>
        </p:spPr>
        <p:txBody>
          <a:bodyPr/>
          <a:lstStyle/>
          <a:p>
            <a:r>
              <a:rPr lang="en-US" dirty="0"/>
              <a:t>GROWTH MARKETING PLAN</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rot="16200000">
            <a:off x="-532353" y="5260880"/>
            <a:ext cx="1494474" cy="429768"/>
          </a:xfrm>
        </p:spPr>
        <p:txBody>
          <a:bodyPr/>
          <a:lstStyle/>
          <a:p>
            <a:fld id="{569377BB-3A7F-48AE-8949-DF715FC88965}" type="datetime1">
              <a:rPr lang="en-US" smtClean="0"/>
              <a:t>7/28/2026</a:t>
            </a:fld>
            <a:endParaRPr lang="en-US" dirty="0"/>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8" name="Picture Placeholder 7">
            <a:extLst>
              <a:ext uri="{FF2B5EF4-FFF2-40B4-BE49-F238E27FC236}">
                <a16:creationId xmlns:a16="http://schemas.microsoft.com/office/drawing/2014/main" id="{9AC20259-235D-F9C3-3788-C1457976F5AC}"/>
              </a:ext>
            </a:extLst>
          </p:cNvPr>
          <p:cNvSpPr>
            <a:spLocks noGrp="1"/>
          </p:cNvSpPr>
          <p:nvPr>
            <p:ph type="pic" sz="quarter" idx="14"/>
          </p:nvPr>
        </p:nvSpPr>
        <p:spPr>
          <a:xfrm>
            <a:off x="598329" y="0"/>
            <a:ext cx="5331038" cy="6858000"/>
          </a:xfrm>
          <a:blipFill dpi="0" rotWithShape="1">
            <a:blip r:embed="rId2">
              <a:alphaModFix amt="60000"/>
            </a:blip>
            <a:srcRect/>
            <a:stretch>
              <a:fillRect/>
            </a:stretch>
          </a:blipFill>
        </p:spPr>
        <p:txBody>
          <a:bodyPr/>
          <a:lstStyle>
            <a:lvl1pPr marL="0" indent="0">
              <a:buNone/>
              <a:defRPr/>
            </a:lvl1pPr>
          </a:lstStyle>
          <a:p>
            <a:r>
              <a:rPr lang="en-US" dirty="0"/>
              <a:t>Click icon to add picture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776581" y="2886088"/>
            <a:ext cx="4781383" cy="3336912"/>
          </a:xfrm>
        </p:spPr>
        <p:txBody>
          <a:bodyPr anchor="b">
            <a:normAutofit/>
          </a:bodyPr>
          <a:lstStyle>
            <a:lvl1pPr marL="0" indent="0">
              <a:buFont typeface="+mj-lt"/>
              <a:buNone/>
              <a:defRPr sz="1600"/>
            </a:lvl1pPr>
            <a:lvl2pPr marL="228600" indent="0">
              <a:buFont typeface="+mj-lt"/>
              <a:buNone/>
              <a:defRPr sz="1600"/>
            </a:lvl2pPr>
            <a:lvl3pPr marL="457200" indent="0">
              <a:buFont typeface="+mj-lt"/>
              <a:buNone/>
              <a:defRPr sz="1600"/>
            </a:lvl3pPr>
            <a:lvl4pPr marL="685800" indent="0">
              <a:buFont typeface="+mj-lt"/>
              <a:buNone/>
              <a:defRPr sz="1600"/>
            </a:lvl4pPr>
            <a:lvl5pPr marL="914400" indent="0">
              <a:buFont typeface="+mj-lt"/>
              <a:buNone/>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13" name="Straight Connector 12">
            <a:extLst>
              <a:ext uri="{FF2B5EF4-FFF2-40B4-BE49-F238E27FC236}">
                <a16:creationId xmlns:a16="http://schemas.microsoft.com/office/drawing/2014/main" id="{141EF905-FBC0-6AEE-DA7E-A6361F7EF6BB}"/>
              </a:ext>
            </a:extLst>
          </p:cNvPr>
          <p:cNvCxnSpPr>
            <a:cxnSpLocks/>
          </p:cNvCxnSpPr>
          <p:nvPr userDrawn="1"/>
        </p:nvCxnSpPr>
        <p:spPr>
          <a:xfrm>
            <a:off x="6099047"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6EC5A10F-4276-544F-CA8D-14E3EDCA493B}"/>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125678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34030" y="2496190"/>
            <a:ext cx="4714881" cy="2232336"/>
          </a:xfrm>
        </p:spPr>
        <p:txBody>
          <a:bodyPr>
            <a:normAutofit/>
          </a:bodyPr>
          <a:lstStyle>
            <a:lvl1pPr>
              <a:defRPr sz="4000"/>
            </a:lvl1pPr>
          </a:lstStyle>
          <a:p>
            <a:r>
              <a:rPr lang="en-US" dirty="0"/>
              <a:t>Click to edit Master title style</a:t>
            </a:r>
          </a:p>
        </p:txBody>
      </p:sp>
      <p:cxnSp>
        <p:nvCxnSpPr>
          <p:cNvPr id="9" name="Straight Connector 8">
            <a:extLst>
              <a:ext uri="{FF2B5EF4-FFF2-40B4-BE49-F238E27FC236}">
                <a16:creationId xmlns:a16="http://schemas.microsoft.com/office/drawing/2014/main" id="{430124F2-891B-DC7A-86AD-C038AE8A6493}"/>
              </a:ext>
            </a:extLst>
          </p:cNvPr>
          <p:cNvCxnSpPr/>
          <p:nvPr userDrawn="1"/>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GROWTH MARKETING PLAN</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39F5C65A-63EB-4D03-A77A-34D9179F227E}" type="datetime1">
              <a:rPr lang="en-US" smtClean="0"/>
              <a:t>7/28/2026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273800" y="2496190"/>
            <a:ext cx="4325112" cy="2232335"/>
          </a:xfrm>
        </p:spPr>
        <p:txBody>
          <a:bodyPr>
            <a:normAutofit/>
          </a:bodyPr>
          <a:lstStyle>
            <a:lvl1pPr marL="0" indent="0">
              <a:buNone/>
              <a:defRPr sz="1600"/>
            </a:lvl1pPr>
            <a:lvl2pPr marL="228600" indent="0">
              <a:buNone/>
              <a:defRPr sz="1600"/>
            </a:lvl2pPr>
            <a:lvl3pPr marL="457200" indent="0">
              <a:buNone/>
              <a:defRPr sz="1600"/>
            </a:lvl3pPr>
            <a:lvl4pPr marL="685800" indent="0">
              <a:buNone/>
              <a:defRPr sz="1600"/>
            </a:lvl4pPr>
            <a:lvl5pPr marL="914400" indent="0">
              <a:buNone/>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7" name="Straight Connector 6">
            <a:extLst>
              <a:ext uri="{FF2B5EF4-FFF2-40B4-BE49-F238E27FC236}">
                <a16:creationId xmlns:a16="http://schemas.microsoft.com/office/drawing/2014/main" id="{CD1D8F17-EF76-0E40-74BF-199C61642602}"/>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907350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34030" y="2133757"/>
            <a:ext cx="4328497" cy="3728831"/>
          </a:xfrm>
        </p:spPr>
        <p:txBody>
          <a:bodyPr>
            <a:normAutofit/>
          </a:bodyPr>
          <a:lstStyle>
            <a:lvl1pPr>
              <a:defRPr sz="4000"/>
            </a:lvl1pPr>
          </a:lstStyle>
          <a:p>
            <a:r>
              <a:rPr lang="en-US" dirty="0"/>
              <a:t>Click to edit Master title style</a:t>
            </a:r>
          </a:p>
        </p:txBody>
      </p:sp>
      <p:cxnSp>
        <p:nvCxnSpPr>
          <p:cNvPr id="9" name="Straight Connector 8">
            <a:extLst>
              <a:ext uri="{FF2B5EF4-FFF2-40B4-BE49-F238E27FC236}">
                <a16:creationId xmlns:a16="http://schemas.microsoft.com/office/drawing/2014/main" id="{6EB3FC25-52BF-D39B-F6D8-ACD115F19721}"/>
              </a:ext>
            </a:extLst>
          </p:cNvPr>
          <p:cNvCxnSpPr/>
          <p:nvPr userDrawn="1"/>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GROWTH MARKETING PLAN</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943B156B-F59C-4C90-B2BF-52C692BF43D0}" type="datetime1">
              <a:rPr lang="en-US" smtClean="0"/>
              <a:t>7/28/2026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348911" y="2129475"/>
            <a:ext cx="5266077" cy="3727766"/>
          </a:xfrm>
        </p:spPr>
        <p:txBody>
          <a:bodyPr>
            <a:normAutofit/>
          </a:bodyPr>
          <a:lstStyle>
            <a:lvl1pPr marL="0" indent="0">
              <a:buNone/>
              <a:defRPr sz="1600"/>
            </a:lvl1pPr>
            <a:lvl2pPr marL="228600" indent="0">
              <a:buNone/>
              <a:defRPr sz="1600"/>
            </a:lvl2pPr>
            <a:lvl3pPr marL="457200" indent="0">
              <a:buNone/>
              <a:defRPr sz="1600"/>
            </a:lvl3pPr>
            <a:lvl4pPr marL="685800" indent="0">
              <a:buNone/>
              <a:defRPr sz="1600"/>
            </a:lvl4pPr>
            <a:lvl5pPr marL="914400" indent="0">
              <a:buNone/>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3" name="Straight Connector 2">
            <a:extLst>
              <a:ext uri="{FF2B5EF4-FFF2-40B4-BE49-F238E27FC236}">
                <a16:creationId xmlns:a16="http://schemas.microsoft.com/office/drawing/2014/main" id="{A9054AC9-7FE7-AA63-76C1-0BB3E059FCEA}"/>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0202246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34030" y="1381759"/>
            <a:ext cx="4358311" cy="4841241"/>
          </a:xfrm>
        </p:spPr>
        <p:txBody>
          <a:bodyPr>
            <a:normAutofit/>
          </a:bodyPr>
          <a:lstStyle>
            <a:lvl1pPr>
              <a:defRPr sz="4000"/>
            </a:lvl1pPr>
          </a:lstStyle>
          <a:p>
            <a:r>
              <a:rPr lang="en-US" dirty="0"/>
              <a:t>Click to edit Master title style</a:t>
            </a:r>
          </a:p>
        </p:txBody>
      </p:sp>
      <p:cxnSp>
        <p:nvCxnSpPr>
          <p:cNvPr id="9" name="Straight Connector 8">
            <a:extLst>
              <a:ext uri="{FF2B5EF4-FFF2-40B4-BE49-F238E27FC236}">
                <a16:creationId xmlns:a16="http://schemas.microsoft.com/office/drawing/2014/main" id="{1835D4DD-0247-2268-9444-EBEAF09126E2}"/>
              </a:ext>
            </a:extLst>
          </p:cNvPr>
          <p:cNvCxnSpPr/>
          <p:nvPr userDrawn="1"/>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GROWTH MARKETING PLAN</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E5D3B20-6D77-4E10-9C9F-10A32026F483}" type="datetime1">
              <a:rPr lang="en-US" smtClean="0"/>
              <a:t>7/28/2026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378726" y="1381759"/>
            <a:ext cx="5622648" cy="4841241"/>
          </a:xfrm>
        </p:spPr>
        <p:txBody>
          <a:bodyPr>
            <a:normAutofit/>
          </a:bodyPr>
          <a:lstStyle>
            <a:lvl1pPr>
              <a:defRPr sz="1600"/>
            </a:lvl1pPr>
            <a:lvl2pPr>
              <a:defRPr sz="1600"/>
            </a:lvl2pPr>
            <a:lvl3pPr>
              <a:defRPr sz="1600"/>
            </a:lvl3pPr>
            <a:lvl4pPr>
              <a:defRPr sz="1600"/>
            </a:lvl4pPr>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3" name="Straight Connector 2">
            <a:extLst>
              <a:ext uri="{FF2B5EF4-FFF2-40B4-BE49-F238E27FC236}">
                <a16:creationId xmlns:a16="http://schemas.microsoft.com/office/drawing/2014/main" id="{D32B1FAB-0434-52D4-45F7-F1C56FA427F8}"/>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5372932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34029" y="1001715"/>
            <a:ext cx="4328497" cy="4855526"/>
          </a:xfrm>
        </p:spPr>
        <p:txBody>
          <a:bodyPr anchor="ctr">
            <a:normAutofit/>
          </a:bodyPr>
          <a:lstStyle>
            <a:lvl1pPr algn="ctr">
              <a:defRPr sz="4000"/>
            </a:lvl1pPr>
          </a:lstStyle>
          <a:p>
            <a:r>
              <a:rPr lang="en-US" dirty="0"/>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GROWTH MARKETING PLAN</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8CBBBE18-C792-4A63-8F5A-CED2F5653C9B}" type="datetime1">
              <a:rPr lang="en-US" smtClean="0"/>
              <a:t>7/28/2026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883174" y="1001714"/>
            <a:ext cx="5118206" cy="4855527"/>
          </a:xfrm>
        </p:spPr>
        <p:txBody>
          <a:bodyPr anchor="ctr">
            <a:normAutofit/>
          </a:bodyPr>
          <a:lstStyle>
            <a:lvl1pPr>
              <a:defRPr sz="1600"/>
            </a:lvl1pPr>
            <a:lvl2pPr>
              <a:defRPr sz="1600"/>
            </a:lvl2pPr>
            <a:lvl3pPr>
              <a:defRPr sz="1600"/>
            </a:lvl3pPr>
            <a:lvl4pPr>
              <a:defRPr sz="1600"/>
            </a:lvl4pPr>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3" name="Straight Connector 2">
            <a:extLst>
              <a:ext uri="{FF2B5EF4-FFF2-40B4-BE49-F238E27FC236}">
                <a16:creationId xmlns:a16="http://schemas.microsoft.com/office/drawing/2014/main" id="{68F4B9D1-5247-53CB-C1FC-9E3459BF16C4}"/>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443F8E40-0F32-5592-0885-55CEBFBDF0AB}"/>
              </a:ext>
            </a:extLst>
          </p:cNvPr>
          <p:cNvCxnSpPr/>
          <p:nvPr userDrawn="1"/>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9613806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34030" y="900433"/>
            <a:ext cx="3771900" cy="5221285"/>
          </a:xfrm>
        </p:spPr>
        <p:txBody>
          <a:bodyPr anchor="ctr">
            <a:normAutofit/>
          </a:bodyPr>
          <a:lstStyle>
            <a:lvl1pPr algn="ctr">
              <a:defRPr sz="4000"/>
            </a:lvl1pPr>
          </a:lstStyle>
          <a:p>
            <a:r>
              <a:rPr lang="en-US" dirty="0"/>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GROWTH MARKETING PLAN</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452B4E55-CD3E-4D87-9041-7A8452BD5273}" type="datetime1">
              <a:rPr lang="en-US" smtClean="0"/>
              <a:t>7/28/2026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5348911" y="900432"/>
            <a:ext cx="6209054" cy="5221285"/>
          </a:xfrm>
        </p:spPr>
        <p:txBody>
          <a:bodyPr anchor="ctr">
            <a:normAutofit/>
          </a:bodyPr>
          <a:lstStyle>
            <a:lvl1pPr>
              <a:defRPr sz="1600"/>
            </a:lvl1pPr>
            <a:lvl2pPr>
              <a:defRPr sz="1600"/>
            </a:lvl2pPr>
            <a:lvl3pPr>
              <a:defRPr sz="1600"/>
            </a:lvl3pPr>
            <a:lvl4pPr>
              <a:defRPr sz="1600"/>
            </a:lvl4pPr>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3" name="Straight Connector 2">
            <a:extLst>
              <a:ext uri="{FF2B5EF4-FFF2-40B4-BE49-F238E27FC236}">
                <a16:creationId xmlns:a16="http://schemas.microsoft.com/office/drawing/2014/main" id="{CE7E8DAF-8174-2859-E029-6F85464CAC9F}"/>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34228395-2719-9A44-CE27-6CFD8BD848E8}"/>
              </a:ext>
            </a:extLst>
          </p:cNvPr>
          <p:cNvCxnSpPr>
            <a:cxnSpLocks/>
          </p:cNvCxnSpPr>
          <p:nvPr userDrawn="1"/>
        </p:nvCxnSpPr>
        <p:spPr>
          <a:xfrm>
            <a:off x="4883705" y="164150"/>
            <a:ext cx="730829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E83E6F6-12DD-3AC0-8C59-D6E9DEDA1456}"/>
              </a:ext>
            </a:extLst>
          </p:cNvPr>
          <p:cNvCxnSpPr>
            <a:cxnSpLocks/>
          </p:cNvCxnSpPr>
          <p:nvPr userDrawn="1"/>
        </p:nvCxnSpPr>
        <p:spPr>
          <a:xfrm>
            <a:off x="4883705"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0844173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113785" y="1001715"/>
            <a:ext cx="6444179" cy="1122374"/>
          </a:xfrm>
        </p:spPr>
        <p:txBody>
          <a:bodyPr anchor="b">
            <a:noAutofit/>
          </a:bodyPr>
          <a:lstStyle>
            <a:lvl1pPr>
              <a:defRPr sz="4000"/>
            </a:lvl1pPr>
          </a:lstStyle>
          <a:p>
            <a:r>
              <a:rPr lang="en-US" dirty="0"/>
              <a:t>Click to edit Master title style</a:t>
            </a:r>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rot="16200000">
            <a:off x="-2067304" y="2231454"/>
            <a:ext cx="4564376" cy="429768"/>
          </a:xfrm>
        </p:spPr>
        <p:txBody>
          <a:bodyPr/>
          <a:lstStyle/>
          <a:p>
            <a:r>
              <a:rPr lang="en-US" dirty="0"/>
              <a:t>GROWTH MARKETING PLAN</a:t>
            </a:r>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rot="16200000">
            <a:off x="-532354" y="5260879"/>
            <a:ext cx="1494475" cy="429768"/>
          </a:xfrm>
        </p:spPr>
        <p:txBody>
          <a:bodyPr/>
          <a:lstStyle/>
          <a:p>
            <a:fld id="{B44ACCC6-A2BA-4B7B-99B4-E62BB5424C67}" type="datetime1">
              <a:rPr lang="en-US" smtClean="0"/>
              <a:t>7/28/2026</a:t>
            </a:fld>
            <a:endParaRPr lang="en-US" dirty="0"/>
          </a:p>
        </p:txBody>
      </p:sp>
      <p:cxnSp>
        <p:nvCxnSpPr>
          <p:cNvPr id="6" name="Straight Connector 5">
            <a:extLst>
              <a:ext uri="{FF2B5EF4-FFF2-40B4-BE49-F238E27FC236}">
                <a16:creationId xmlns:a16="http://schemas.microsoft.com/office/drawing/2014/main" id="{8F3207AA-DF92-4449-9316-61475F014448}"/>
              </a:ext>
            </a:extLst>
          </p:cNvPr>
          <p:cNvCxnSpPr>
            <a:cxnSpLocks/>
          </p:cNvCxnSpPr>
          <p:nvPr userDrawn="1"/>
        </p:nvCxnSpPr>
        <p:spPr>
          <a:xfrm>
            <a:off x="4918159" y="164150"/>
            <a:ext cx="727384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p:txBody>
          <a:bodyPr/>
          <a:lstStyle/>
          <a:p>
            <a:fld id="{CC057153-B650-4DEB-B370-79DDCFDCE934}" type="slidenum">
              <a:rPr lang="en-US" smtClean="0"/>
              <a:t>‹#›</a:t>
            </a:fld>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598328" y="1"/>
            <a:ext cx="4124206" cy="6858000"/>
          </a:xfrm>
          <a:blipFill dpi="0" rotWithShape="1">
            <a:blip r:embed="rId2">
              <a:alphaModFix amt="60000"/>
            </a:blip>
            <a:srcRect/>
            <a:stretch>
              <a:fillRect l="-2278" r="-6699"/>
            </a:stretch>
          </a:blipFill>
        </p:spPr>
        <p:txBody>
          <a:bodyPr/>
          <a:lstStyle>
            <a:lvl1pPr marL="0" indent="0">
              <a:buNone/>
              <a:defRPr/>
            </a:lvl1pPr>
          </a:lstStyle>
          <a:p>
            <a:r>
              <a:rPr lang="en-US" dirty="0"/>
              <a:t>Click icon to add picture</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hasCustomPrompt="1"/>
          </p:nvPr>
        </p:nvSpPr>
        <p:spPr>
          <a:xfrm>
            <a:off x="5113785" y="2496190"/>
            <a:ext cx="6444179" cy="3726810"/>
          </a:xfrm>
        </p:spPr>
        <p:txBody>
          <a:bodyPr>
            <a:normAutofit/>
          </a:bodyPr>
          <a:lstStyle>
            <a:lvl3pPr marL="457200" indent="0">
              <a:buNone/>
              <a:defRPr sz="1600"/>
            </a:lvl3pPr>
            <a:lvl4pPr marL="685800" indent="0">
              <a:buNone/>
              <a:defRPr sz="1600"/>
            </a:lvl4pPr>
            <a:lvl5pPr marL="914400" indent="0">
              <a:buNone/>
              <a:defRPr sz="1600"/>
            </a:lvl5pPr>
          </a:lstStyle>
          <a:p>
            <a:pPr lvl="2"/>
            <a:r>
              <a:rPr lang="en-US" dirty="0"/>
              <a:t>Third level</a:t>
            </a:r>
          </a:p>
          <a:p>
            <a:pPr lvl="3"/>
            <a:r>
              <a:rPr lang="en-US" dirty="0"/>
              <a:t>Fourth level</a:t>
            </a:r>
          </a:p>
          <a:p>
            <a:pPr lvl="4"/>
            <a:r>
              <a:rPr lang="en-US" dirty="0"/>
              <a:t>Fifth level</a:t>
            </a:r>
          </a:p>
        </p:txBody>
      </p:sp>
      <p:cxnSp>
        <p:nvCxnSpPr>
          <p:cNvPr id="3" name="Straight Connector 2">
            <a:extLst>
              <a:ext uri="{FF2B5EF4-FFF2-40B4-BE49-F238E27FC236}">
                <a16:creationId xmlns:a16="http://schemas.microsoft.com/office/drawing/2014/main" id="{D34805F9-D010-6E54-928C-1EBB88CBA9D3}"/>
              </a:ext>
            </a:extLst>
          </p:cNvPr>
          <p:cNvCxnSpPr>
            <a:cxnSpLocks/>
          </p:cNvCxnSpPr>
          <p:nvPr userDrawn="1"/>
        </p:nvCxnSpPr>
        <p:spPr>
          <a:xfrm>
            <a:off x="4918159"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FA487952-A86B-7C85-B4C5-3B9E9DED85AF}"/>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6529057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030" y="1001714"/>
            <a:ext cx="5647085" cy="1122375"/>
          </a:xfrm>
        </p:spPr>
        <p:txBody>
          <a:bodyPr anchor="b">
            <a:noAutofit/>
          </a:bodyPr>
          <a:lstStyle>
            <a:lvl1pPr>
              <a:defRPr sz="4000"/>
            </a:lvl1pPr>
          </a:lstStyle>
          <a:p>
            <a:r>
              <a:rPr lang="en-US" dirty="0"/>
              <a:t>Click to edit Master title style</a:t>
            </a:r>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rot="16200000">
            <a:off x="-2067302" y="2231454"/>
            <a:ext cx="4564376" cy="429768"/>
          </a:xfrm>
        </p:spPr>
        <p:txBody>
          <a:bodyPr/>
          <a:lstStyle/>
          <a:p>
            <a:r>
              <a:rPr lang="en-US" dirty="0"/>
              <a:t>GROWTH MARKETING PLAN</a:t>
            </a:r>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a:xfrm rot="16200000">
            <a:off x="-532352" y="5260879"/>
            <a:ext cx="1494475" cy="429768"/>
          </a:xfrm>
        </p:spPr>
        <p:txBody>
          <a:bodyPr/>
          <a:lstStyle/>
          <a:p>
            <a:fld id="{341E3BD6-1BE7-4293-98B0-C8B456DEC98E}" type="datetime1">
              <a:rPr lang="en-US" smtClean="0"/>
              <a:t>7/28/2026</a:t>
            </a:fld>
            <a:endParaRPr lang="en-US" dirty="0"/>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1" y="6492875"/>
            <a:ext cx="429207" cy="365125"/>
          </a:xfrm>
        </p:spPr>
        <p:txBody>
          <a:bodyPr/>
          <a:lstStyle/>
          <a:p>
            <a:fld id="{CC057153-B650-4DEB-B370-79DDCFDCE934}" type="slidenum">
              <a:rPr lang="en-US" smtClean="0"/>
              <a:t>‹#›</a:t>
            </a:fld>
            <a:endParaRPr lang="en-US" dirty="0"/>
          </a:p>
        </p:txBody>
      </p:sp>
      <p:cxnSp>
        <p:nvCxnSpPr>
          <p:cNvPr id="3" name="Straight Connector 2">
            <a:extLst>
              <a:ext uri="{FF2B5EF4-FFF2-40B4-BE49-F238E27FC236}">
                <a16:creationId xmlns:a16="http://schemas.microsoft.com/office/drawing/2014/main" id="{967BDF5B-E352-4558-1EFA-37F504BFE32E}"/>
              </a:ext>
            </a:extLst>
          </p:cNvPr>
          <p:cNvCxnSpPr>
            <a:cxnSpLocks/>
          </p:cNvCxnSpPr>
          <p:nvPr userDrawn="1"/>
        </p:nvCxnSpPr>
        <p:spPr>
          <a:xfrm>
            <a:off x="429208" y="164150"/>
            <a:ext cx="663111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34030" y="2496190"/>
            <a:ext cx="5647085" cy="3726810"/>
          </a:xfrm>
        </p:spPr>
        <p:txBody>
          <a:bodyPr>
            <a:normAutofit/>
          </a:bodyPr>
          <a:lstStyle>
            <a:lvl1pPr>
              <a:defRPr sz="1600"/>
            </a:lvl1pPr>
            <a:lvl2pPr>
              <a:defRPr sz="1600"/>
            </a:lvl2pPr>
            <a:lvl3pPr>
              <a:defRPr sz="1600"/>
            </a:lvl3pPr>
            <a:lvl4pPr>
              <a:defRPr sz="1600"/>
            </a:lvl4pPr>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7224097" y="0"/>
            <a:ext cx="4967903" cy="6858000"/>
          </a:xfrm>
          <a:blipFill dpi="0" rotWithShape="1">
            <a:blip r:embed="rId2">
              <a:alphaModFix amt="60000"/>
            </a:blip>
            <a:srcRect/>
            <a:stretch>
              <a:fillRect/>
            </a:stretch>
          </a:blipFill>
        </p:spPr>
        <p:txBody>
          <a:bodyPr/>
          <a:lstStyle>
            <a:lvl1pPr marL="0" indent="0">
              <a:buNone/>
              <a:defRPr/>
            </a:lvl1pPr>
          </a:lstStyle>
          <a:p>
            <a:r>
              <a:rPr lang="en-US" dirty="0"/>
              <a:t>Click icon to add picture</a:t>
            </a:r>
          </a:p>
        </p:txBody>
      </p:sp>
      <p:cxnSp>
        <p:nvCxnSpPr>
          <p:cNvPr id="6" name="Straight Connector 5">
            <a:extLst>
              <a:ext uri="{FF2B5EF4-FFF2-40B4-BE49-F238E27FC236}">
                <a16:creationId xmlns:a16="http://schemas.microsoft.com/office/drawing/2014/main" id="{D02BFE52-C7C3-A7E3-F6D9-EDECDF40EF56}"/>
              </a:ext>
            </a:extLst>
          </p:cNvPr>
          <p:cNvCxnSpPr>
            <a:cxnSpLocks/>
          </p:cNvCxnSpPr>
          <p:nvPr userDrawn="1"/>
        </p:nvCxnSpPr>
        <p:spPr>
          <a:xfrm>
            <a:off x="706032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21C0473F-E6DB-D181-43D0-0D5C945184BB}"/>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0343412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817306" y="1001715"/>
            <a:ext cx="6740655" cy="1087887"/>
          </a:xfrm>
        </p:spPr>
        <p:txBody>
          <a:bodyPr anchor="b">
            <a:noAutofit/>
          </a:bodyPr>
          <a:lstStyle>
            <a:lvl1pPr>
              <a:defRPr sz="4000"/>
            </a:lvl1pPr>
          </a:lstStyle>
          <a:p>
            <a:r>
              <a:rPr lang="en-US" dirty="0"/>
              <a:t>Click to edit Master title style</a:t>
            </a:r>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rot="16200000">
            <a:off x="-2067304" y="2231454"/>
            <a:ext cx="4564376" cy="429768"/>
          </a:xfrm>
        </p:spPr>
        <p:txBody>
          <a:bodyPr/>
          <a:lstStyle/>
          <a:p>
            <a:r>
              <a:rPr lang="en-US" dirty="0"/>
              <a:t>GROWTH MARKETING PLAN</a:t>
            </a:r>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rot="16200000">
            <a:off x="-532354" y="5260879"/>
            <a:ext cx="1494474" cy="429768"/>
          </a:xfrm>
        </p:spPr>
        <p:txBody>
          <a:bodyPr/>
          <a:lstStyle/>
          <a:p>
            <a:fld id="{12B94328-6471-48ED-A3E9-D3E8C4DB1679}" type="datetime1">
              <a:rPr lang="en-US" smtClean="0"/>
              <a:t>7/28/2026</a:t>
            </a:fld>
            <a:endParaRPr lang="en-US" dirty="0"/>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p:txBody>
          <a:bodyPr/>
          <a:lstStyle/>
          <a:p>
            <a:fld id="{CC057153-B650-4DEB-B370-79DDCFDCE934}" type="slidenum">
              <a:rPr lang="en-US" smtClean="0"/>
              <a:t>‹#›</a:t>
            </a:fld>
            <a:endParaRPr lang="en-US" dirty="0"/>
          </a:p>
        </p:txBody>
      </p:sp>
      <p:cxnSp>
        <p:nvCxnSpPr>
          <p:cNvPr id="10" name="Straight Connector 9">
            <a:extLst>
              <a:ext uri="{FF2B5EF4-FFF2-40B4-BE49-F238E27FC236}">
                <a16:creationId xmlns:a16="http://schemas.microsoft.com/office/drawing/2014/main" id="{5EA26726-2193-5028-87FF-55119A73A643}"/>
              </a:ext>
            </a:extLst>
          </p:cNvPr>
          <p:cNvCxnSpPr>
            <a:cxnSpLocks/>
          </p:cNvCxnSpPr>
          <p:nvPr userDrawn="1"/>
        </p:nvCxnSpPr>
        <p:spPr>
          <a:xfrm>
            <a:off x="4634939" y="164150"/>
            <a:ext cx="755706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598328" y="0"/>
            <a:ext cx="3854240" cy="6858000"/>
          </a:xfrm>
          <a:blipFill dpi="0" rotWithShape="1">
            <a:blip r:embed="rId2">
              <a:alphaModFix amt="60000"/>
            </a:blip>
            <a:srcRect/>
            <a:stretch>
              <a:fillRect/>
            </a:stretch>
          </a:blipFill>
        </p:spPr>
        <p:txBody>
          <a:bodyPr/>
          <a:lstStyle>
            <a:lvl1pPr marL="0" indent="0">
              <a:buNone/>
              <a:defRPr/>
            </a:lvl1pPr>
          </a:lstStyle>
          <a:p>
            <a:r>
              <a:rPr lang="en-US" dirty="0"/>
              <a:t>Click icon to add picture</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817311" y="2496190"/>
            <a:ext cx="6740654" cy="3726810"/>
          </a:xfrm>
        </p:spPr>
        <p:txBody>
          <a:bodyPr>
            <a:normAutofit/>
          </a:bodyPr>
          <a:lstStyle>
            <a:lvl1pPr marL="0" indent="0">
              <a:buNone/>
              <a:defRPr sz="1600"/>
            </a:lvl1pPr>
            <a:lvl2pPr marL="228600" indent="0">
              <a:buNone/>
              <a:defRPr sz="1600"/>
            </a:lvl2pPr>
            <a:lvl3pPr marL="457200" indent="0">
              <a:buNone/>
              <a:defRPr sz="1600"/>
            </a:lvl3pPr>
            <a:lvl4pPr marL="685800" indent="0">
              <a:buNone/>
              <a:defRPr sz="1600"/>
            </a:lvl4pPr>
            <a:lvl5pPr marL="914400" indent="0">
              <a:buNone/>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5" name="Straight Connector 4">
            <a:extLst>
              <a:ext uri="{FF2B5EF4-FFF2-40B4-BE49-F238E27FC236}">
                <a16:creationId xmlns:a16="http://schemas.microsoft.com/office/drawing/2014/main" id="{1FAA0E72-1F2C-EAE4-77B7-9FF7C88D21DD}"/>
              </a:ext>
            </a:extLst>
          </p:cNvPr>
          <p:cNvCxnSpPr>
            <a:cxnSpLocks/>
          </p:cNvCxnSpPr>
          <p:nvPr userDrawn="1"/>
        </p:nvCxnSpPr>
        <p:spPr>
          <a:xfrm>
            <a:off x="4634939"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FEA80D3F-C3CE-0859-0D1F-594C0503DBAA}"/>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4785148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031" y="1028130"/>
            <a:ext cx="6595448" cy="1113475"/>
          </a:xfrm>
        </p:spPr>
        <p:txBody>
          <a:bodyPr anchor="t">
            <a:noAutofit/>
          </a:bodyPr>
          <a:lstStyle>
            <a:lvl1pPr>
              <a:defRPr sz="4000"/>
            </a:lvl1pPr>
          </a:lstStyle>
          <a:p>
            <a:r>
              <a:rPr lang="en-US" dirty="0"/>
              <a:t>Click to edit Master title style</a:t>
            </a:r>
          </a:p>
        </p:txBody>
      </p:sp>
      <p:cxnSp>
        <p:nvCxnSpPr>
          <p:cNvPr id="5" name="Straight Connector 4">
            <a:extLst>
              <a:ext uri="{FF2B5EF4-FFF2-40B4-BE49-F238E27FC236}">
                <a16:creationId xmlns:a16="http://schemas.microsoft.com/office/drawing/2014/main" id="{616649CF-C20C-7376-D09A-88A289B7A347}"/>
              </a:ext>
            </a:extLst>
          </p:cNvPr>
          <p:cNvCxnSpPr>
            <a:cxnSpLocks/>
          </p:cNvCxnSpPr>
          <p:nvPr userDrawn="1"/>
        </p:nvCxnSpPr>
        <p:spPr>
          <a:xfrm>
            <a:off x="429208" y="164150"/>
            <a:ext cx="747959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rot="16200000">
            <a:off x="-2067302" y="2231454"/>
            <a:ext cx="4564376" cy="429768"/>
          </a:xfrm>
        </p:spPr>
        <p:txBody>
          <a:bodyPr/>
          <a:lstStyle/>
          <a:p>
            <a:r>
              <a:rPr lang="en-US" dirty="0"/>
              <a:t>GROWTH MARKETING PLAN</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rot="16200000">
            <a:off x="-532352" y="5260879"/>
            <a:ext cx="1494475" cy="429768"/>
          </a:xfrm>
        </p:spPr>
        <p:txBody>
          <a:bodyPr/>
          <a:lstStyle/>
          <a:p>
            <a:fld id="{1368BACD-07D9-459F-AA1C-5268AE32178F}" type="datetime1">
              <a:rPr lang="en-US" smtClean="0"/>
              <a:t>7/28/2026</a:t>
            </a:fld>
            <a:endParaRPr lang="en-US" dirty="0"/>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 y="6492240"/>
            <a:ext cx="429207" cy="365125"/>
          </a:xfrm>
        </p:spPr>
        <p:txBody>
          <a:bodyPr/>
          <a:lstStyle/>
          <a:p>
            <a:fld id="{CC057153-B650-4DEB-B370-79DDCFDCE934}" type="slidenum">
              <a:rPr lang="en-US" smtClean="0"/>
              <a:t>‹#›</a:t>
            </a:fld>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34031" y="2496190"/>
            <a:ext cx="6595448" cy="3726809"/>
          </a:xfrm>
        </p:spPr>
        <p:txBody>
          <a:bodyPr>
            <a:normAutofit/>
          </a:bodyPr>
          <a:lstStyle>
            <a:lvl1pPr marL="0" indent="0">
              <a:buNone/>
              <a:defRPr sz="1600"/>
            </a:lvl1pPr>
            <a:lvl2pPr marL="228600" indent="0">
              <a:buNone/>
              <a:defRPr sz="1600"/>
            </a:lvl2pPr>
            <a:lvl3pPr marL="457200" indent="0">
              <a:buNone/>
              <a:defRPr sz="1600"/>
            </a:lvl3pPr>
            <a:lvl4pPr marL="685800" indent="0">
              <a:buNone/>
              <a:defRPr sz="1600"/>
            </a:lvl4pPr>
            <a:lvl5pPr marL="914400" indent="0">
              <a:buNone/>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7913312" y="0"/>
            <a:ext cx="4283768" cy="6858000"/>
          </a:xfrm>
          <a:blipFill dpi="0" rotWithShape="1">
            <a:blip r:embed="rId2">
              <a:alphaModFix amt="60000"/>
            </a:blip>
            <a:srcRect/>
            <a:stretch>
              <a:fillRect l="1" t="-1" r="1" b="-4473"/>
            </a:stretch>
          </a:blipFill>
        </p:spPr>
        <p:txBody>
          <a:bodyPr/>
          <a:lstStyle>
            <a:lvl1pPr marL="0" indent="0">
              <a:buNone/>
              <a:defRPr/>
            </a:lvl1pPr>
          </a:lstStyle>
          <a:p>
            <a:r>
              <a:rPr lang="en-US" dirty="0"/>
              <a:t>Click icon to add picture</a:t>
            </a:r>
          </a:p>
        </p:txBody>
      </p:sp>
      <p:cxnSp>
        <p:nvCxnSpPr>
          <p:cNvPr id="12" name="Straight Connector 11">
            <a:extLst>
              <a:ext uri="{FF2B5EF4-FFF2-40B4-BE49-F238E27FC236}">
                <a16:creationId xmlns:a16="http://schemas.microsoft.com/office/drawing/2014/main" id="{BB030F47-B045-036A-B67B-EF84DE9E2A8D}"/>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952218E5-4B7E-010A-02DF-6951A1023B10}"/>
              </a:ext>
            </a:extLst>
          </p:cNvPr>
          <p:cNvCxnSpPr>
            <a:cxnSpLocks/>
          </p:cNvCxnSpPr>
          <p:nvPr userDrawn="1"/>
        </p:nvCxnSpPr>
        <p:spPr>
          <a:xfrm>
            <a:off x="7908800"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2067055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840259" y="1001715"/>
            <a:ext cx="4717705" cy="1109672"/>
          </a:xfrm>
        </p:spPr>
        <p:txBody>
          <a:bodyPr anchor="b">
            <a:noAutofit/>
          </a:bodyPr>
          <a:lstStyle>
            <a:lvl1pPr>
              <a:defRPr sz="4000"/>
            </a:lvl1pPr>
          </a:lstStyle>
          <a:p>
            <a:r>
              <a:rPr lang="en-US" dirty="0"/>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rot="16200000">
            <a:off x="-2067304" y="2231454"/>
            <a:ext cx="4564376" cy="429768"/>
          </a:xfrm>
        </p:spPr>
        <p:txBody>
          <a:bodyPr/>
          <a:lstStyle/>
          <a:p>
            <a:r>
              <a:rPr lang="en-US" dirty="0"/>
              <a:t>GROWTH MARKETING PLAN</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rot="16200000">
            <a:off x="-531666" y="5260191"/>
            <a:ext cx="1493097" cy="429768"/>
          </a:xfrm>
        </p:spPr>
        <p:txBody>
          <a:bodyPr/>
          <a:lstStyle>
            <a:lvl1pPr>
              <a:defRPr>
                <a:solidFill>
                  <a:schemeClr val="tx1"/>
                </a:solidFill>
                <a:effectLst/>
              </a:defRPr>
            </a:lvl1pPr>
          </a:lstStyle>
          <a:p>
            <a:fld id="{1692A769-D4A9-4BBF-AD73-A3AD41FBB7C3}" type="datetime1">
              <a:rPr lang="en-US" smtClean="0"/>
              <a:t>7/28/2026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cxnSp>
        <p:nvCxnSpPr>
          <p:cNvPr id="10" name="Straight Connector 9">
            <a:extLst>
              <a:ext uri="{FF2B5EF4-FFF2-40B4-BE49-F238E27FC236}">
                <a16:creationId xmlns:a16="http://schemas.microsoft.com/office/drawing/2014/main" id="{B44E0F01-74F8-4E05-0BF9-107555BA139C}"/>
              </a:ext>
            </a:extLst>
          </p:cNvPr>
          <p:cNvCxnSpPr>
            <a:cxnSpLocks/>
          </p:cNvCxnSpPr>
          <p:nvPr userDrawn="1"/>
        </p:nvCxnSpPr>
        <p:spPr>
          <a:xfrm>
            <a:off x="6624761" y="164150"/>
            <a:ext cx="556723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598328" y="0"/>
            <a:ext cx="5843502" cy="6858000"/>
          </a:xfrm>
          <a:blipFill dpi="0" rotWithShape="1">
            <a:blip r:embed="rId2">
              <a:alphaModFix amt="60000"/>
            </a:blip>
            <a:srcRect/>
            <a:stretch>
              <a:fillRect/>
            </a:stretch>
          </a:blipFill>
        </p:spPr>
        <p:txBody>
          <a:bodyPr/>
          <a:lstStyle>
            <a:lvl1pPr marL="0" indent="0">
              <a:buNone/>
              <a:defRPr/>
            </a:lvl1pPr>
          </a:lstStyle>
          <a:p>
            <a:r>
              <a:rPr lang="en-US" dirty="0"/>
              <a:t>Click icon to add picture</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6807693" y="2492387"/>
            <a:ext cx="4750271" cy="3730613"/>
          </a:xfrm>
        </p:spPr>
        <p:txBody>
          <a:bodyPr>
            <a:normAutofit/>
          </a:bodyPr>
          <a:lstStyle>
            <a:lvl1pPr marL="0" indent="0">
              <a:buNone/>
              <a:defRPr sz="1600"/>
            </a:lvl1pPr>
            <a:lvl2pPr marL="228600" indent="0">
              <a:buNone/>
              <a:defRPr sz="1600"/>
            </a:lvl2pPr>
            <a:lvl3pPr marL="457200" indent="0">
              <a:buNone/>
              <a:defRPr sz="1600"/>
            </a:lvl3pPr>
            <a:lvl4pPr marL="685800" indent="0">
              <a:buNone/>
              <a:defRPr sz="1600"/>
            </a:lvl4pPr>
            <a:lvl5pPr marL="914400" indent="0">
              <a:buNone/>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3" name="Straight Connector 2">
            <a:extLst>
              <a:ext uri="{FF2B5EF4-FFF2-40B4-BE49-F238E27FC236}">
                <a16:creationId xmlns:a16="http://schemas.microsoft.com/office/drawing/2014/main" id="{A85E70CC-C7D7-B9CE-493E-0579781D2D31}"/>
              </a:ext>
            </a:extLst>
          </p:cNvPr>
          <p:cNvCxnSpPr>
            <a:cxnSpLocks/>
          </p:cNvCxnSpPr>
          <p:nvPr userDrawn="1"/>
        </p:nvCxnSpPr>
        <p:spPr>
          <a:xfrm>
            <a:off x="6624761"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0E830231-922B-910E-CA0F-2B635AE5E80F}"/>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0186592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6">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032" y="1001715"/>
            <a:ext cx="4714880" cy="1125536"/>
          </a:xfrm>
        </p:spPr>
        <p:txBody>
          <a:bodyPr anchor="b">
            <a:noAutofit/>
          </a:bodyPr>
          <a:lstStyle>
            <a:lvl1pPr>
              <a:defRPr sz="4000"/>
            </a:lvl1pPr>
          </a:lstStyle>
          <a:p>
            <a:r>
              <a:rPr lang="en-US" dirty="0"/>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rot="16200000">
            <a:off x="-2071905" y="2231455"/>
            <a:ext cx="4564377" cy="429768"/>
          </a:xfrm>
        </p:spPr>
        <p:txBody>
          <a:bodyPr/>
          <a:lstStyle>
            <a:lvl1pPr>
              <a:defRPr>
                <a:solidFill>
                  <a:schemeClr val="tx1"/>
                </a:solidFill>
                <a:effectLst/>
              </a:defRPr>
            </a:lvl1pPr>
          </a:lstStyle>
          <a:p>
            <a:r>
              <a:rPr lang="en-US" dirty="0"/>
              <a:t>GROWTH MARKETING PLAN</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rot="16200000">
            <a:off x="-536954" y="5260879"/>
            <a:ext cx="1494474" cy="429768"/>
          </a:xfrm>
        </p:spPr>
        <p:txBody>
          <a:bodyPr/>
          <a:lstStyle/>
          <a:p>
            <a:fld id="{2DF6CB4C-CEEE-488F-A556-6D160C723A2D}" type="datetime1">
              <a:rPr lang="en-US" smtClean="0"/>
              <a:t>7/28/2026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601" y="6492240"/>
            <a:ext cx="429207" cy="365760"/>
          </a:xfrm>
        </p:spPr>
        <p:txBody>
          <a:bodyPr/>
          <a:lstStyle>
            <a:lvl1pPr>
              <a:defRPr>
                <a:solidFill>
                  <a:schemeClr val="tx1"/>
                </a:solidFill>
                <a:effectLst/>
              </a:defRPr>
            </a:lvl1pPr>
          </a:lstStyle>
          <a:p>
            <a:fld id="{CC057153-B650-4DEB-B370-79DDCFDCE934}" type="slidenum">
              <a:rPr lang="en-US" smtClean="0"/>
              <a:pPr/>
              <a:t>‹#›</a:t>
            </a:fld>
            <a:endParaRPr lang="en-US" dirty="0"/>
          </a:p>
        </p:txBody>
      </p:sp>
      <p:cxnSp>
        <p:nvCxnSpPr>
          <p:cNvPr id="3" name="Straight Connector 2">
            <a:extLst>
              <a:ext uri="{FF2B5EF4-FFF2-40B4-BE49-F238E27FC236}">
                <a16:creationId xmlns:a16="http://schemas.microsoft.com/office/drawing/2014/main" id="{8812D87E-65D6-AA23-C2F1-6ACD679648B1}"/>
              </a:ext>
            </a:extLst>
          </p:cNvPr>
          <p:cNvCxnSpPr>
            <a:cxnSpLocks/>
          </p:cNvCxnSpPr>
          <p:nvPr userDrawn="1"/>
        </p:nvCxnSpPr>
        <p:spPr>
          <a:xfrm>
            <a:off x="431800" y="164150"/>
            <a:ext cx="52871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34031" y="2493965"/>
            <a:ext cx="4714880" cy="3729035"/>
          </a:xfrm>
        </p:spPr>
        <p:txBody>
          <a:bodyPr>
            <a:normAutofit/>
          </a:bodyPr>
          <a:lstStyle>
            <a:lvl1pPr marL="0" indent="0">
              <a:buNone/>
              <a:defRPr sz="1600"/>
            </a:lvl1pPr>
            <a:lvl2pPr marL="228600" indent="0">
              <a:buNone/>
              <a:defRPr sz="1600"/>
            </a:lvl2pPr>
            <a:lvl3pPr marL="457200" indent="0">
              <a:buNone/>
              <a:defRPr sz="1600"/>
            </a:lvl3pPr>
            <a:lvl4pPr marL="685800" indent="0">
              <a:buNone/>
              <a:defRPr sz="1600"/>
            </a:lvl4pPr>
            <a:lvl5pPr marL="914400" indent="0">
              <a:buNone/>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5888095" y="-1"/>
            <a:ext cx="6303905" cy="6888997"/>
          </a:xfrm>
          <a:blipFill dpi="0" rotWithShape="1">
            <a:blip r:embed="rId2">
              <a:alphaModFix amt="60000"/>
            </a:blip>
            <a:srcRect/>
            <a:stretch>
              <a:fillRect/>
            </a:stretch>
          </a:blipFill>
        </p:spPr>
        <p:txBody>
          <a:bodyPr/>
          <a:lstStyle>
            <a:lvl1pPr marL="0" indent="0">
              <a:buNone/>
              <a:defRPr/>
            </a:lvl1pPr>
          </a:lstStyle>
          <a:p>
            <a:r>
              <a:rPr lang="en-US" dirty="0"/>
              <a:t>Click icon to add picture</a:t>
            </a:r>
          </a:p>
        </p:txBody>
      </p:sp>
      <p:cxnSp>
        <p:nvCxnSpPr>
          <p:cNvPr id="10" name="Straight Connector 9">
            <a:extLst>
              <a:ext uri="{FF2B5EF4-FFF2-40B4-BE49-F238E27FC236}">
                <a16:creationId xmlns:a16="http://schemas.microsoft.com/office/drawing/2014/main" id="{5CC1A446-6BAE-22CC-E376-C7034DBFDE71}"/>
              </a:ext>
            </a:extLst>
          </p:cNvPr>
          <p:cNvCxnSpPr>
            <a:cxnSpLocks/>
          </p:cNvCxnSpPr>
          <p:nvPr userDrawn="1"/>
        </p:nvCxnSpPr>
        <p:spPr>
          <a:xfrm>
            <a:off x="5718976"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4047466-B04C-40AF-946A-45572220C733}"/>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4785553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113504" y="1001715"/>
            <a:ext cx="4444457" cy="1122374"/>
          </a:xfrm>
        </p:spPr>
        <p:txBody>
          <a:bodyPr anchor="b">
            <a:noAutofit/>
          </a:bodyPr>
          <a:lstStyle>
            <a:lvl1pPr>
              <a:defRPr sz="4000"/>
            </a:lvl1pPr>
          </a:lstStyle>
          <a:p>
            <a:r>
              <a:rPr lang="en-US" dirty="0"/>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rot="16200000">
            <a:off x="-2067304" y="2231454"/>
            <a:ext cx="4564376" cy="429768"/>
          </a:xfrm>
        </p:spPr>
        <p:txBody>
          <a:bodyPr/>
          <a:lstStyle/>
          <a:p>
            <a:r>
              <a:rPr lang="en-US" dirty="0"/>
              <a:t>GROWTH MARKETING PLAN</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rot="16200000">
            <a:off x="-532354" y="5260879"/>
            <a:ext cx="1494473" cy="429768"/>
          </a:xfrm>
        </p:spPr>
        <p:txBody>
          <a:bodyPr/>
          <a:lstStyle>
            <a:lvl1pPr>
              <a:defRPr>
                <a:solidFill>
                  <a:schemeClr val="tx1"/>
                </a:solidFill>
                <a:effectLst/>
              </a:defRPr>
            </a:lvl1pPr>
          </a:lstStyle>
          <a:p>
            <a:fld id="{4652FFD6-A518-49CA-8126-283C2A8EFE6F}" type="datetime1">
              <a:rPr lang="en-US" smtClean="0"/>
              <a:t>7/28/2026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cxnSp>
        <p:nvCxnSpPr>
          <p:cNvPr id="9" name="Straight Connector 8">
            <a:extLst>
              <a:ext uri="{FF2B5EF4-FFF2-40B4-BE49-F238E27FC236}">
                <a16:creationId xmlns:a16="http://schemas.microsoft.com/office/drawing/2014/main" id="{78B378FF-8198-DC37-BA5B-473DEDD75988}"/>
              </a:ext>
            </a:extLst>
          </p:cNvPr>
          <p:cNvCxnSpPr>
            <a:cxnSpLocks/>
          </p:cNvCxnSpPr>
          <p:nvPr userDrawn="1"/>
        </p:nvCxnSpPr>
        <p:spPr>
          <a:xfrm>
            <a:off x="6934701" y="164150"/>
            <a:ext cx="525729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598327" y="0"/>
            <a:ext cx="6154001" cy="6858000"/>
          </a:xfrm>
          <a:blipFill dpi="0" rotWithShape="1">
            <a:blip r:embed="rId2">
              <a:alphaModFix amt="60000"/>
            </a:blip>
            <a:srcRect/>
            <a:stretch>
              <a:fillRect l="-2748" r="-2748"/>
            </a:stretch>
          </a:blipFill>
        </p:spPr>
        <p:txBody>
          <a:bodyPr/>
          <a:lstStyle>
            <a:lvl1pPr marL="0" indent="0">
              <a:buNone/>
              <a:defRPr/>
            </a:lvl1pPr>
          </a:lstStyle>
          <a:p>
            <a:r>
              <a:rPr lang="en-US" dirty="0"/>
              <a:t>Click icon to add picture</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113505" y="2496190"/>
            <a:ext cx="4444460" cy="3726809"/>
          </a:xfrm>
        </p:spPr>
        <p:txBody>
          <a:bodyPr>
            <a:normAutofit/>
          </a:bodyPr>
          <a:lstStyle>
            <a:lvl1pPr>
              <a:defRPr sz="1600"/>
            </a:lvl1pPr>
            <a:lvl2pPr>
              <a:defRPr sz="1600"/>
            </a:lvl2pPr>
            <a:lvl3pPr>
              <a:defRPr sz="1600"/>
            </a:lvl3pPr>
            <a:lvl4pPr>
              <a:defRPr sz="1600"/>
            </a:lvl4pPr>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3" name="Straight Connector 2">
            <a:extLst>
              <a:ext uri="{FF2B5EF4-FFF2-40B4-BE49-F238E27FC236}">
                <a16:creationId xmlns:a16="http://schemas.microsoft.com/office/drawing/2014/main" id="{E54E56D6-14F7-4AF8-BCF3-2B60F1174250}"/>
              </a:ext>
            </a:extLst>
          </p:cNvPr>
          <p:cNvCxnSpPr>
            <a:cxnSpLocks/>
          </p:cNvCxnSpPr>
          <p:nvPr userDrawn="1"/>
        </p:nvCxnSpPr>
        <p:spPr>
          <a:xfrm>
            <a:off x="6934701"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1FD24FBA-09F1-E77D-0C3E-A914CBD5F4F2}"/>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7385112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49520" y="1001715"/>
            <a:ext cx="4687174" cy="1127751"/>
          </a:xfrm>
        </p:spPr>
        <p:txBody>
          <a:bodyPr anchor="b">
            <a:noAutofit/>
          </a:bodyPr>
          <a:lstStyle>
            <a:lvl1pPr>
              <a:defRPr sz="4000"/>
            </a:lvl1pPr>
          </a:lstStyle>
          <a:p>
            <a:r>
              <a:rPr lang="en-US" dirty="0"/>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rot="16200000">
            <a:off x="-2064711" y="2231455"/>
            <a:ext cx="4564377" cy="429768"/>
          </a:xfrm>
        </p:spPr>
        <p:txBody>
          <a:bodyPr/>
          <a:lstStyle>
            <a:lvl1pPr>
              <a:defRPr>
                <a:solidFill>
                  <a:schemeClr val="tx1"/>
                </a:solidFill>
                <a:effectLst/>
              </a:defRPr>
            </a:lvl1pPr>
          </a:lstStyle>
          <a:p>
            <a:r>
              <a:rPr lang="en-US" dirty="0"/>
              <a:t>GROWTH MARKETING PLAN</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rot="16200000">
            <a:off x="-529760" y="5260879"/>
            <a:ext cx="1494474" cy="429768"/>
          </a:xfrm>
        </p:spPr>
        <p:txBody>
          <a:bodyPr/>
          <a:lstStyle/>
          <a:p>
            <a:fld id="{BDA16E6D-ABB3-4B84-99F2-E42A2B9DF2C2}" type="datetime1">
              <a:rPr lang="en-US" smtClean="0"/>
              <a:t>7/28/2026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2593" y="6492875"/>
            <a:ext cx="429207" cy="365125"/>
          </a:xfrm>
        </p:spPr>
        <p:txBody>
          <a:bodyPr/>
          <a:lstStyle>
            <a:lvl1pPr>
              <a:defRPr>
                <a:solidFill>
                  <a:schemeClr val="tx1"/>
                </a:solidFill>
                <a:effectLst/>
              </a:defRPr>
            </a:lvl1pPr>
          </a:lstStyle>
          <a:p>
            <a:fld id="{CC057153-B650-4DEB-B370-79DDCFDCE934}" type="slidenum">
              <a:rPr lang="en-US" smtClean="0"/>
              <a:pPr/>
              <a:t>‹#›</a:t>
            </a:fld>
            <a:endParaRPr lang="en-US" dirty="0"/>
          </a:p>
        </p:txBody>
      </p:sp>
      <p:cxnSp>
        <p:nvCxnSpPr>
          <p:cNvPr id="9" name="Straight Connector 8">
            <a:extLst>
              <a:ext uri="{FF2B5EF4-FFF2-40B4-BE49-F238E27FC236}">
                <a16:creationId xmlns:a16="http://schemas.microsoft.com/office/drawing/2014/main" id="{56838F21-75ED-E44B-42EB-FC7FE5E930B5}"/>
              </a:ext>
            </a:extLst>
          </p:cNvPr>
          <p:cNvCxnSpPr>
            <a:cxnSpLocks/>
          </p:cNvCxnSpPr>
          <p:nvPr userDrawn="1"/>
        </p:nvCxnSpPr>
        <p:spPr>
          <a:xfrm>
            <a:off x="431800" y="164150"/>
            <a:ext cx="547266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34030" y="2496181"/>
            <a:ext cx="4714880" cy="3726818"/>
          </a:xfrm>
        </p:spPr>
        <p:txBody>
          <a:bodyPr>
            <a:normAutofit/>
          </a:bodyPr>
          <a:lstStyle>
            <a:lvl1pPr>
              <a:defRPr sz="1600"/>
            </a:lvl1pPr>
            <a:lvl2pPr>
              <a:defRPr sz="1600"/>
            </a:lvl2pPr>
            <a:lvl3pPr>
              <a:defRPr sz="1600"/>
            </a:lvl3pPr>
            <a:lvl4pPr>
              <a:defRPr sz="1600"/>
            </a:lvl4pPr>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6096000" y="0"/>
            <a:ext cx="6095999" cy="6858000"/>
          </a:xfrm>
          <a:blipFill dpi="0" rotWithShape="1">
            <a:blip r:embed="rId2">
              <a:alphaModFix amt="60000"/>
            </a:blip>
            <a:srcRect/>
            <a:stretch>
              <a:fillRect l="-2925"/>
            </a:stretch>
          </a:blipFill>
        </p:spPr>
        <p:txBody>
          <a:bodyPr/>
          <a:lstStyle>
            <a:lvl1pPr marL="0" indent="0">
              <a:buNone/>
              <a:defRPr/>
            </a:lvl1pPr>
          </a:lstStyle>
          <a:p>
            <a:r>
              <a:rPr lang="en-US" dirty="0"/>
              <a:t>Click icon to add picture</a:t>
            </a:r>
          </a:p>
        </p:txBody>
      </p:sp>
      <p:cxnSp>
        <p:nvCxnSpPr>
          <p:cNvPr id="3" name="Straight Connector 2">
            <a:extLst>
              <a:ext uri="{FF2B5EF4-FFF2-40B4-BE49-F238E27FC236}">
                <a16:creationId xmlns:a16="http://schemas.microsoft.com/office/drawing/2014/main" id="{CF9AEDF6-9814-FD08-73EB-63D58BF776EA}"/>
              </a:ext>
            </a:extLst>
          </p:cNvPr>
          <p:cNvCxnSpPr>
            <a:cxnSpLocks/>
          </p:cNvCxnSpPr>
          <p:nvPr userDrawn="1"/>
        </p:nvCxnSpPr>
        <p:spPr>
          <a:xfrm>
            <a:off x="5904468"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5A8CA044-325A-12D3-37BC-BDCEBBC342CC}"/>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4762123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779767" y="1001715"/>
            <a:ext cx="3778198" cy="1108746"/>
          </a:xfrm>
        </p:spPr>
        <p:txBody>
          <a:bodyPr anchor="b">
            <a:noAutofit/>
          </a:bodyPr>
          <a:lstStyle>
            <a:lvl1pPr>
              <a:defRPr sz="4000"/>
            </a:lvl1pPr>
          </a:lstStyle>
          <a:p>
            <a:r>
              <a:rPr lang="en-US" dirty="0"/>
              <a:t>Click to edit Master title style</a:t>
            </a:r>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rot="16200000">
            <a:off x="-2067301" y="2231454"/>
            <a:ext cx="4564376" cy="429768"/>
          </a:xfrm>
        </p:spPr>
        <p:txBody>
          <a:bodyPr/>
          <a:lstStyle/>
          <a:p>
            <a:r>
              <a:rPr lang="en-US" dirty="0"/>
              <a:t>GROWTH MARKETING PLAN</a:t>
            </a:r>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rot="16200000">
            <a:off x="-532352" y="5260879"/>
            <a:ext cx="1494475" cy="429768"/>
          </a:xfrm>
        </p:spPr>
        <p:txBody>
          <a:bodyPr/>
          <a:lstStyle/>
          <a:p>
            <a:fld id="{D67C4704-4F96-4DFD-9156-648F64A4FFD5}" type="datetime1">
              <a:rPr lang="en-US" smtClean="0"/>
              <a:t>7/28/2026</a:t>
            </a:fld>
            <a:endParaRPr lang="en-US" dirty="0"/>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2" y="6492513"/>
            <a:ext cx="429207" cy="365125"/>
          </a:xfrm>
        </p:spPr>
        <p:txBody>
          <a:bodyPr/>
          <a:lstStyle/>
          <a:p>
            <a:fld id="{CC057153-B650-4DEB-B370-79DDCFDCE934}" type="slidenum">
              <a:rPr lang="en-US" smtClean="0"/>
              <a:t>‹#›</a:t>
            </a:fld>
            <a:endParaRPr lang="en-US" dirty="0"/>
          </a:p>
        </p:txBody>
      </p:sp>
      <p:cxnSp>
        <p:nvCxnSpPr>
          <p:cNvPr id="7" name="Straight Connector 6">
            <a:extLst>
              <a:ext uri="{FF2B5EF4-FFF2-40B4-BE49-F238E27FC236}">
                <a16:creationId xmlns:a16="http://schemas.microsoft.com/office/drawing/2014/main" id="{8F9841FB-35AF-1919-0953-5642770662AC}"/>
              </a:ext>
            </a:extLst>
          </p:cNvPr>
          <p:cNvCxnSpPr>
            <a:cxnSpLocks/>
          </p:cNvCxnSpPr>
          <p:nvPr userDrawn="1"/>
        </p:nvCxnSpPr>
        <p:spPr>
          <a:xfrm>
            <a:off x="7597395" y="164150"/>
            <a:ext cx="459460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598329" y="0"/>
            <a:ext cx="6816696" cy="6858000"/>
          </a:xfrm>
          <a:blipFill dpi="0" rotWithShape="1">
            <a:blip r:embed="rId2">
              <a:alphaModFix amt="60000"/>
            </a:blip>
            <a:srcRect/>
            <a:stretch>
              <a:fillRect l="-2482" r="-2480"/>
            </a:stretch>
          </a:blipFill>
        </p:spPr>
        <p:txBody>
          <a:bodyPr/>
          <a:lstStyle>
            <a:lvl1pPr marL="0" indent="0">
              <a:buNone/>
              <a:defRPr/>
            </a:lvl1pPr>
          </a:lstStyle>
          <a:p>
            <a:r>
              <a:rPr lang="en-US" dirty="0"/>
              <a:t>Click icon to add picture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779767" y="2515205"/>
            <a:ext cx="3778198" cy="3759382"/>
          </a:xfrm>
        </p:spPr>
        <p:txBody>
          <a:bodyPr>
            <a:normAutofit/>
          </a:bodyPr>
          <a:lstStyle>
            <a:lvl1pPr>
              <a:defRPr sz="1600"/>
            </a:lvl1pPr>
            <a:lvl2pPr>
              <a:defRPr sz="1600"/>
            </a:lvl2pPr>
            <a:lvl3pPr>
              <a:defRPr sz="1600"/>
            </a:lvl3pPr>
            <a:lvl4pPr>
              <a:defRPr sz="1600"/>
            </a:lvl4pPr>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3" name="Straight Connector 2">
            <a:extLst>
              <a:ext uri="{FF2B5EF4-FFF2-40B4-BE49-F238E27FC236}">
                <a16:creationId xmlns:a16="http://schemas.microsoft.com/office/drawing/2014/main" id="{358AE5DC-7AFC-CD99-8A67-46A580A7DEFE}"/>
              </a:ext>
            </a:extLst>
          </p:cNvPr>
          <p:cNvCxnSpPr>
            <a:cxnSpLocks/>
          </p:cNvCxnSpPr>
          <p:nvPr userDrawn="1"/>
        </p:nvCxnSpPr>
        <p:spPr>
          <a:xfrm>
            <a:off x="7597395"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51BA6662-88AA-A191-B6D5-4B6DF99C8B16}"/>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4089461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1449" y="1001715"/>
            <a:ext cx="3401568" cy="1127760"/>
          </a:xfrm>
        </p:spPr>
        <p:txBody>
          <a:bodyPr anchor="b">
            <a:noAutofit/>
          </a:bodyPr>
          <a:lstStyle>
            <a:lvl1pPr>
              <a:defRPr sz="4000"/>
            </a:lvl1pPr>
          </a:lstStyle>
          <a:p>
            <a:r>
              <a:rPr lang="en-US" dirty="0"/>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rot="16200000">
            <a:off x="-2062638" y="2236683"/>
            <a:ext cx="4553921" cy="429768"/>
          </a:xfrm>
        </p:spPr>
        <p:txBody>
          <a:bodyPr/>
          <a:lstStyle>
            <a:lvl1pPr>
              <a:defRPr>
                <a:solidFill>
                  <a:schemeClr val="tx1"/>
                </a:solidFill>
                <a:effectLst/>
              </a:defRPr>
            </a:lvl1pPr>
          </a:lstStyle>
          <a:p>
            <a:r>
              <a:rPr lang="en-US" dirty="0"/>
              <a:t>GROWTH MARKETING PLAN</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rot="16200000">
            <a:off x="-532354" y="5260880"/>
            <a:ext cx="1494476" cy="429768"/>
          </a:xfrm>
        </p:spPr>
        <p:txBody>
          <a:bodyPr/>
          <a:lstStyle/>
          <a:p>
            <a:fld id="{33B50C95-85D9-49F9-99D8-E6845F008D35}" type="datetime1">
              <a:rPr lang="en-US" smtClean="0"/>
              <a:t>7/28/2026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0" y="6492875"/>
            <a:ext cx="429207" cy="365125"/>
          </a:xfrm>
        </p:spPr>
        <p:txBody>
          <a:bodyPr/>
          <a:lstStyle>
            <a:lvl1pPr>
              <a:defRPr>
                <a:solidFill>
                  <a:schemeClr val="tx1"/>
                </a:solidFill>
                <a:effectLst/>
              </a:defRPr>
            </a:lvl1pPr>
          </a:lstStyle>
          <a:p>
            <a:fld id="{CC057153-B650-4DEB-B370-79DDCFDCE934}" type="slidenum">
              <a:rPr lang="en-US" smtClean="0"/>
              <a:pPr/>
              <a:t>‹#›</a:t>
            </a:fld>
            <a:endParaRPr lang="en-US" dirty="0"/>
          </a:p>
        </p:txBody>
      </p:sp>
      <p:cxnSp>
        <p:nvCxnSpPr>
          <p:cNvPr id="3" name="Straight Connector 2">
            <a:extLst>
              <a:ext uri="{FF2B5EF4-FFF2-40B4-BE49-F238E27FC236}">
                <a16:creationId xmlns:a16="http://schemas.microsoft.com/office/drawing/2014/main" id="{9C4DF952-8FA0-48F5-F7EF-53D541404A33}"/>
              </a:ext>
            </a:extLst>
          </p:cNvPr>
          <p:cNvCxnSpPr>
            <a:cxnSpLocks/>
          </p:cNvCxnSpPr>
          <p:nvPr userDrawn="1"/>
        </p:nvCxnSpPr>
        <p:spPr>
          <a:xfrm>
            <a:off x="431800" y="164150"/>
            <a:ext cx="380020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31448" y="2491461"/>
            <a:ext cx="3401567" cy="3731539"/>
          </a:xfrm>
        </p:spPr>
        <p:txBody>
          <a:bodyPr anchor="b">
            <a:normAutofit/>
          </a:bodyPr>
          <a:lstStyle>
            <a:lvl1pPr marL="0" indent="0">
              <a:buNone/>
              <a:defRPr sz="1600"/>
            </a:lvl1pPr>
            <a:lvl2pPr marL="228600" indent="0">
              <a:buNone/>
              <a:defRPr sz="1600"/>
            </a:lvl2pPr>
            <a:lvl3pPr marL="457200" indent="0">
              <a:buNone/>
              <a:defRPr sz="1600"/>
            </a:lvl3pPr>
            <a:lvl4pPr marL="685800" indent="0">
              <a:buNone/>
              <a:defRPr sz="1600"/>
            </a:lvl4pPr>
            <a:lvl5pPr marL="914400" indent="0">
              <a:buNone/>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4234499" y="0"/>
            <a:ext cx="7962582" cy="6858000"/>
          </a:xfrm>
          <a:blipFill dpi="0" rotWithShape="1">
            <a:blip r:embed="rId2">
              <a:alphaModFix amt="60000"/>
            </a:blip>
            <a:srcRect/>
            <a:stretch>
              <a:fillRect l="-5169" r="2"/>
            </a:stretch>
          </a:blipFill>
        </p:spPr>
        <p:txBody>
          <a:bodyPr/>
          <a:lstStyle>
            <a:lvl1pPr marL="0" indent="0">
              <a:buFont typeface="Arial" panose="020B0604020202020204" pitchFamily="34" charset="0"/>
              <a:buNone/>
              <a:defRPr/>
            </a:lvl1pPr>
          </a:lstStyle>
          <a:p>
            <a:endParaRPr lang="en-US" dirty="0"/>
          </a:p>
        </p:txBody>
      </p:sp>
      <p:cxnSp>
        <p:nvCxnSpPr>
          <p:cNvPr id="12" name="Straight Connector 11">
            <a:extLst>
              <a:ext uri="{FF2B5EF4-FFF2-40B4-BE49-F238E27FC236}">
                <a16:creationId xmlns:a16="http://schemas.microsoft.com/office/drawing/2014/main" id="{696E75C3-3D50-62F4-97A1-08D85ABC2127}"/>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CD9DCC5-4A76-A29C-BDAD-62E571E6267E}"/>
              </a:ext>
            </a:extLst>
          </p:cNvPr>
          <p:cNvCxnSpPr>
            <a:cxnSpLocks/>
          </p:cNvCxnSpPr>
          <p:nvPr userDrawn="1"/>
        </p:nvCxnSpPr>
        <p:spPr>
          <a:xfrm>
            <a:off x="4232008"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3106910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977541" y="1001716"/>
            <a:ext cx="3565637" cy="1494474"/>
          </a:xfrm>
        </p:spPr>
        <p:txBody>
          <a:bodyPr anchor="b">
            <a:noAutofit/>
          </a:bodyPr>
          <a:lstStyle>
            <a:lvl1pPr>
              <a:defRPr sz="4000"/>
            </a:lvl1pPr>
          </a:lstStyle>
          <a:p>
            <a:r>
              <a:rPr lang="en-US" dirty="0"/>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rot="16200000">
            <a:off x="-2067302" y="2231455"/>
            <a:ext cx="4564377" cy="429768"/>
          </a:xfrm>
        </p:spPr>
        <p:txBody>
          <a:bodyPr/>
          <a:lstStyle/>
          <a:p>
            <a:r>
              <a:rPr lang="en-US" dirty="0"/>
              <a:t>GROWTH MARKETING PLAN</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rot="16200000">
            <a:off x="-532351" y="5260879"/>
            <a:ext cx="1494474" cy="429768"/>
          </a:xfrm>
        </p:spPr>
        <p:txBody>
          <a:bodyPr/>
          <a:lstStyle>
            <a:lvl1pPr>
              <a:defRPr>
                <a:solidFill>
                  <a:schemeClr val="tx1"/>
                </a:solidFill>
                <a:effectLst/>
              </a:defRPr>
            </a:lvl1pPr>
          </a:lstStyle>
          <a:p>
            <a:fld id="{E7B02D44-18E2-46EB-BF95-C6E9788E5887}" type="datetime1">
              <a:rPr lang="en-US" smtClean="0"/>
              <a:t>7/28/2026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2" y="6492513"/>
            <a:ext cx="429207" cy="365125"/>
          </a:xfrm>
        </p:spPr>
        <p:txBody>
          <a:bodyPr/>
          <a:lstStyle/>
          <a:p>
            <a:fld id="{CC057153-B650-4DEB-B370-79DDCFDCE934}" type="slidenum">
              <a:rPr lang="en-US" smtClean="0"/>
              <a:t>‹#›</a:t>
            </a:fld>
            <a:endParaRPr lang="en-US" dirty="0"/>
          </a:p>
        </p:txBody>
      </p:sp>
      <p:cxnSp>
        <p:nvCxnSpPr>
          <p:cNvPr id="10" name="Straight Connector 9">
            <a:extLst>
              <a:ext uri="{FF2B5EF4-FFF2-40B4-BE49-F238E27FC236}">
                <a16:creationId xmlns:a16="http://schemas.microsoft.com/office/drawing/2014/main" id="{FE11B3B1-9941-4785-B418-08EF9E3BB704}"/>
              </a:ext>
            </a:extLst>
          </p:cNvPr>
          <p:cNvCxnSpPr>
            <a:cxnSpLocks/>
          </p:cNvCxnSpPr>
          <p:nvPr userDrawn="1"/>
        </p:nvCxnSpPr>
        <p:spPr>
          <a:xfrm>
            <a:off x="7794617" y="164150"/>
            <a:ext cx="439738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598327" y="0"/>
            <a:ext cx="7013917" cy="6858000"/>
          </a:xfrm>
          <a:blipFill dpi="0" rotWithShape="1">
            <a:blip r:embed="rId2">
              <a:alphaModFix amt="60000"/>
            </a:blip>
            <a:srcRect/>
            <a:stretch>
              <a:fillRect l="-2411" r="-2411"/>
            </a:stretch>
          </a:blipFill>
        </p:spPr>
        <p:txBody>
          <a:bodyPr/>
          <a:lstStyle>
            <a:lvl1pPr marL="0" indent="0">
              <a:buNone/>
              <a:defRPr/>
            </a:lvl1pPr>
          </a:lstStyle>
          <a:p>
            <a:r>
              <a:rPr lang="en-US" dirty="0"/>
              <a:t>Click icon to add picture</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7976991" y="2877189"/>
            <a:ext cx="3576275" cy="3345811"/>
          </a:xfrm>
        </p:spPr>
        <p:txBody>
          <a:bodyPr>
            <a:normAutofit/>
          </a:bodyPr>
          <a:lstStyle>
            <a:lvl1pPr marL="0" indent="0">
              <a:buNone/>
              <a:defRPr sz="1600"/>
            </a:lvl1pPr>
            <a:lvl2pPr marL="228600" indent="0">
              <a:buNone/>
              <a:defRPr sz="1600"/>
            </a:lvl2pPr>
            <a:lvl3pPr marL="457200" indent="0">
              <a:buNone/>
              <a:defRPr sz="1600"/>
            </a:lvl3pPr>
            <a:lvl4pPr marL="685800" indent="0">
              <a:buNone/>
              <a:defRPr sz="1600"/>
            </a:lvl4pPr>
            <a:lvl5pPr marL="914400" indent="0">
              <a:buNone/>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3" name="Straight Connector 2">
            <a:extLst>
              <a:ext uri="{FF2B5EF4-FFF2-40B4-BE49-F238E27FC236}">
                <a16:creationId xmlns:a16="http://schemas.microsoft.com/office/drawing/2014/main" id="{B1FE4EE6-FDB8-6541-5FC6-4FC24B421584}"/>
              </a:ext>
            </a:extLst>
          </p:cNvPr>
          <p:cNvCxnSpPr>
            <a:cxnSpLocks/>
          </p:cNvCxnSpPr>
          <p:nvPr userDrawn="1"/>
        </p:nvCxnSpPr>
        <p:spPr>
          <a:xfrm>
            <a:off x="7794617"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36A42A28-5C2F-9093-B5D9-C2651F290DFF}"/>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7224376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98328" y="5109524"/>
            <a:ext cx="4364200" cy="1113476"/>
          </a:xfrm>
        </p:spPr>
        <p:txBody>
          <a:bodyPr anchor="t">
            <a:noAutofit/>
          </a:bodyPr>
          <a:lstStyle>
            <a:lvl1pPr>
              <a:defRPr sz="4000"/>
            </a:lvl1pPr>
          </a:lstStyle>
          <a:p>
            <a:r>
              <a:rPr lang="en-US" dirty="0"/>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GROWTH MARKETING PLAN</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8623E0CC-5553-421C-8D81-3F82FF869EDA}" type="datetime1">
              <a:rPr lang="en-US" smtClean="0"/>
              <a:t>7/28/2026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598327" y="0"/>
            <a:ext cx="11593671" cy="4728524"/>
          </a:xfrm>
          <a:blipFill dpi="0" rotWithShape="1">
            <a:blip r:embed="rId2">
              <a:alphaModFix amt="60000"/>
            </a:blip>
            <a:srcRect/>
            <a:stretch>
              <a:fillRect l="-1459" r="-1"/>
            </a:stretch>
          </a:blipFill>
        </p:spPr>
        <p:txBody>
          <a:bodyPr/>
          <a:lstStyle>
            <a:lvl1pPr marL="0" indent="0">
              <a:buNone/>
              <a:defRPr/>
            </a:lvl1pPr>
          </a:lstStyle>
          <a:p>
            <a:r>
              <a:rPr lang="en-US" dirty="0"/>
              <a:t>Click icon to add picture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349240" y="5109523"/>
            <a:ext cx="6208724" cy="1113477"/>
          </a:xfrm>
        </p:spPr>
        <p:txBody>
          <a:bodyPr>
            <a:noAutofit/>
          </a:bodyPr>
          <a:lstStyle>
            <a:lvl1pPr marL="0" indent="0">
              <a:buFont typeface="Arial" panose="020B0604020202020204" pitchFamily="34" charset="0"/>
              <a:buNone/>
              <a:defRPr sz="1600"/>
            </a:lvl1pPr>
            <a:lvl2pPr marL="228600" indent="0">
              <a:buFont typeface="Arial" panose="020B0604020202020204" pitchFamily="34" charset="0"/>
              <a:buNone/>
              <a:defRPr sz="1600"/>
            </a:lvl2pPr>
            <a:lvl3pPr marL="457200" indent="0">
              <a:buFont typeface="Arial" panose="020B0604020202020204" pitchFamily="34" charset="0"/>
              <a:buNone/>
              <a:defRPr sz="1600"/>
            </a:lvl3pPr>
            <a:lvl4pPr marL="685800" indent="0">
              <a:buFont typeface="Arial" panose="020B0604020202020204" pitchFamily="34" charset="0"/>
              <a:buNone/>
              <a:defRPr sz="1600"/>
            </a:lvl4pPr>
            <a:lvl5pPr marL="914400" indent="0">
              <a:buFont typeface="Arial" panose="020B0604020202020204" pitchFamily="34" charset="0"/>
              <a:buNone/>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4" name="Straight Connector 3">
            <a:extLst>
              <a:ext uri="{FF2B5EF4-FFF2-40B4-BE49-F238E27FC236}">
                <a16:creationId xmlns:a16="http://schemas.microsoft.com/office/drawing/2014/main" id="{AE7E7B67-A585-C4C0-BD50-861ED489B135}"/>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1157672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98328" y="4362766"/>
            <a:ext cx="3421224" cy="1860234"/>
          </a:xfrm>
        </p:spPr>
        <p:txBody>
          <a:bodyPr anchor="t">
            <a:normAutofit/>
          </a:bodyPr>
          <a:lstStyle>
            <a:lvl1pPr>
              <a:defRPr sz="4000"/>
            </a:lvl1pPr>
          </a:lstStyle>
          <a:p>
            <a:r>
              <a:rPr lang="en-US" dirty="0"/>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GROWTH MARKETING PLAN</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64BE7576-EC94-4DB5-9187-19A5D0382B7E}" type="datetime1">
              <a:rPr lang="en-US" smtClean="0"/>
              <a:t>7/28/2026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598327" y="0"/>
            <a:ext cx="11593671" cy="3981766"/>
          </a:xfrm>
          <a:blipFill dpi="0" rotWithShape="1">
            <a:blip r:embed="rId2">
              <a:alphaModFix amt="60000"/>
            </a:blip>
            <a:srcRect/>
            <a:stretch>
              <a:fillRect l="-1459" r="-1"/>
            </a:stretch>
          </a:blipFill>
        </p:spPr>
        <p:txBody>
          <a:bodyPr/>
          <a:lstStyle>
            <a:lvl1pPr marL="0" indent="0">
              <a:buNone/>
              <a:defRPr/>
            </a:lvl1pPr>
          </a:lstStyle>
          <a:p>
            <a:r>
              <a:rPr lang="en-US" dirty="0"/>
              <a:t>Click icon to add picture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405936" y="4353867"/>
            <a:ext cx="7152028" cy="1869134"/>
          </a:xfrm>
        </p:spPr>
        <p:txBody>
          <a:bodyPr>
            <a:noAutofit/>
          </a:bodyPr>
          <a:lstStyle>
            <a:lvl1pPr marL="285750" indent="-285750">
              <a:buFont typeface="Arial" panose="020B0604020202020204" pitchFamily="34" charset="0"/>
              <a:buChar char="•"/>
              <a:defRPr sz="16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600"/>
            </a:lvl3pPr>
            <a:lvl4pPr marL="857250" indent="-171450">
              <a:buFont typeface="Arial" panose="020B0604020202020204" pitchFamily="34" charset="0"/>
              <a:buChar char="•"/>
              <a:defRPr sz="1600"/>
            </a:lvl4pPr>
            <a:lvl5pPr marL="1085850" indent="-171450">
              <a:buFont typeface="Arial" panose="020B0604020202020204" pitchFamily="34" charset="0"/>
              <a:buChar cha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4" name="Straight Connector 3">
            <a:extLst>
              <a:ext uri="{FF2B5EF4-FFF2-40B4-BE49-F238E27FC236}">
                <a16:creationId xmlns:a16="http://schemas.microsoft.com/office/drawing/2014/main" id="{B4F2A9F8-8F3B-3616-48B8-F8DA72A71344}"/>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4797018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14">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4056BFCD-3259-DDE7-5625-EE56190B8F62}"/>
              </a:ext>
            </a:extLst>
          </p:cNvPr>
          <p:cNvCxnSpPr>
            <a:cxnSpLocks/>
          </p:cNvCxnSpPr>
          <p:nvPr userDrawn="1"/>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28764" y="1001714"/>
            <a:ext cx="3390788" cy="1875473"/>
          </a:xfrm>
        </p:spPr>
        <p:txBody>
          <a:bodyPr anchor="t">
            <a:normAutofit/>
          </a:bodyPr>
          <a:lstStyle>
            <a:lvl1pPr>
              <a:defRPr sz="4000"/>
            </a:lvl1pPr>
          </a:lstStyle>
          <a:p>
            <a:r>
              <a:rPr lang="en-US" dirty="0"/>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rot="16200000">
            <a:off x="-2073146" y="2231455"/>
            <a:ext cx="4564377" cy="429768"/>
          </a:xfrm>
        </p:spPr>
        <p:txBody>
          <a:bodyPr/>
          <a:lstStyle/>
          <a:p>
            <a:r>
              <a:rPr lang="en-US" dirty="0"/>
              <a:t>GROWTH MARKETING PLAN</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rot="16200000">
            <a:off x="-538191" y="5260876"/>
            <a:ext cx="1494468" cy="429768"/>
          </a:xfrm>
        </p:spPr>
        <p:txBody>
          <a:bodyPr/>
          <a:lstStyle/>
          <a:p>
            <a:fld id="{1E853955-1D07-4B51-BC71-D8BE10C22200}" type="datetime1">
              <a:rPr lang="en-US" smtClean="0"/>
              <a:t>7/28/2026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5842" y="6492874"/>
            <a:ext cx="429207" cy="365125"/>
          </a:xfrm>
        </p:spPr>
        <p:txBody>
          <a:bodyPr/>
          <a:lstStyle/>
          <a:p>
            <a:fld id="{CC057153-B650-4DEB-B370-79DDCFDCE934}" type="slidenum">
              <a:rPr lang="en-US" smtClean="0"/>
              <a:t>‹#›</a:t>
            </a:fld>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405936" y="1001714"/>
            <a:ext cx="7152028" cy="1875475"/>
          </a:xfrm>
        </p:spPr>
        <p:txBody>
          <a:bodyPr>
            <a:noAutofit/>
          </a:bodyPr>
          <a:lstStyle>
            <a:lvl1pPr marL="285750" indent="-285750">
              <a:buFont typeface="Arial" panose="020B0604020202020204" pitchFamily="34" charset="0"/>
              <a:buChar char="•"/>
              <a:defRPr sz="16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600"/>
            </a:lvl3pPr>
            <a:lvl4pPr marL="857250" indent="-171450">
              <a:buFont typeface="Arial" panose="020B0604020202020204" pitchFamily="34" charset="0"/>
              <a:buChar char="•"/>
              <a:defRPr sz="1600"/>
            </a:lvl4pPr>
            <a:lvl5pPr marL="1085850" indent="-171450">
              <a:buFont typeface="Arial" panose="020B0604020202020204" pitchFamily="34" charset="0"/>
              <a:buChar cha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598328" y="3258188"/>
            <a:ext cx="11593670" cy="3599811"/>
          </a:xfrm>
          <a:blipFill dpi="0" rotWithShape="1">
            <a:blip r:embed="rId2">
              <a:alphaModFix amt="60000"/>
            </a:blip>
            <a:srcRect/>
            <a:stretch>
              <a:fillRect l="-1217"/>
            </a:stretch>
          </a:blipFill>
        </p:spPr>
        <p:txBody>
          <a:bodyPr/>
          <a:lstStyle>
            <a:lvl1pPr marL="0" indent="0">
              <a:buNone/>
              <a:defRPr/>
            </a:lvl1pPr>
          </a:lstStyle>
          <a:p>
            <a:r>
              <a:rPr lang="en-US" dirty="0"/>
              <a:t>Click icon to add picture</a:t>
            </a:r>
          </a:p>
        </p:txBody>
      </p:sp>
      <p:cxnSp>
        <p:nvCxnSpPr>
          <p:cNvPr id="9" name="Straight Connector 8">
            <a:extLst>
              <a:ext uri="{FF2B5EF4-FFF2-40B4-BE49-F238E27FC236}">
                <a16:creationId xmlns:a16="http://schemas.microsoft.com/office/drawing/2014/main" id="{2C378E9B-0BD2-F103-F591-68E71F4480ED}"/>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2287401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E4F82DAF-8C88-BCF8-3DCD-BA0110CC6BB2}"/>
              </a:ext>
            </a:extLst>
          </p:cNvPr>
          <p:cNvCxnSpPr/>
          <p:nvPr userDrawn="1"/>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030" y="1001715"/>
            <a:ext cx="10923933" cy="746752"/>
          </a:xfrm>
        </p:spPr>
        <p:txBody>
          <a:bodyPr anchor="ctr">
            <a:normAutofit/>
          </a:bodyPr>
          <a:lstStyle>
            <a:lvl1pPr>
              <a:defRPr sz="4000"/>
            </a:lvl1pPr>
          </a:lstStyle>
          <a:p>
            <a:r>
              <a:rPr lang="en-US" dirty="0"/>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GROWTH MARKETING PLAN</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A7209E46-11CA-4696-94A6-42FA6258F836}" type="datetime1">
              <a:rPr lang="en-US" smtClean="0"/>
              <a:t>7/28/2026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634030" y="2129475"/>
            <a:ext cx="5652468" cy="4093526"/>
          </a:xfrm>
          <a:blipFill dpi="0" rotWithShape="1">
            <a:blip r:embed="rId2">
              <a:alphaModFix amt="60000"/>
            </a:blip>
            <a:srcRect/>
            <a:stretch>
              <a:fillRect/>
            </a:stretch>
          </a:blipFill>
        </p:spPr>
        <p:txBody>
          <a:bodyPr/>
          <a:lstStyle>
            <a:lvl1pPr marL="0" indent="0">
              <a:buNone/>
              <a:defRPr/>
            </a:lvl1pPr>
          </a:lstStyle>
          <a:p>
            <a:r>
              <a:rPr lang="en-US" dirty="0"/>
              <a:t>Click icon to add picture</a:t>
            </a:r>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6843095" y="2129475"/>
            <a:ext cx="4714869" cy="4093526"/>
          </a:xfrm>
        </p:spPr>
        <p:txBody>
          <a:bodyPr>
            <a:normAutofit/>
          </a:bodyPr>
          <a:lstStyle>
            <a:lvl1pPr>
              <a:defRPr sz="1600"/>
            </a:lvl1pPr>
            <a:lvl2pPr>
              <a:defRPr sz="1600"/>
            </a:lvl2pPr>
            <a:lvl3pPr>
              <a:defRPr sz="1600"/>
            </a:lvl3pPr>
            <a:lvl4pPr>
              <a:defRPr sz="1600"/>
            </a:lvl4pPr>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3" name="Straight Connector 2">
            <a:extLst>
              <a:ext uri="{FF2B5EF4-FFF2-40B4-BE49-F238E27FC236}">
                <a16:creationId xmlns:a16="http://schemas.microsoft.com/office/drawing/2014/main" id="{271A0C8E-B9F0-C8A0-7A87-A97B78C1C482}"/>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9980793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6">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C29A9DDD-8FD5-2897-8DC9-1CEC88541C50}"/>
              </a:ext>
            </a:extLst>
          </p:cNvPr>
          <p:cNvCxnSpPr/>
          <p:nvPr userDrawn="1"/>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030" y="1001715"/>
            <a:ext cx="4714876" cy="1122374"/>
          </a:xfrm>
        </p:spPr>
        <p:txBody>
          <a:bodyPr>
            <a:noAutofit/>
          </a:bodyPr>
          <a:lstStyle>
            <a:lvl1pPr>
              <a:defRPr sz="4000"/>
            </a:lvl1pPr>
          </a:lstStyle>
          <a:p>
            <a:r>
              <a:rPr lang="en-US" dirty="0"/>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GROWTH MARKETING PLAN</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AA8799AB-4423-4AFC-BA85-5F70033F1076}" type="datetime1">
              <a:rPr lang="en-US" smtClean="0"/>
              <a:t>7/28/2026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634030" y="2496190"/>
            <a:ext cx="4672584" cy="3726810"/>
          </a:xfrm>
          <a:blipFill dpi="0" rotWithShape="1">
            <a:blip r:embed="rId2">
              <a:alphaModFix amt="60000"/>
            </a:blip>
            <a:srcRect/>
            <a:stretch>
              <a:fillRect/>
            </a:stretch>
          </a:blipFill>
        </p:spPr>
        <p:txBody>
          <a:bodyPr/>
          <a:lstStyle>
            <a:lvl1pPr marL="0" indent="0">
              <a:buNone/>
              <a:defRPr/>
            </a:lvl1pPr>
          </a:lstStyle>
          <a:p>
            <a:r>
              <a:rPr lang="en-US" dirty="0"/>
              <a:t>Click icon to add picture</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905502" y="1001715"/>
            <a:ext cx="5652463" cy="5221285"/>
          </a:xfrm>
        </p:spPr>
        <p:txBody>
          <a:bodyPr>
            <a:normAutofit/>
          </a:bodyPr>
          <a:lstStyle>
            <a:lvl1pPr>
              <a:defRPr sz="1600"/>
            </a:lvl1pPr>
            <a:lvl2pPr>
              <a:defRPr sz="1600"/>
            </a:lvl2pPr>
            <a:lvl3pPr>
              <a:defRPr sz="1600"/>
            </a:lvl3pPr>
            <a:lvl4pPr>
              <a:defRPr sz="1600"/>
            </a:lvl4pPr>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9" name="Straight Connector 8">
            <a:extLst>
              <a:ext uri="{FF2B5EF4-FFF2-40B4-BE49-F238E27FC236}">
                <a16:creationId xmlns:a16="http://schemas.microsoft.com/office/drawing/2014/main" id="{02BC9BBD-1994-9D19-11C8-FD27039C6338}"/>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8975859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DE681CC6-0816-FBB5-F117-CE232D15B0DE}"/>
              </a:ext>
            </a:extLst>
          </p:cNvPr>
          <p:cNvCxnSpPr/>
          <p:nvPr userDrawn="1"/>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030" y="1001714"/>
            <a:ext cx="4328495" cy="1127759"/>
          </a:xfrm>
        </p:spPr>
        <p:txBody>
          <a:bodyPr anchor="t">
            <a:noAutofit/>
          </a:bodyPr>
          <a:lstStyle>
            <a:lvl1pPr>
              <a:defRPr sz="4000"/>
            </a:lvl1pPr>
          </a:lstStyle>
          <a:p>
            <a:r>
              <a:rPr lang="en-US" dirty="0"/>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GROWTH MARKETING PLAN</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9C9E56CF-865A-4DF6-93CB-5342FE600906}" type="datetime1">
              <a:rPr lang="en-US" smtClean="0"/>
              <a:t>7/28/2026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634030" y="2129475"/>
            <a:ext cx="4328495" cy="4093525"/>
          </a:xfrm>
          <a:blipFill dpi="0" rotWithShape="1">
            <a:blip r:embed="rId2">
              <a:alphaModFix amt="60000"/>
            </a:blip>
            <a:srcRect/>
            <a:stretch>
              <a:fillRect/>
            </a:stretch>
          </a:blipFill>
        </p:spPr>
        <p:txBody>
          <a:bodyPr/>
          <a:lstStyle>
            <a:lvl1pPr marL="285750" indent="-285750">
              <a:buFont typeface="Arial" panose="020B0604020202020204" pitchFamily="34" charset="0"/>
              <a:buChar char="•"/>
              <a:defRPr/>
            </a:lvl1pPr>
          </a:lstStyle>
          <a:p>
            <a:r>
              <a:rPr lang="en-US" dirty="0"/>
              <a:t>Click icon to add picture</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5348911" y="1001713"/>
            <a:ext cx="6209054" cy="5221287"/>
          </a:xfrm>
        </p:spPr>
        <p:txBody>
          <a:bodyPr>
            <a:normAutofit/>
          </a:bodyPr>
          <a:lstStyle>
            <a:lvl1pPr>
              <a:defRPr sz="1600"/>
            </a:lvl1pPr>
            <a:lvl2pPr>
              <a:defRPr sz="1600"/>
            </a:lvl2pPr>
            <a:lvl3pPr>
              <a:defRPr sz="1600"/>
            </a:lvl3pPr>
            <a:lvl4pPr>
              <a:defRPr sz="1600"/>
            </a:lvl4pPr>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3" name="Straight Connector 2">
            <a:extLst>
              <a:ext uri="{FF2B5EF4-FFF2-40B4-BE49-F238E27FC236}">
                <a16:creationId xmlns:a16="http://schemas.microsoft.com/office/drawing/2014/main" id="{664B8C12-E10A-C714-D6A0-BA32E2C72710}"/>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1043538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8">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031" y="1001715"/>
            <a:ext cx="5955028" cy="5477511"/>
          </a:xfrm>
        </p:spPr>
        <p:txBody>
          <a:bodyPr anchor="b">
            <a:normAutofit/>
          </a:bodyPr>
          <a:lstStyle>
            <a:lvl1pPr>
              <a:defRPr sz="7200" b="0" i="0">
                <a:latin typeface="+mj-lt"/>
                <a:ea typeface="Dotum" panose="020B0600000101010101" pitchFamily="34" charset="-127"/>
                <a:cs typeface="Noto Sans Kannada Thin" panose="020B0202040504020204" pitchFamily="34" charset="0"/>
              </a:defRPr>
            </a:lvl1pPr>
          </a:lstStyle>
          <a:p>
            <a:r>
              <a:rPr lang="en-US" dirty="0"/>
              <a:t>Click to edit Master title style</a:t>
            </a:r>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rot="16200000">
            <a:off x="-2067302" y="2231454"/>
            <a:ext cx="4564376" cy="429768"/>
          </a:xfrm>
        </p:spPr>
        <p:txBody>
          <a:bodyPr/>
          <a:lstStyle/>
          <a:p>
            <a:r>
              <a:rPr lang="en-US" dirty="0"/>
              <a:t>GROWTH MARKETING PLAN</a:t>
            </a:r>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a:xfrm rot="16200000">
            <a:off x="-532352" y="5260879"/>
            <a:ext cx="1494475" cy="429768"/>
          </a:xfrm>
        </p:spPr>
        <p:txBody>
          <a:bodyPr/>
          <a:lstStyle/>
          <a:p>
            <a:fld id="{341E3BD6-1BE7-4293-98B0-C8B456DEC98E}" type="datetime1">
              <a:rPr lang="en-US" smtClean="0"/>
              <a:t>7/28/2026</a:t>
            </a:fld>
            <a:endParaRPr lang="en-US" dirty="0"/>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1" y="6492875"/>
            <a:ext cx="429207" cy="365125"/>
          </a:xfrm>
        </p:spPr>
        <p:txBody>
          <a:bodyPr/>
          <a:lstStyle/>
          <a:p>
            <a:fld id="{CC057153-B650-4DEB-B370-79DDCFDCE934}" type="slidenum">
              <a:rPr lang="en-US" smtClean="0"/>
              <a:t>‹#›</a:t>
            </a:fld>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7065403" y="-1"/>
            <a:ext cx="5131677" cy="6222999"/>
          </a:xfrm>
          <a:blipFill dpi="0" rotWithShape="1">
            <a:blip r:embed="rId2">
              <a:alphaModFix amt="60000"/>
            </a:blip>
            <a:srcRect/>
            <a:stretch>
              <a:fillRect l="-686" t="2" b="-4120"/>
            </a:stretch>
          </a:blipFill>
        </p:spPr>
        <p:txBody>
          <a:bodyPr/>
          <a:lstStyle>
            <a:lvl1pPr marL="0" indent="0">
              <a:buNone/>
              <a:defRPr/>
            </a:lvl1pPr>
          </a:lstStyle>
          <a:p>
            <a:r>
              <a:rPr lang="en-US" dirty="0"/>
              <a:t>Click icon to add picture</a:t>
            </a:r>
          </a:p>
        </p:txBody>
      </p:sp>
      <p:cxnSp>
        <p:nvCxnSpPr>
          <p:cNvPr id="4" name="Straight Connector 3">
            <a:extLst>
              <a:ext uri="{FF2B5EF4-FFF2-40B4-BE49-F238E27FC236}">
                <a16:creationId xmlns:a16="http://schemas.microsoft.com/office/drawing/2014/main" id="{28FA8915-517E-32B2-6836-7A69DEF7C849}"/>
              </a:ext>
            </a:extLst>
          </p:cNvPr>
          <p:cNvCxnSpPr>
            <a:cxnSpLocks/>
          </p:cNvCxnSpPr>
          <p:nvPr userDrawn="1"/>
        </p:nvCxnSpPr>
        <p:spPr>
          <a:xfrm>
            <a:off x="706032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F76B2467-9468-3DE8-CA1C-7B68F7ED9A67}"/>
              </a:ext>
            </a:extLst>
          </p:cNvPr>
          <p:cNvCxnSpPr>
            <a:cxnSpLocks/>
          </p:cNvCxnSpPr>
          <p:nvPr userDrawn="1"/>
        </p:nvCxnSpPr>
        <p:spPr>
          <a:xfrm>
            <a:off x="0" y="164150"/>
            <a:ext cx="706032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177414" y="6375748"/>
            <a:ext cx="4847572" cy="363255"/>
          </a:xfrm>
        </p:spPr>
        <p:txBody>
          <a:bodyPr anchor="ctr">
            <a:normAutofit/>
          </a:bodyPr>
          <a:lstStyle>
            <a:lvl1pPr marL="0" indent="0">
              <a:buNone/>
              <a:defRPr sz="1600" b="0" i="0">
                <a:latin typeface="+mj-lt"/>
              </a:defRPr>
            </a:lvl1pPr>
            <a:lvl2pPr>
              <a:defRPr sz="1600" b="0" i="0">
                <a:latin typeface="Univers Light" panose="020B0403020202020204" pitchFamily="34" charset="0"/>
              </a:defRPr>
            </a:lvl2pPr>
            <a:lvl3pPr>
              <a:defRPr sz="1600" b="0" i="0">
                <a:latin typeface="Univers Light" panose="020B0403020202020204" pitchFamily="34" charset="0"/>
              </a:defRPr>
            </a:lvl3pPr>
            <a:lvl4pPr>
              <a:defRPr sz="1600" b="0" i="0">
                <a:latin typeface="Univers Light" panose="020B0403020202020204" pitchFamily="34" charset="0"/>
              </a:defRPr>
            </a:lvl4pPr>
            <a:lvl5pPr>
              <a:defRPr sz="1600" b="0" i="0">
                <a:latin typeface="Univers Light" panose="020B0403020202020204" pitchFamily="34" charset="0"/>
              </a:defRPr>
            </a:lvl5pPr>
          </a:lstStyle>
          <a:p>
            <a:pPr lvl="0"/>
            <a:r>
              <a:rPr lang="en-US" dirty="0"/>
              <a:t>Click to edit Master text styles</a:t>
            </a:r>
          </a:p>
        </p:txBody>
      </p:sp>
    </p:spTree>
    <p:extLst>
      <p:ext uri="{BB962C8B-B14F-4D97-AF65-F5344CB8AC3E}">
        <p14:creationId xmlns:p14="http://schemas.microsoft.com/office/powerpoint/2010/main" val="427229911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Number Large">
    <p:bg>
      <p:bgPr>
        <a:solidFill>
          <a:schemeClr val="accent1"/>
        </a:solidFill>
        <a:effectLst/>
      </p:bgPr>
    </p:bg>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1113C676-72E3-B810-A6B9-DCE36B8778AC}"/>
              </a:ext>
            </a:extLst>
          </p:cNvPr>
          <p:cNvCxnSpPr/>
          <p:nvPr userDrawn="1"/>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8507528C-7021-C7A4-B156-08D83A3A21F4}"/>
              </a:ext>
            </a:extLst>
          </p:cNvPr>
          <p:cNvSpPr>
            <a:spLocks noGrp="1"/>
          </p:cNvSpPr>
          <p:nvPr>
            <p:ph type="title"/>
          </p:nvPr>
        </p:nvSpPr>
        <p:spPr>
          <a:xfrm>
            <a:off x="633470" y="5109525"/>
            <a:ext cx="10367905" cy="1207192"/>
          </a:xfrm>
        </p:spPr>
        <p:txBody>
          <a:bodyPr anchor="b">
            <a:normAutofit/>
          </a:bodyPr>
          <a:lstStyle>
            <a:lvl1pPr algn="l">
              <a:lnSpc>
                <a:spcPct val="90000"/>
              </a:lnSpc>
              <a:defRPr sz="2400" b="0" i="0" cap="none" baseline="0">
                <a:solidFill>
                  <a:schemeClr val="tx1"/>
                </a:solidFill>
                <a:latin typeface="+mj-lt"/>
              </a:defRPr>
            </a:lvl1pPr>
          </a:lstStyle>
          <a:p>
            <a:r>
              <a:rPr lang="en-US" dirty="0"/>
              <a:t>Click to edit Master title style</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p>
            <a:r>
              <a:rPr lang="en-US" dirty="0"/>
              <a:t>GROWTH MARKETING PLAN</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p>
            <a:fld id="{F2929A1B-A295-4715-B77A-F33006A42EEB}" type="datetime1">
              <a:rPr lang="en-US" smtClean="0"/>
              <a:t>7/28/2026</a:t>
            </a:fld>
            <a:endParaRPr lang="en-US" dirty="0"/>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p>
            <a:fld id="{CC057153-B650-4DEB-B370-79DDCFDCE934}" type="slidenum">
              <a:rPr lang="en-US" smtClean="0"/>
              <a:t>‹#›</a:t>
            </a:fld>
            <a:endParaRPr lang="en-US" dirty="0"/>
          </a:p>
        </p:txBody>
      </p:sp>
      <p:cxnSp>
        <p:nvCxnSpPr>
          <p:cNvPr id="9" name="Straight Connector 8">
            <a:extLst>
              <a:ext uri="{FF2B5EF4-FFF2-40B4-BE49-F238E27FC236}">
                <a16:creationId xmlns:a16="http://schemas.microsoft.com/office/drawing/2014/main" id="{B088E26B-9247-68F3-E9B8-157E22E97147}"/>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Content Placeholder 6">
            <a:extLst>
              <a:ext uri="{FF2B5EF4-FFF2-40B4-BE49-F238E27FC236}">
                <a16:creationId xmlns:a16="http://schemas.microsoft.com/office/drawing/2014/main" id="{786730A0-A69C-6FA3-06BC-632301E15F2D}"/>
              </a:ext>
            </a:extLst>
          </p:cNvPr>
          <p:cNvSpPr>
            <a:spLocks noGrp="1"/>
          </p:cNvSpPr>
          <p:nvPr>
            <p:ph sz="quarter" idx="13" hasCustomPrompt="1"/>
          </p:nvPr>
        </p:nvSpPr>
        <p:spPr>
          <a:xfrm>
            <a:off x="634030" y="1340489"/>
            <a:ext cx="10367349" cy="3388035"/>
          </a:xfrm>
        </p:spPr>
        <p:txBody>
          <a:bodyPr anchor="t">
            <a:noAutofit/>
          </a:bodyPr>
          <a:lstStyle>
            <a:lvl1pPr marL="0" indent="0" algn="l">
              <a:lnSpc>
                <a:spcPct val="90000"/>
              </a:lnSpc>
              <a:buNone/>
              <a:defRPr sz="30000" b="0" i="0">
                <a:solidFill>
                  <a:schemeClr val="tx1"/>
                </a:solidFill>
                <a:latin typeface="+mn-lt"/>
              </a:defRPr>
            </a:lvl1pPr>
          </a:lstStyle>
          <a:p>
            <a:pPr lvl="0"/>
            <a:r>
              <a:rPr lang="en-US" dirty="0"/>
              <a:t>##%</a:t>
            </a:r>
          </a:p>
        </p:txBody>
      </p:sp>
    </p:spTree>
    <p:extLst>
      <p:ext uri="{BB962C8B-B14F-4D97-AF65-F5344CB8AC3E}">
        <p14:creationId xmlns:p14="http://schemas.microsoft.com/office/powerpoint/2010/main" val="114232982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Number Large 2">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3AF240C4-9480-994E-0BD5-BF7BE95F9F7B}"/>
              </a:ext>
            </a:extLst>
          </p:cNvPr>
          <p:cNvCxnSpPr/>
          <p:nvPr userDrawn="1"/>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633470" y="5109525"/>
            <a:ext cx="10367905" cy="1207192"/>
          </a:xfrm>
        </p:spPr>
        <p:txBody>
          <a:bodyPr anchor="b">
            <a:normAutofit/>
          </a:bodyPr>
          <a:lstStyle>
            <a:lvl1pPr algn="l">
              <a:lnSpc>
                <a:spcPct val="90000"/>
              </a:lnSpc>
              <a:defRPr sz="2400" b="0" i="0" cap="none" baseline="0">
                <a:solidFill>
                  <a:schemeClr val="tx1"/>
                </a:solidFill>
                <a:latin typeface="+mj-lt"/>
              </a:defRPr>
            </a:lvl1pPr>
          </a:lstStyle>
          <a:p>
            <a:r>
              <a:rPr lang="en-US" dirty="0"/>
              <a:t>Click to edit Master title style</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p>
            <a:r>
              <a:rPr lang="en-US" dirty="0"/>
              <a:t>GROWTH MARKETING PLAN</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p>
            <a:fld id="{09CBD6C5-FCE0-436F-BDB9-607AA1896A18}" type="datetime1">
              <a:rPr lang="en-US" smtClean="0"/>
              <a:t>7/28/2026</a:t>
            </a:fld>
            <a:endParaRPr lang="en-US" dirty="0"/>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634030" y="1340489"/>
            <a:ext cx="10367349" cy="3388035"/>
          </a:xfrm>
        </p:spPr>
        <p:txBody>
          <a:bodyPr anchor="t">
            <a:noAutofit/>
          </a:bodyPr>
          <a:lstStyle>
            <a:lvl1pPr marL="0" indent="0" algn="l">
              <a:lnSpc>
                <a:spcPct val="90000"/>
              </a:lnSpc>
              <a:buNone/>
              <a:defRPr sz="30000" b="0" i="0">
                <a:solidFill>
                  <a:schemeClr val="tx1"/>
                </a:solidFill>
                <a:latin typeface="+mn-lt"/>
              </a:defRPr>
            </a:lvl1pPr>
          </a:lstStyle>
          <a:p>
            <a:pPr lvl="0"/>
            <a:r>
              <a:rPr lang="en-US" dirty="0"/>
              <a:t>##%</a:t>
            </a:r>
          </a:p>
        </p:txBody>
      </p:sp>
      <p:cxnSp>
        <p:nvCxnSpPr>
          <p:cNvPr id="6" name="Straight Connector 5">
            <a:extLst>
              <a:ext uri="{FF2B5EF4-FFF2-40B4-BE49-F238E27FC236}">
                <a16:creationId xmlns:a16="http://schemas.microsoft.com/office/drawing/2014/main" id="{63547AA0-CA68-609A-06D4-5F771838B5D3}"/>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9574814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Number Large 3">
    <p:bg>
      <p:bgPr>
        <a:solidFill>
          <a:schemeClr val="accent6"/>
        </a:solidFill>
        <a:effectLst/>
      </p:bgPr>
    </p:bg>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2B8C624E-4F6C-E890-10DF-FE279DA2597D}"/>
              </a:ext>
            </a:extLst>
          </p:cNvPr>
          <p:cNvCxnSpPr/>
          <p:nvPr userDrawn="1"/>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20D33D3A-063E-24F3-6815-CC483F3BFF50}"/>
              </a:ext>
            </a:extLst>
          </p:cNvPr>
          <p:cNvSpPr>
            <a:spLocks noGrp="1"/>
          </p:cNvSpPr>
          <p:nvPr>
            <p:ph type="title"/>
          </p:nvPr>
        </p:nvSpPr>
        <p:spPr>
          <a:xfrm>
            <a:off x="633470" y="5109525"/>
            <a:ext cx="10367905" cy="1207192"/>
          </a:xfrm>
        </p:spPr>
        <p:txBody>
          <a:bodyPr anchor="b">
            <a:normAutofit/>
          </a:bodyPr>
          <a:lstStyle>
            <a:lvl1pPr algn="l">
              <a:lnSpc>
                <a:spcPct val="90000"/>
              </a:lnSpc>
              <a:defRPr sz="2400" b="0" i="0" cap="none" baseline="0">
                <a:solidFill>
                  <a:schemeClr val="tx1"/>
                </a:solidFill>
                <a:latin typeface="+mj-lt"/>
              </a:defRPr>
            </a:lvl1pPr>
          </a:lstStyle>
          <a:p>
            <a:r>
              <a:rPr lang="en-US" dirty="0"/>
              <a:t>Click to edit Master title style</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p>
            <a:r>
              <a:rPr lang="en-US" dirty="0"/>
              <a:t>GROWTH MARKETING PLAN</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p>
            <a:fld id="{2B3A5A51-DB18-40F8-9807-F5A86B7E570D}" type="datetime1">
              <a:rPr lang="en-US" smtClean="0"/>
              <a:t>7/28/2026</a:t>
            </a:fld>
            <a:endParaRPr lang="en-US" dirty="0"/>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p>
            <a:fld id="{CC057153-B650-4DEB-B370-79DDCFDCE934}" type="slidenum">
              <a:rPr lang="en-US" smtClean="0"/>
              <a:t>‹#›</a:t>
            </a:fld>
            <a:endParaRPr lang="en-US" dirty="0"/>
          </a:p>
        </p:txBody>
      </p:sp>
      <p:cxnSp>
        <p:nvCxnSpPr>
          <p:cNvPr id="9" name="Straight Connector 8">
            <a:extLst>
              <a:ext uri="{FF2B5EF4-FFF2-40B4-BE49-F238E27FC236}">
                <a16:creationId xmlns:a16="http://schemas.microsoft.com/office/drawing/2014/main" id="{5FD9BA66-49B9-422C-E28F-BA9E9DB64697}"/>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Content Placeholder 6">
            <a:extLst>
              <a:ext uri="{FF2B5EF4-FFF2-40B4-BE49-F238E27FC236}">
                <a16:creationId xmlns:a16="http://schemas.microsoft.com/office/drawing/2014/main" id="{D20ABC85-9587-24D5-E6BE-4DBE5CA56973}"/>
              </a:ext>
            </a:extLst>
          </p:cNvPr>
          <p:cNvSpPr>
            <a:spLocks noGrp="1"/>
          </p:cNvSpPr>
          <p:nvPr>
            <p:ph sz="quarter" idx="13" hasCustomPrompt="1"/>
          </p:nvPr>
        </p:nvSpPr>
        <p:spPr>
          <a:xfrm>
            <a:off x="634030" y="1340489"/>
            <a:ext cx="10367349" cy="3388035"/>
          </a:xfrm>
        </p:spPr>
        <p:txBody>
          <a:bodyPr anchor="t">
            <a:noAutofit/>
          </a:bodyPr>
          <a:lstStyle>
            <a:lvl1pPr marL="0" indent="0" algn="l">
              <a:lnSpc>
                <a:spcPct val="90000"/>
              </a:lnSpc>
              <a:buNone/>
              <a:defRPr sz="30000" b="0" i="0">
                <a:solidFill>
                  <a:schemeClr val="tx1"/>
                </a:solidFill>
                <a:latin typeface="+mn-lt"/>
              </a:defRPr>
            </a:lvl1pPr>
          </a:lstStyle>
          <a:p>
            <a:pPr lvl="0"/>
            <a:r>
              <a:rPr lang="en-US" dirty="0"/>
              <a:t>##%</a:t>
            </a:r>
          </a:p>
        </p:txBody>
      </p:sp>
    </p:spTree>
    <p:extLst>
      <p:ext uri="{BB962C8B-B14F-4D97-AF65-F5344CB8AC3E}">
        <p14:creationId xmlns:p14="http://schemas.microsoft.com/office/powerpoint/2010/main" val="3667156823"/>
      </p:ext>
    </p:extLst>
  </p:cSld>
  <p:clrMapOvr>
    <a:overrideClrMapping bg1="dk1" tx1="lt1" bg2="dk2" tx2="lt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cxnSp>
        <p:nvCxnSpPr>
          <p:cNvPr id="51" name="Straight Connector 50">
            <a:extLst>
              <a:ext uri="{FF2B5EF4-FFF2-40B4-BE49-F238E27FC236}">
                <a16:creationId xmlns:a16="http://schemas.microsoft.com/office/drawing/2014/main" id="{0D627006-2F17-8195-85F1-6A04C935CD0A}"/>
              </a:ext>
            </a:extLst>
          </p:cNvPr>
          <p:cNvCxnSpPr/>
          <p:nvPr userDrawn="1"/>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lvl1pPr>
              <a:defRPr cap="none" baseline="0"/>
            </a:lvl1pPr>
          </a:lstStyle>
          <a:p>
            <a:r>
              <a:rPr lang="en-US" dirty="0"/>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dirty="0"/>
              <a:t>GROWTH MARKETING PLAN</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312BCB96-76D1-4464-9253-520F75095DE4}" type="datetime1">
              <a:rPr lang="en-US" smtClean="0"/>
              <a:t>7/28/2026</a:t>
            </a:fld>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34030" y="1001715"/>
            <a:ext cx="9424374" cy="5221280"/>
          </a:xfrm>
        </p:spPr>
        <p:txBody>
          <a:bodyPr anchor="ctr">
            <a:noAutofit/>
          </a:bodyPr>
          <a:lstStyle>
            <a:lvl1pPr marL="0" indent="0">
              <a:lnSpc>
                <a:spcPct val="100000"/>
              </a:lnSpc>
              <a:buNone/>
              <a:defRPr sz="4000" b="1" cap="all" baseline="0"/>
            </a:lvl1pPr>
            <a:lvl2pPr marL="228600" indent="0">
              <a:lnSpc>
                <a:spcPct val="100000"/>
              </a:lnSpc>
              <a:buNone/>
              <a:defRPr sz="4000" b="1" cap="all" baseline="0"/>
            </a:lvl2pPr>
            <a:lvl3pPr marL="457200" indent="0">
              <a:lnSpc>
                <a:spcPct val="100000"/>
              </a:lnSpc>
              <a:buNone/>
              <a:defRPr sz="4000" b="1" cap="all" baseline="0"/>
            </a:lvl3pPr>
            <a:lvl4pPr marL="685800" indent="0">
              <a:lnSpc>
                <a:spcPct val="100000"/>
              </a:lnSpc>
              <a:buNone/>
              <a:defRPr sz="4000" b="1" cap="all" baseline="0"/>
            </a:lvl4pPr>
            <a:lvl5pPr marL="914400" indent="0">
              <a:lnSpc>
                <a:spcPct val="100000"/>
              </a:lnSpc>
              <a:buNone/>
              <a:defRPr sz="4000" b="1" cap="all" baseline="0"/>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6" name="Straight Connector 5">
            <a:extLst>
              <a:ext uri="{FF2B5EF4-FFF2-40B4-BE49-F238E27FC236}">
                <a16:creationId xmlns:a16="http://schemas.microsoft.com/office/drawing/2014/main" id="{C6DC5F9A-93BE-3155-B9FF-4F2B904E7EDC}"/>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7346005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cSld name="Statement 2">
    <p:bg>
      <p:bgPr>
        <a:solidFill>
          <a:schemeClr val="accent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EE1D5172-97DD-EE7A-066E-A8782AEFC905}"/>
              </a:ext>
            </a:extLst>
          </p:cNvPr>
          <p:cNvCxnSpPr/>
          <p:nvPr userDrawn="1"/>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599396" y="-1133856"/>
            <a:ext cx="10652760" cy="1001330"/>
          </a:xfrm>
        </p:spPr>
        <p:txBody>
          <a:bodyPr/>
          <a:lstStyle>
            <a:lvl1pPr>
              <a:defRPr cap="none" baseline="0"/>
            </a:lvl1pPr>
          </a:lstStyle>
          <a:p>
            <a:r>
              <a:rPr lang="en-US" dirty="0"/>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dirty="0"/>
              <a:t>GROWTH MARKETING PLAN</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623F8BC6-0973-431F-9F88-90604F102123}" type="datetime1">
              <a:rPr lang="en-US" smtClean="0"/>
              <a:t>7/28/2026</a:t>
            </a:fld>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599396" y="1001715"/>
            <a:ext cx="9459008" cy="5378062"/>
          </a:xfrm>
        </p:spPr>
        <p:txBody>
          <a:bodyPr anchor="b">
            <a:noAutofit/>
          </a:bodyPr>
          <a:lstStyle>
            <a:lvl1pPr marL="0" indent="0">
              <a:lnSpc>
                <a:spcPct val="90000"/>
              </a:lnSpc>
              <a:buNone/>
              <a:defRPr sz="4000" b="1" cap="all" baseline="0">
                <a:latin typeface="+mn-lt"/>
              </a:defRPr>
            </a:lvl1pPr>
            <a:lvl2pPr marL="228600" indent="0">
              <a:lnSpc>
                <a:spcPct val="90000"/>
              </a:lnSpc>
              <a:buNone/>
              <a:defRPr sz="4000" b="1" cap="all" baseline="0">
                <a:latin typeface="+mn-lt"/>
              </a:defRPr>
            </a:lvl2pPr>
            <a:lvl3pPr marL="457200" indent="0">
              <a:lnSpc>
                <a:spcPct val="90000"/>
              </a:lnSpc>
              <a:buNone/>
              <a:defRPr sz="4000" b="1" cap="all" baseline="0">
                <a:latin typeface="+mn-lt"/>
              </a:defRPr>
            </a:lvl3pPr>
            <a:lvl4pPr marL="685800" indent="0">
              <a:lnSpc>
                <a:spcPct val="90000"/>
              </a:lnSpc>
              <a:buNone/>
              <a:defRPr sz="4000" b="1" cap="all" baseline="0">
                <a:latin typeface="+mn-lt"/>
              </a:defRPr>
            </a:lvl4pPr>
            <a:lvl5pPr marL="914400" indent="0">
              <a:lnSpc>
                <a:spcPct val="90000"/>
              </a:lnSpc>
              <a:buNone/>
              <a:defRPr sz="4000" b="1" cap="all" baseline="0">
                <a:latin typeface="+mn-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6" name="Straight Connector 5">
            <a:extLst>
              <a:ext uri="{FF2B5EF4-FFF2-40B4-BE49-F238E27FC236}">
                <a16:creationId xmlns:a16="http://schemas.microsoft.com/office/drawing/2014/main" id="{4993CE3A-3702-5441-A16B-15475B1AC32C}"/>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3019128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Statement 3">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3F5B07A5-D0B6-BEDF-13F7-7E32618B6773}"/>
              </a:ext>
            </a:extLst>
          </p:cNvPr>
          <p:cNvCxnSpPr/>
          <p:nvPr userDrawn="1"/>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lvl1pPr>
              <a:defRPr cap="none" baseline="0"/>
            </a:lvl1pPr>
          </a:lstStyle>
          <a:p>
            <a:r>
              <a:rPr lang="en-US" dirty="0"/>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dirty="0"/>
              <a:t>GROWTH MARKETING PLAN</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8340309F-82F1-48B4-8AF1-7FAFA4EA46A8}" type="datetime1">
              <a:rPr lang="en-US" smtClean="0"/>
              <a:t>7/28/2026</a:t>
            </a:fld>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33479" y="1001713"/>
            <a:ext cx="10924473" cy="5378063"/>
          </a:xfrm>
        </p:spPr>
        <p:txBody>
          <a:bodyPr anchor="b">
            <a:noAutofit/>
          </a:bodyPr>
          <a:lstStyle>
            <a:lvl1pPr marL="0" indent="0">
              <a:lnSpc>
                <a:spcPct val="100000"/>
              </a:lnSpc>
              <a:buNone/>
              <a:defRPr sz="4000" b="0" i="0" cap="all" baseline="0">
                <a:latin typeface="+mn-lt"/>
              </a:defRPr>
            </a:lvl1pPr>
            <a:lvl2pPr marL="228600" indent="0">
              <a:lnSpc>
                <a:spcPct val="100000"/>
              </a:lnSpc>
              <a:buNone/>
              <a:defRPr sz="4000" b="0" i="0" cap="all" baseline="0">
                <a:latin typeface="+mn-lt"/>
              </a:defRPr>
            </a:lvl2pPr>
            <a:lvl3pPr marL="457200" indent="0">
              <a:lnSpc>
                <a:spcPct val="100000"/>
              </a:lnSpc>
              <a:buNone/>
              <a:defRPr sz="4000" b="0" i="0" cap="all" baseline="0">
                <a:latin typeface="+mn-lt"/>
              </a:defRPr>
            </a:lvl3pPr>
            <a:lvl4pPr marL="685800" indent="0">
              <a:lnSpc>
                <a:spcPct val="100000"/>
              </a:lnSpc>
              <a:buNone/>
              <a:defRPr sz="4000" b="0" i="0" cap="all" baseline="0">
                <a:latin typeface="+mn-lt"/>
              </a:defRPr>
            </a:lvl4pPr>
            <a:lvl5pPr marL="914400" indent="0">
              <a:lnSpc>
                <a:spcPct val="100000"/>
              </a:lnSpc>
              <a:buNone/>
              <a:defRPr sz="4000" b="0" i="0" cap="all" baseline="0">
                <a:latin typeface="+mn-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6" name="Straight Connector 5">
            <a:extLst>
              <a:ext uri="{FF2B5EF4-FFF2-40B4-BE49-F238E27FC236}">
                <a16:creationId xmlns:a16="http://schemas.microsoft.com/office/drawing/2014/main" id="{3E71C1F5-4C28-1974-E5FE-84A75C2718B0}"/>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3676504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8C518A1F-ACCA-80D1-B725-434280AEC752}"/>
              </a:ext>
            </a:extLst>
          </p:cNvPr>
          <p:cNvCxnSpPr/>
          <p:nvPr userDrawn="1"/>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634029" y="5907727"/>
            <a:ext cx="9980960" cy="381000"/>
          </a:xfrm>
        </p:spPr>
        <p:txBody>
          <a:bodyPr anchor="b">
            <a:normAutofit/>
          </a:bodyPr>
          <a:lstStyle>
            <a:lvl1pPr>
              <a:lnSpc>
                <a:spcPct val="120000"/>
              </a:lnSpc>
              <a:defRPr sz="1600" b="0" i="0" cap="none" baseline="0">
                <a:solidFill>
                  <a:schemeClr val="tx1"/>
                </a:solidFill>
                <a:latin typeface="+mj-lt"/>
              </a:defRPr>
            </a:lvl1pPr>
          </a:lstStyle>
          <a:p>
            <a:r>
              <a:rPr lang="en-US" dirty="0"/>
              <a:t>Quote Author</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r>
              <a:rPr lang="en-US" dirty="0"/>
              <a:t>GROWTH MARKETING PLAN</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F2657C51-8093-4086-9EBD-6F9D3CF38435}" type="datetime1">
              <a:rPr lang="en-US" smtClean="0"/>
              <a:t>7/28/2026</a:t>
            </a:fld>
            <a:endParaRPr lang="en-US" dirty="0"/>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34030" y="1001717"/>
            <a:ext cx="9980960" cy="3726808"/>
          </a:xfrm>
        </p:spPr>
        <p:txBody>
          <a:bodyPr anchor="t">
            <a:normAutofit/>
          </a:bodyPr>
          <a:lstStyle>
            <a:lvl1pPr marL="164592" indent="-164592">
              <a:lnSpc>
                <a:spcPct val="100000"/>
              </a:lnSpc>
              <a:spcBef>
                <a:spcPts val="0"/>
              </a:spcBef>
              <a:buNone/>
              <a:defRPr sz="4000" b="0" i="0" cap="all" baseline="0">
                <a:solidFill>
                  <a:schemeClr val="tx1"/>
                </a:solidFill>
                <a:latin typeface="+mn-lt"/>
              </a:defRPr>
            </a:lvl1pPr>
          </a:lstStyle>
          <a:p>
            <a:pPr lvl="0"/>
            <a:r>
              <a:rPr lang="en-US" dirty="0"/>
              <a:t>CLICK TO add QUOTE</a:t>
            </a:r>
          </a:p>
        </p:txBody>
      </p:sp>
      <p:cxnSp>
        <p:nvCxnSpPr>
          <p:cNvPr id="6" name="Straight Connector 5">
            <a:extLst>
              <a:ext uri="{FF2B5EF4-FFF2-40B4-BE49-F238E27FC236}">
                <a16:creationId xmlns:a16="http://schemas.microsoft.com/office/drawing/2014/main" id="{1EDBAF72-4C6A-14D9-5801-64F0FA350F7C}"/>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9190516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Quote 2">
    <p:bg>
      <p:bgPr>
        <a:solidFill>
          <a:schemeClr val="accent1"/>
        </a:solidFill>
        <a:effectLst/>
      </p:bgPr>
    </p:bg>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4FD47CB2-2DC0-2D1C-3E20-3B23C0394451}"/>
              </a:ext>
            </a:extLst>
          </p:cNvPr>
          <p:cNvCxnSpPr/>
          <p:nvPr userDrawn="1"/>
        </p:nvCxnSpPr>
        <p:spPr>
          <a:xfrm>
            <a:off x="429209" y="164150"/>
            <a:ext cx="11762791"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634028" y="5815584"/>
            <a:ext cx="10923925" cy="511644"/>
          </a:xfrm>
        </p:spPr>
        <p:txBody>
          <a:bodyPr anchor="b">
            <a:noAutofit/>
          </a:bodyPr>
          <a:lstStyle>
            <a:lvl1pPr>
              <a:lnSpc>
                <a:spcPct val="120000"/>
              </a:lnSpc>
              <a:defRPr sz="1600" b="0" i="0" cap="none" baseline="0">
                <a:solidFill>
                  <a:schemeClr val="bg1"/>
                </a:solidFill>
                <a:latin typeface="+mj-lt"/>
              </a:defRPr>
            </a:lvl1pPr>
          </a:lstStyle>
          <a:p>
            <a:r>
              <a:rPr lang="en-US" dirty="0"/>
              <a:t>Quote Author</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lvl1pPr>
              <a:defRPr>
                <a:solidFill>
                  <a:schemeClr val="bg1"/>
                </a:solidFill>
              </a:defRPr>
            </a:lvl1pPr>
          </a:lstStyle>
          <a:p>
            <a:r>
              <a:rPr lang="en-US" dirty="0"/>
              <a:t>GROWTH MARKETING PLAN</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lvl1pPr>
              <a:defRPr>
                <a:solidFill>
                  <a:schemeClr val="bg1"/>
                </a:solidFill>
              </a:defRPr>
            </a:lvl1pPr>
          </a:lstStyle>
          <a:p>
            <a:fld id="{83B3AEC4-477A-480C-8C3E-559E8B429188}" type="datetime1">
              <a:rPr lang="en-US" smtClean="0"/>
              <a:pPr/>
              <a:t>7/28/2026</a:t>
            </a:fld>
            <a:endParaRPr lang="en-US" dirty="0"/>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34029" y="1042416"/>
            <a:ext cx="10923925" cy="4037312"/>
          </a:xfrm>
        </p:spPr>
        <p:txBody>
          <a:bodyPr anchor="t">
            <a:normAutofit/>
          </a:bodyPr>
          <a:lstStyle>
            <a:lvl1pPr marL="164592" indent="-164592">
              <a:lnSpc>
                <a:spcPct val="100000"/>
              </a:lnSpc>
              <a:spcBef>
                <a:spcPts val="0"/>
              </a:spcBef>
              <a:buNone/>
              <a:defRPr sz="4000" b="0" i="0" cap="all" baseline="0">
                <a:solidFill>
                  <a:schemeClr val="bg1"/>
                </a:solidFill>
                <a:latin typeface="+mn-lt"/>
              </a:defRPr>
            </a:lvl1pPr>
          </a:lstStyle>
          <a:p>
            <a:pPr lvl="0"/>
            <a:r>
              <a:rPr lang="en-US" dirty="0"/>
              <a:t>CLICK TO add QUOTE</a:t>
            </a:r>
          </a:p>
        </p:txBody>
      </p:sp>
      <p:cxnSp>
        <p:nvCxnSpPr>
          <p:cNvPr id="8" name="Straight Connector 7">
            <a:extLst>
              <a:ext uri="{FF2B5EF4-FFF2-40B4-BE49-F238E27FC236}">
                <a16:creationId xmlns:a16="http://schemas.microsoft.com/office/drawing/2014/main" id="{315DE24C-5070-BB46-4081-8ED244198E0F}"/>
              </a:ext>
            </a:extLst>
          </p:cNvPr>
          <p:cNvCxnSpPr>
            <a:cxnSpLocks/>
          </p:cNvCxnSpPr>
          <p:nvPr userDrawn="1"/>
        </p:nvCxnSpPr>
        <p:spPr>
          <a:xfrm>
            <a:off x="429793" y="0"/>
            <a:ext cx="0" cy="6858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79516171"/>
      </p:ext>
    </p:extLst>
  </p:cSld>
  <p:clrMapOvr>
    <a:overrideClrMapping bg1="dk1" tx1="lt1" bg2="dk2" tx2="lt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Quote 3">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80708A38-78BC-D3CE-5C55-65C094C8935A}"/>
              </a:ext>
            </a:extLst>
          </p:cNvPr>
          <p:cNvCxnSpPr/>
          <p:nvPr userDrawn="1"/>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639037" y="5749160"/>
            <a:ext cx="8956676" cy="567558"/>
          </a:xfrm>
        </p:spPr>
        <p:txBody>
          <a:bodyPr anchor="b">
            <a:normAutofit/>
          </a:bodyPr>
          <a:lstStyle>
            <a:lvl1pPr>
              <a:lnSpc>
                <a:spcPct val="120000"/>
              </a:lnSpc>
              <a:defRPr sz="1600" b="0" i="0" cap="none" baseline="0">
                <a:solidFill>
                  <a:schemeClr val="tx1"/>
                </a:solidFill>
                <a:latin typeface="+mj-lt"/>
              </a:defRPr>
            </a:lvl1pPr>
          </a:lstStyle>
          <a:p>
            <a:r>
              <a:rPr lang="en-US" dirty="0"/>
              <a:t>Quote Author</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r>
              <a:rPr lang="en-US" dirty="0"/>
              <a:t>GROWTH MARKETING PLAN</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D7163BA6-8D49-4675-9508-BB867C793A49}" type="datetime1">
              <a:rPr lang="en-US" smtClean="0"/>
              <a:t>7/28/2026</a:t>
            </a:fld>
            <a:endParaRPr lang="en-US" dirty="0"/>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34030" y="1001715"/>
            <a:ext cx="9037984" cy="3726810"/>
          </a:xfrm>
        </p:spPr>
        <p:txBody>
          <a:bodyPr anchor="t">
            <a:normAutofit/>
          </a:bodyPr>
          <a:lstStyle>
            <a:lvl1pPr marL="164592" indent="-164592">
              <a:lnSpc>
                <a:spcPct val="100000"/>
              </a:lnSpc>
              <a:spcBef>
                <a:spcPts val="0"/>
              </a:spcBef>
              <a:buNone/>
              <a:defRPr sz="4000" b="0" i="0" cap="all" baseline="0">
                <a:latin typeface="+mn-lt"/>
              </a:defRPr>
            </a:lvl1pPr>
          </a:lstStyle>
          <a:p>
            <a:pPr lvl="0"/>
            <a:r>
              <a:rPr lang="en-US" dirty="0"/>
              <a:t>CLICK TO add QUOTE</a:t>
            </a:r>
          </a:p>
        </p:txBody>
      </p:sp>
      <p:cxnSp>
        <p:nvCxnSpPr>
          <p:cNvPr id="6" name="Straight Connector 5">
            <a:extLst>
              <a:ext uri="{FF2B5EF4-FFF2-40B4-BE49-F238E27FC236}">
                <a16:creationId xmlns:a16="http://schemas.microsoft.com/office/drawing/2014/main" id="{B1108F76-E7E3-1812-8331-DCE59FFE0DFB}"/>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9314549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033CF370-3CA5-B9C3-AA2C-1D52A27AD182}"/>
              </a:ext>
            </a:extLst>
          </p:cNvPr>
          <p:cNvCxnSpPr/>
          <p:nvPr userDrawn="1"/>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030" y="1001715"/>
            <a:ext cx="10923934" cy="1127756"/>
          </a:xfrm>
        </p:spPr>
        <p:txBody>
          <a:bodyPr/>
          <a:lstStyle/>
          <a:p>
            <a:r>
              <a:rPr lang="en-US" dirty="0"/>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GROWTH MARKETING PLAN</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81C58E83-499B-42C0-A29C-116A7958FAB2}" type="datetime1">
              <a:rPr lang="en-US" smtClean="0"/>
              <a:t>7/28/2026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9" name="Text Placeholder 8">
            <a:extLst>
              <a:ext uri="{FF2B5EF4-FFF2-40B4-BE49-F238E27FC236}">
                <a16:creationId xmlns:a16="http://schemas.microsoft.com/office/drawing/2014/main" id="{84DC103C-4E45-07FA-2734-5BAE2624DC48}"/>
              </a:ext>
            </a:extLst>
          </p:cNvPr>
          <p:cNvSpPr>
            <a:spLocks noGrp="1"/>
          </p:cNvSpPr>
          <p:nvPr>
            <p:ph type="body" sz="quarter" idx="13"/>
          </p:nvPr>
        </p:nvSpPr>
        <p:spPr>
          <a:xfrm>
            <a:off x="634030" y="2129474"/>
            <a:ext cx="5266090" cy="4093525"/>
          </a:xfrm>
        </p:spPr>
        <p:txBody>
          <a:bodyPr>
            <a:normAutofit/>
          </a:bodyPr>
          <a:lstStyle>
            <a:lvl1pPr>
              <a:defRPr sz="1600"/>
            </a:lvl1pPr>
            <a:lvl2pPr>
              <a:defRPr sz="1600"/>
            </a:lvl2pPr>
            <a:lvl3pPr>
              <a:defRPr sz="1600"/>
            </a:lvl3pPr>
            <a:lvl4pPr>
              <a:defRPr sz="1600"/>
            </a:lvl4pPr>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ext Placeholder 10">
            <a:extLst>
              <a:ext uri="{FF2B5EF4-FFF2-40B4-BE49-F238E27FC236}">
                <a16:creationId xmlns:a16="http://schemas.microsoft.com/office/drawing/2014/main" id="{288F1ED9-CE64-0191-F909-FDC002A7456F}"/>
              </a:ext>
            </a:extLst>
          </p:cNvPr>
          <p:cNvSpPr>
            <a:spLocks noGrp="1"/>
          </p:cNvSpPr>
          <p:nvPr>
            <p:ph type="body" sz="quarter" idx="14"/>
          </p:nvPr>
        </p:nvSpPr>
        <p:spPr>
          <a:xfrm>
            <a:off x="6291886" y="2129473"/>
            <a:ext cx="5266078" cy="4093526"/>
          </a:xfrm>
        </p:spPr>
        <p:txBody>
          <a:bodyPr/>
          <a:lstStyle>
            <a:lvl1pPr>
              <a:defRPr sz="1600"/>
            </a:lvl1pPr>
            <a:lvl2pPr>
              <a:defRPr sz="1600"/>
            </a:lvl2pPr>
            <a:lvl3pPr>
              <a:defRPr sz="1600"/>
            </a:lvl3pPr>
            <a:lvl4pPr>
              <a:defRPr sz="1600"/>
            </a:lvl4pPr>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3" name="Straight Connector 2">
            <a:extLst>
              <a:ext uri="{FF2B5EF4-FFF2-40B4-BE49-F238E27FC236}">
                <a16:creationId xmlns:a16="http://schemas.microsoft.com/office/drawing/2014/main" id="{0DA0E66B-621F-DCB6-E24E-748318E12F2D}"/>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6381563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A1A96DE7-ACFB-A025-20F2-1C9A4CEF7566}"/>
              </a:ext>
            </a:extLst>
          </p:cNvPr>
          <p:cNvCxnSpPr/>
          <p:nvPr userDrawn="1"/>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34030" y="1001714"/>
            <a:ext cx="10923934" cy="688973"/>
          </a:xfrm>
        </p:spPr>
        <p:txBody>
          <a:bodyPr>
            <a:normAutofit/>
          </a:bodyPr>
          <a:lstStyle>
            <a:lvl1pPr>
              <a:defRPr sz="4000"/>
            </a:lvl1pPr>
          </a:lstStyle>
          <a:p>
            <a:r>
              <a:rPr lang="en-US" dirty="0"/>
              <a:t>Click to edit Master title style</a:t>
            </a:r>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dirty="0"/>
              <a:t>GROWTH MARKETING PLAN</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24F4FD23-2163-447C-A80D-D0B4B313F4F9}" type="datetime1">
              <a:rPr lang="en-US" smtClean="0"/>
              <a:t>7/28/2026</a:t>
            </a:fld>
            <a:endParaRPr lang="en-US" dirty="0"/>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33472" y="1685735"/>
            <a:ext cx="5266644" cy="810454"/>
          </a:xfrm>
        </p:spPr>
        <p:txBody>
          <a:bodyPr anchor="b">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1" name="Text Placeholder 10">
            <a:extLst>
              <a:ext uri="{FF2B5EF4-FFF2-40B4-BE49-F238E27FC236}">
                <a16:creationId xmlns:a16="http://schemas.microsoft.com/office/drawing/2014/main" id="{F86E5640-DE07-46FE-2EFB-FCD8C5238DC9}"/>
              </a:ext>
            </a:extLst>
          </p:cNvPr>
          <p:cNvSpPr>
            <a:spLocks noGrp="1"/>
          </p:cNvSpPr>
          <p:nvPr>
            <p:ph type="body" sz="quarter" idx="13"/>
          </p:nvPr>
        </p:nvSpPr>
        <p:spPr>
          <a:xfrm>
            <a:off x="634596" y="2496190"/>
            <a:ext cx="5265520" cy="3726810"/>
          </a:xfrm>
        </p:spPr>
        <p:txBody>
          <a:bodyPr>
            <a:normAutofit/>
          </a:bodyPr>
          <a:lstStyle>
            <a:lvl1pPr>
              <a:defRPr sz="1600"/>
            </a:lvl1pPr>
            <a:lvl2pPr>
              <a:defRPr sz="1600"/>
            </a:lvl2pPr>
            <a:lvl3pPr>
              <a:defRPr sz="1600"/>
            </a:lvl3pPr>
            <a:lvl4pPr>
              <a:defRPr sz="1600"/>
            </a:lvl4pPr>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286500" y="1685735"/>
            <a:ext cx="5271464" cy="810454"/>
          </a:xfrm>
        </p:spPr>
        <p:txBody>
          <a:bodyPr anchor="b">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3" name="Text Placeholder 12">
            <a:extLst>
              <a:ext uri="{FF2B5EF4-FFF2-40B4-BE49-F238E27FC236}">
                <a16:creationId xmlns:a16="http://schemas.microsoft.com/office/drawing/2014/main" id="{20D5795C-6228-AA6F-1CF7-AD7010686BC6}"/>
              </a:ext>
            </a:extLst>
          </p:cNvPr>
          <p:cNvSpPr>
            <a:spLocks noGrp="1"/>
          </p:cNvSpPr>
          <p:nvPr>
            <p:ph type="body" sz="quarter" idx="14"/>
          </p:nvPr>
        </p:nvSpPr>
        <p:spPr>
          <a:xfrm>
            <a:off x="6286500" y="2496190"/>
            <a:ext cx="5271464" cy="3726810"/>
          </a:xfrm>
        </p:spPr>
        <p:txBody>
          <a:bodyPr>
            <a:normAutofit/>
          </a:bodyPr>
          <a:lstStyle>
            <a:lvl1pPr>
              <a:defRPr sz="1600"/>
            </a:lvl1pPr>
            <a:lvl2pPr>
              <a:defRPr sz="1600"/>
            </a:lvl2pPr>
            <a:lvl3pPr>
              <a:defRPr sz="1600"/>
            </a:lvl3pPr>
            <a:lvl4pPr>
              <a:defRPr sz="1600"/>
            </a:lvl4pPr>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4" name="Straight Connector 3">
            <a:extLst>
              <a:ext uri="{FF2B5EF4-FFF2-40B4-BE49-F238E27FC236}">
                <a16:creationId xmlns:a16="http://schemas.microsoft.com/office/drawing/2014/main" id="{FFC723C3-DA4A-8D71-987B-EB7E7A74D1E6}"/>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408460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44A141C8-6351-7BB4-B97D-32DF6F45DBC5}"/>
              </a:ext>
            </a:extLst>
          </p:cNvPr>
          <p:cNvCxnSpPr/>
          <p:nvPr userDrawn="1"/>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634030" y="1001714"/>
            <a:ext cx="10923933" cy="1127761"/>
          </a:xfrm>
        </p:spPr>
        <p:txBody>
          <a:bodyPr>
            <a:normAutofit/>
          </a:bodyPr>
          <a:lstStyle>
            <a:lvl1pPr>
              <a:defRPr sz="4000"/>
            </a:lvl1pPr>
          </a:lstStyle>
          <a:p>
            <a:r>
              <a:rPr lang="en-US" dirty="0"/>
              <a:t>Click to edit Master title style</a:t>
            </a:r>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dirty="0"/>
              <a:t>GROWTH MARKETING PLAN</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26CE927C-C7F8-47B0-9A1C-DEAC93AC4235}" type="datetime1">
              <a:rPr lang="en-US" smtClean="0"/>
              <a:t>7/28/2026</a:t>
            </a:fld>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dirty="0"/>
          </a:p>
        </p:txBody>
      </p:sp>
      <p:cxnSp>
        <p:nvCxnSpPr>
          <p:cNvPr id="6" name="Straight Connector 5">
            <a:extLst>
              <a:ext uri="{FF2B5EF4-FFF2-40B4-BE49-F238E27FC236}">
                <a16:creationId xmlns:a16="http://schemas.microsoft.com/office/drawing/2014/main" id="{D88218CD-6934-8D18-A575-7C745D80A6C4}"/>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6305866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BFE09A4A-7256-DFB0-F197-FAC31C991665}"/>
              </a:ext>
            </a:extLst>
          </p:cNvPr>
          <p:cNvCxnSpPr/>
          <p:nvPr/>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dirty="0"/>
              <a:t>GROWTH MARKETING PLAN</a:t>
            </a:r>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AEEB669C-B2F2-4540-973C-9431C4193843}" type="datetime1">
              <a:rPr lang="en-US" smtClean="0"/>
              <a:t>7/28/2026</a:t>
            </a:fld>
            <a:endParaRPr lang="en-US" dirty="0"/>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dirty="0"/>
          </a:p>
        </p:txBody>
      </p:sp>
      <p:cxnSp>
        <p:nvCxnSpPr>
          <p:cNvPr id="7" name="Straight Connector 6">
            <a:extLst>
              <a:ext uri="{FF2B5EF4-FFF2-40B4-BE49-F238E27FC236}">
                <a16:creationId xmlns:a16="http://schemas.microsoft.com/office/drawing/2014/main" id="{1571AA78-5D18-EE68-E9E7-A1075C78BC20}"/>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8918235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634031" y="1001716"/>
            <a:ext cx="4328496" cy="1122374"/>
          </a:xfrm>
        </p:spPr>
        <p:txBody>
          <a:bodyPr anchor="t">
            <a:noAutofit/>
          </a:bodyPr>
          <a:lstStyle>
            <a:lvl1pPr>
              <a:defRPr sz="4000"/>
            </a:lvl1pPr>
          </a:lstStyle>
          <a:p>
            <a:r>
              <a:rPr lang="en-US" dirty="0"/>
              <a:t>Click to edit Master title style</a:t>
            </a:r>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dirty="0"/>
              <a:t>GROWTH MARKETING PLAN</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01E0AE40-9A04-413D-8631-F7A90F9EBCFC}" type="datetime1">
              <a:rPr lang="en-US" smtClean="0"/>
              <a:t>7/28/2026</a:t>
            </a:fld>
            <a:endParaRPr lang="en-US" dirty="0"/>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dirty="0"/>
          </a:p>
        </p:txBody>
      </p:sp>
      <p:cxnSp>
        <p:nvCxnSpPr>
          <p:cNvPr id="9" name="Straight Connector 8">
            <a:extLst>
              <a:ext uri="{FF2B5EF4-FFF2-40B4-BE49-F238E27FC236}">
                <a16:creationId xmlns:a16="http://schemas.microsoft.com/office/drawing/2014/main" id="{CD4A6C7F-9167-3CFF-8E30-53AE9D6BB738}"/>
              </a:ext>
            </a:extLst>
          </p:cNvPr>
          <p:cNvCxnSpPr/>
          <p:nvPr userDrawn="1"/>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634020" y="2496190"/>
            <a:ext cx="4328506" cy="3726810"/>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348910" y="1001715"/>
            <a:ext cx="6209053" cy="5221285"/>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8" name="Straight Connector 7">
            <a:extLst>
              <a:ext uri="{FF2B5EF4-FFF2-40B4-BE49-F238E27FC236}">
                <a16:creationId xmlns:a16="http://schemas.microsoft.com/office/drawing/2014/main" id="{A9C0A275-A2A5-8AD0-2E0F-DDE194CF88B0}"/>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8911082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34030" y="1001715"/>
            <a:ext cx="3771899" cy="1875474"/>
          </a:xfrm>
        </p:spPr>
        <p:txBody>
          <a:bodyPr anchor="t">
            <a:normAutofit/>
          </a:bodyPr>
          <a:lstStyle>
            <a:lvl1pPr>
              <a:defRPr sz="4000"/>
            </a:lvl1pPr>
          </a:lstStyle>
          <a:p>
            <a:r>
              <a:rPr lang="en-US" dirty="0"/>
              <a:t>Click to edit Master title style</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dirty="0"/>
              <a:t>GROWTH MARKETING PLAN</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D8694C3A-EE25-431B-80B1-4EF91AFC3103}" type="datetime1">
              <a:rPr lang="en-US" smtClean="0"/>
              <a:t>7/28/2026</a:t>
            </a:fld>
            <a:endParaRPr lang="en-US" dirty="0"/>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34029" y="3242949"/>
            <a:ext cx="3771899" cy="306325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cxnSp>
        <p:nvCxnSpPr>
          <p:cNvPr id="9" name="Straight Connector 8">
            <a:extLst>
              <a:ext uri="{FF2B5EF4-FFF2-40B4-BE49-F238E27FC236}">
                <a16:creationId xmlns:a16="http://schemas.microsoft.com/office/drawing/2014/main" id="{03E95682-83E4-B8FD-0229-98470A1CACC8}"/>
              </a:ext>
            </a:extLst>
          </p:cNvPr>
          <p:cNvCxnSpPr/>
          <p:nvPr userDrawn="1"/>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p:nvPr>
        </p:nvSpPr>
        <p:spPr>
          <a:xfrm>
            <a:off x="4962527" y="634999"/>
            <a:ext cx="6595437" cy="5588001"/>
          </a:xfrm>
          <a:blipFill dpi="0" rotWithShape="1">
            <a:blip r:embed="rId2">
              <a:alphaModFix amt="60000"/>
            </a:blip>
            <a:srcRect/>
            <a:stretch>
              <a:fillRect/>
            </a:stretch>
          </a:blip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cxnSp>
        <p:nvCxnSpPr>
          <p:cNvPr id="8" name="Straight Connector 7">
            <a:extLst>
              <a:ext uri="{FF2B5EF4-FFF2-40B4-BE49-F238E27FC236}">
                <a16:creationId xmlns:a16="http://schemas.microsoft.com/office/drawing/2014/main" id="{9C2BD7F5-CDD3-75CC-75F0-0D3B429420E5}"/>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7509807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34030" y="1373816"/>
            <a:ext cx="8481399" cy="1607128"/>
          </a:xfrm>
        </p:spPr>
        <p:txBody>
          <a:bodyPr anchor="b">
            <a:noAutofit/>
          </a:bodyPr>
          <a:lstStyle>
            <a:lvl1pPr>
              <a:defRPr sz="7200">
                <a:solidFill>
                  <a:schemeClr val="tx1"/>
                </a:solidFill>
              </a:defRPr>
            </a:lvl1pPr>
          </a:lstStyle>
          <a:p>
            <a:r>
              <a:rPr lang="en-US" dirty="0"/>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dirty="0"/>
              <a:t>GROWTH MARKETING PLAN</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B4C3B674-A5BF-456A-8269-F8CA9F763AF0}" type="datetime1">
              <a:rPr lang="en-US" smtClean="0"/>
              <a:pPr/>
              <a:t>7/28/2026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7" name="Straight Connector 6">
            <a:extLst>
              <a:ext uri="{FF2B5EF4-FFF2-40B4-BE49-F238E27FC236}">
                <a16:creationId xmlns:a16="http://schemas.microsoft.com/office/drawing/2014/main" id="{BB4F35B0-78B0-CF96-BDA9-3D1E19B0636E}"/>
              </a:ext>
            </a:extLst>
          </p:cNvPr>
          <p:cNvCxnSpPr/>
          <p:nvPr userDrawn="1"/>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33481" y="3615051"/>
            <a:ext cx="10367898" cy="2607949"/>
          </a:xfrm>
        </p:spPr>
        <p:txBody>
          <a:bodyPr>
            <a:normAutofit/>
          </a:bodyPr>
          <a:lstStyle>
            <a:lvl1pPr marL="0" indent="0">
              <a:buNone/>
              <a:defRPr sz="1600">
                <a:solidFill>
                  <a:schemeClr val="tx1"/>
                </a:solidFill>
              </a:defRPr>
            </a:lvl1pPr>
            <a:lvl2pPr marL="228600" indent="0">
              <a:buNone/>
              <a:defRPr sz="1600">
                <a:solidFill>
                  <a:schemeClr val="tx1"/>
                </a:solidFill>
              </a:defRPr>
            </a:lvl2pPr>
            <a:lvl3pPr marL="457200" indent="0">
              <a:buNone/>
              <a:defRPr sz="1600">
                <a:solidFill>
                  <a:schemeClr val="tx1"/>
                </a:solidFill>
              </a:defRPr>
            </a:lvl3pPr>
            <a:lvl4pPr marL="685800" indent="0">
              <a:buNone/>
              <a:defRPr sz="1600">
                <a:solidFill>
                  <a:schemeClr val="tx1"/>
                </a:solidFill>
              </a:defRPr>
            </a:lvl4pPr>
            <a:lvl5pPr marL="914400" indent="0">
              <a:buNone/>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3" name="Straight Connector 2">
            <a:extLst>
              <a:ext uri="{FF2B5EF4-FFF2-40B4-BE49-F238E27FC236}">
                <a16:creationId xmlns:a16="http://schemas.microsoft.com/office/drawing/2014/main" id="{55FE6CEC-AEBC-8860-A62E-637765B0DE26}"/>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72631864"/>
      </p:ext>
    </p:extLst>
  </p:cSld>
  <p:clrMapOvr>
    <a:overrideClrMapping bg1="lt1" tx1="dk1" bg2="lt2" tx2="dk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onclusion 2">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34030" y="1756098"/>
            <a:ext cx="10923925" cy="2595476"/>
          </a:xfrm>
        </p:spPr>
        <p:txBody>
          <a:bodyPr anchor="b">
            <a:noAutofit/>
          </a:bodyPr>
          <a:lstStyle>
            <a:lvl1pPr>
              <a:defRPr sz="4000" b="0" i="0">
                <a:solidFill>
                  <a:schemeClr val="bg1"/>
                </a:solidFill>
                <a:latin typeface="+mn-lt"/>
              </a:defRPr>
            </a:lvl1pPr>
          </a:lstStyle>
          <a:p>
            <a:r>
              <a:rPr lang="en-US" dirty="0"/>
              <a:t>Click to edit Master title style</a:t>
            </a:r>
          </a:p>
        </p:txBody>
      </p:sp>
      <p:cxnSp>
        <p:nvCxnSpPr>
          <p:cNvPr id="8" name="Straight Connector 7">
            <a:extLst>
              <a:ext uri="{FF2B5EF4-FFF2-40B4-BE49-F238E27FC236}">
                <a16:creationId xmlns:a16="http://schemas.microsoft.com/office/drawing/2014/main" id="{6C31587E-E768-0BED-F16B-618390A49DBC}"/>
              </a:ext>
            </a:extLst>
          </p:cNvPr>
          <p:cNvCxnSpPr/>
          <p:nvPr userDrawn="1"/>
        </p:nvCxnSpPr>
        <p:spPr>
          <a:xfrm>
            <a:off x="429209" y="164150"/>
            <a:ext cx="11762791"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bg1"/>
                </a:solidFill>
              </a:defRPr>
            </a:lvl1pPr>
          </a:lstStyle>
          <a:p>
            <a:r>
              <a:rPr lang="en-US" dirty="0"/>
              <a:t>GROWTH MARKETING PLAN</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bg1"/>
                </a:solidFill>
              </a:defRPr>
            </a:lvl1pPr>
          </a:lstStyle>
          <a:p>
            <a:fld id="{2C9D3C1B-3A72-4E86-BA17-923EE76E5763}" type="datetime1">
              <a:rPr lang="en-US" smtClean="0"/>
              <a:pPr/>
              <a:t>7/28/2026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33485" y="4732574"/>
            <a:ext cx="6595990" cy="1605164"/>
          </a:xfrm>
        </p:spPr>
        <p:txBody>
          <a:bodyPr anchor="b">
            <a:noAutofit/>
          </a:bodyPr>
          <a:lstStyle>
            <a:lvl1pPr marL="0" indent="0">
              <a:lnSpc>
                <a:spcPct val="120000"/>
              </a:lnSpc>
              <a:spcBef>
                <a:spcPts val="1000"/>
              </a:spcBef>
              <a:buNone/>
              <a:defRPr sz="1600">
                <a:solidFill>
                  <a:schemeClr val="bg1"/>
                </a:solidFill>
              </a:defRPr>
            </a:lvl1pPr>
            <a:lvl2pPr marL="228600" indent="0">
              <a:lnSpc>
                <a:spcPct val="120000"/>
              </a:lnSpc>
              <a:spcBef>
                <a:spcPts val="1000"/>
              </a:spcBef>
              <a:buNone/>
              <a:defRPr sz="1600">
                <a:solidFill>
                  <a:schemeClr val="bg1"/>
                </a:solidFill>
              </a:defRPr>
            </a:lvl2pPr>
            <a:lvl3pPr marL="457200" indent="0">
              <a:lnSpc>
                <a:spcPct val="120000"/>
              </a:lnSpc>
              <a:spcBef>
                <a:spcPts val="1000"/>
              </a:spcBef>
              <a:buNone/>
              <a:defRPr sz="1600">
                <a:solidFill>
                  <a:schemeClr val="bg1"/>
                </a:solidFill>
              </a:defRPr>
            </a:lvl3pPr>
            <a:lvl4pPr marL="685800" indent="0">
              <a:lnSpc>
                <a:spcPct val="120000"/>
              </a:lnSpc>
              <a:spcBef>
                <a:spcPts val="1000"/>
              </a:spcBef>
              <a:buNone/>
              <a:defRPr sz="1600">
                <a:solidFill>
                  <a:schemeClr val="bg1"/>
                </a:solidFill>
              </a:defRPr>
            </a:lvl4pPr>
            <a:lvl5pPr marL="914400" indent="0">
              <a:lnSpc>
                <a:spcPct val="120000"/>
              </a:lnSpc>
              <a:spcBef>
                <a:spcPts val="1000"/>
              </a:spcBef>
              <a:buNone/>
              <a:defRPr sz="16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3" name="Straight Connector 2">
            <a:extLst>
              <a:ext uri="{FF2B5EF4-FFF2-40B4-BE49-F238E27FC236}">
                <a16:creationId xmlns:a16="http://schemas.microsoft.com/office/drawing/2014/main" id="{A329D384-6BDA-A5B3-C1ED-7DADE9654365}"/>
              </a:ext>
            </a:extLst>
          </p:cNvPr>
          <p:cNvCxnSpPr>
            <a:cxnSpLocks/>
          </p:cNvCxnSpPr>
          <p:nvPr userDrawn="1"/>
        </p:nvCxnSpPr>
        <p:spPr>
          <a:xfrm>
            <a:off x="429793" y="0"/>
            <a:ext cx="0" cy="6858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57966120"/>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theme" Target="../theme/theme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2" y="6492513"/>
            <a:ext cx="429207" cy="365125"/>
          </a:xfrm>
          <a:prstGeom prst="rect">
            <a:avLst/>
          </a:prstGeom>
        </p:spPr>
        <p:txBody>
          <a:bodyPr vert="horz" lIns="91440" tIns="45720" rIns="91440" bIns="45720" rtlCol="0" anchor="ctr"/>
          <a:lstStyle>
            <a:lvl1pPr algn="ctr">
              <a:defRPr sz="800" b="0" i="0">
                <a:solidFill>
                  <a:schemeClr val="tx1"/>
                </a:solidFill>
                <a:latin typeface="+mn-lt"/>
                <a:ea typeface="Batang" panose="02030600000101010101" pitchFamily="18" charset="-127"/>
              </a:defRPr>
            </a:lvl1pPr>
          </a:lstStyle>
          <a:p>
            <a:fld id="{CC057153-B650-4DEB-B370-79DDCFDCE934}" type="slidenum">
              <a:rPr lang="en-US" smtClean="0"/>
              <a:pPr/>
              <a:t>‹#›</a:t>
            </a:fld>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rot="16200000">
            <a:off x="-2067304" y="2231454"/>
            <a:ext cx="4564376" cy="429768"/>
          </a:xfrm>
          <a:prstGeom prst="rect">
            <a:avLst/>
          </a:prstGeom>
        </p:spPr>
        <p:txBody>
          <a:bodyPr vert="horz" lIns="91440" tIns="45720" rIns="91440" bIns="45720" rtlCol="0" anchor="ctr"/>
          <a:lstStyle>
            <a:lvl1pPr algn="r">
              <a:defRPr sz="800" b="0" i="0">
                <a:solidFill>
                  <a:schemeClr val="tx1"/>
                </a:solidFill>
                <a:latin typeface="+mn-lt"/>
                <a:ea typeface="Batang" panose="02030600000101010101" pitchFamily="18" charset="-127"/>
              </a:defRPr>
            </a:lvl1pPr>
          </a:lstStyle>
          <a:p>
            <a:r>
              <a:rPr lang="en-US" dirty="0"/>
              <a:t>GROWTH MARKETING PLAN</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rot="16200000">
            <a:off x="-532352" y="5260879"/>
            <a:ext cx="1494475" cy="429768"/>
          </a:xfrm>
          <a:prstGeom prst="rect">
            <a:avLst/>
          </a:prstGeom>
        </p:spPr>
        <p:txBody>
          <a:bodyPr vert="horz" lIns="91440" tIns="45720" rIns="91440" bIns="45720" rtlCol="0" anchor="ctr"/>
          <a:lstStyle>
            <a:lvl1pPr algn="l">
              <a:defRPr sz="800" b="0" i="0">
                <a:solidFill>
                  <a:schemeClr val="tx1"/>
                </a:solidFill>
                <a:latin typeface="+mn-lt"/>
                <a:ea typeface="Batang" panose="02030600000101010101" pitchFamily="18" charset="-127"/>
              </a:defRPr>
            </a:lvl1pPr>
          </a:lstStyle>
          <a:p>
            <a:fld id="{652F8955-0F19-465D-B095-4EFD5ED08188}" type="datetime1">
              <a:rPr lang="en-US" smtClean="0"/>
              <a:pPr/>
              <a:t>7/28/2026</a:t>
            </a:fld>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34030" y="2129474"/>
            <a:ext cx="10923934" cy="409352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34030" y="1001714"/>
            <a:ext cx="10923934" cy="755659"/>
          </a:xfrm>
          <a:prstGeom prst="rect">
            <a:avLst/>
          </a:prstGeom>
        </p:spPr>
        <p:txBody>
          <a:bodyPr vert="horz" lIns="91440" tIns="45720" rIns="91440" bIns="45720" rtlCol="0" anchor="t">
            <a:normAutofit/>
          </a:bodyPr>
          <a:lstStyle/>
          <a:p>
            <a:r>
              <a:rPr lang="en-US" dirty="0"/>
              <a:t>Click to edit Master title style</a:t>
            </a:r>
          </a:p>
        </p:txBody>
      </p:sp>
    </p:spTree>
    <p:extLst>
      <p:ext uri="{BB962C8B-B14F-4D97-AF65-F5344CB8AC3E}">
        <p14:creationId xmlns:p14="http://schemas.microsoft.com/office/powerpoint/2010/main" val="3137627104"/>
      </p:ext>
    </p:extLst>
  </p:cSld>
  <p:clrMap bg1="lt1" tx1="dk1" bg2="lt2" tx2="dk2" accent1="accent1" accent2="accent2" accent3="accent3" accent4="accent4" accent5="accent5" accent6="accent6" hlink="hlink" folHlink="folHlink"/>
  <p:sldLayoutIdLst>
    <p:sldLayoutId id="2147483765" r:id="rId1"/>
    <p:sldLayoutId id="2147483766" r:id="rId2"/>
    <p:sldLayoutId id="2147483767" r:id="rId3"/>
    <p:sldLayoutId id="2147483768" r:id="rId4"/>
    <p:sldLayoutId id="2147483769" r:id="rId5"/>
    <p:sldLayoutId id="2147483770" r:id="rId6"/>
    <p:sldLayoutId id="2147483771" r:id="rId7"/>
    <p:sldLayoutId id="2147483772" r:id="rId8"/>
    <p:sldLayoutId id="2147483773" r:id="rId9"/>
    <p:sldLayoutId id="2147483774" r:id="rId10"/>
    <p:sldLayoutId id="2147483775" r:id="rId11"/>
    <p:sldLayoutId id="2147483776" r:id="rId12"/>
    <p:sldLayoutId id="2147483777" r:id="rId13"/>
    <p:sldLayoutId id="2147483778" r:id="rId14"/>
    <p:sldLayoutId id="2147483779" r:id="rId15"/>
    <p:sldLayoutId id="2147483780" r:id="rId16"/>
    <p:sldLayoutId id="2147483781" r:id="rId17"/>
    <p:sldLayoutId id="2147483783" r:id="rId18"/>
    <p:sldLayoutId id="2147483784" r:id="rId19"/>
    <p:sldLayoutId id="2147483785" r:id="rId20"/>
    <p:sldLayoutId id="2147483786" r:id="rId21"/>
    <p:sldLayoutId id="2147483787" r:id="rId22"/>
    <p:sldLayoutId id="2147483788" r:id="rId23"/>
    <p:sldLayoutId id="2147483789" r:id="rId24"/>
    <p:sldLayoutId id="2147483790" r:id="rId25"/>
    <p:sldLayoutId id="2147483791" r:id="rId26"/>
    <p:sldLayoutId id="2147483792" r:id="rId27"/>
    <p:sldLayoutId id="2147483793" r:id="rId28"/>
    <p:sldLayoutId id="2147483794" r:id="rId29"/>
    <p:sldLayoutId id="2147483795" r:id="rId30"/>
    <p:sldLayoutId id="2147483796" r:id="rId31"/>
    <p:sldLayoutId id="2147483797" r:id="rId32"/>
    <p:sldLayoutId id="2147483782" r:id="rId33"/>
    <p:sldLayoutId id="2147483798" r:id="rId34"/>
    <p:sldLayoutId id="2147483799" r:id="rId35"/>
    <p:sldLayoutId id="2147483800" r:id="rId36"/>
    <p:sldLayoutId id="2147483801" r:id="rId37"/>
    <p:sldLayoutId id="2147483802" r:id="rId38"/>
    <p:sldLayoutId id="2147483803" r:id="rId39"/>
    <p:sldLayoutId id="2147483804" r:id="rId40"/>
    <p:sldLayoutId id="2147483805" r:id="rId41"/>
    <p:sldLayoutId id="2147483806" r:id="rId42"/>
    <p:sldLayoutId id="2147483807" r:id="rId43"/>
    <p:sldLayoutId id="2147483808" r:id="rId44"/>
    <p:sldLayoutId id="2147483809" r:id="rId45"/>
    <p:sldLayoutId id="2147483810" r:id="rId46"/>
    <p:sldLayoutId id="2147483811" r:id="rId47"/>
    <p:sldLayoutId id="2147483812" r:id="rId48"/>
    <p:sldLayoutId id="2147483813" r:id="rId49"/>
    <p:sldLayoutId id="2147483814" r:id="rId50"/>
  </p:sldLayoutIdLst>
  <p:hf hdr="0" dt="0"/>
  <p:txStyles>
    <p:titleStyle>
      <a:lvl1pPr algn="l" defTabSz="914400" rtl="0" eaLnBrk="1" latinLnBrk="0" hangingPunct="1">
        <a:lnSpc>
          <a:spcPct val="90000"/>
        </a:lnSpc>
        <a:spcBef>
          <a:spcPct val="0"/>
        </a:spcBef>
        <a:buNone/>
        <a:defRPr sz="4000" b="0" i="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600" b="0" i="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600" b="0" i="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b="0" i="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600" b="0" i="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6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xml"/><Relationship Id="rId1" Type="http://schemas.openxmlformats.org/officeDocument/2006/relationships/slideLayout" Target="../slideLayouts/slideLayout3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6.xml"/><Relationship Id="rId1" Type="http://schemas.openxmlformats.org/officeDocument/2006/relationships/slideLayout" Target="../slideLayouts/slideLayout27.xml"/></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43.xml"/></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43.xml"/></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43.xml"/></Relationships>
</file>

<file path=ppt/slides/_rels/slide10.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14.xml"/><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057989-07E4-B482-9F2A-EBF670F7FA92}"/>
              </a:ext>
            </a:extLst>
          </p:cNvPr>
          <p:cNvSpPr>
            <a:spLocks noGrp="1"/>
          </p:cNvSpPr>
          <p:nvPr>
            <p:ph type="title"/>
          </p:nvPr>
        </p:nvSpPr>
        <p:spPr>
          <a:xfrm>
            <a:off x="380031" y="1386343"/>
            <a:ext cx="5955028" cy="1203055"/>
          </a:xfrm>
        </p:spPr>
        <p:txBody>
          <a:bodyPr>
            <a:normAutofit fontScale="90000"/>
          </a:bodyPr>
          <a:lstStyle/>
          <a:p>
            <a:r>
              <a:rPr lang="en-US" sz="4400">
                <a:ea typeface="Dotum"/>
              </a:rPr>
              <a:t>Diamonds Predictor Application</a:t>
            </a:r>
            <a:r>
              <a:rPr lang="en-US" dirty="0">
                <a:ea typeface="Dotum"/>
              </a:rPr>
              <a:t> </a:t>
            </a:r>
            <a:endParaRPr lang="en-US"/>
          </a:p>
        </p:txBody>
      </p:sp>
      <p:pic>
        <p:nvPicPr>
          <p:cNvPr id="16" name="Picture Placeholder 15">
            <a:extLst>
              <a:ext uri="{FF2B5EF4-FFF2-40B4-BE49-F238E27FC236}">
                <a16:creationId xmlns:a16="http://schemas.microsoft.com/office/drawing/2014/main" id="{0EF92AAA-69F5-4BBD-D336-59ACECD44524}"/>
              </a:ext>
            </a:extLst>
          </p:cNvPr>
          <p:cNvPicPr>
            <a:picLocks noGrp="1" noChangeAspect="1"/>
          </p:cNvPicPr>
          <p:nvPr>
            <p:ph type="pic" sz="quarter" idx="13"/>
          </p:nvPr>
        </p:nvPicPr>
        <p:blipFill>
          <a:blip r:embed="rId3"/>
          <a:srcRect l="12" r="12"/>
          <a:stretch>
            <a:fillRect/>
          </a:stretch>
        </p:blipFill>
        <p:spPr>
          <a:xfrm>
            <a:off x="7065403" y="-1"/>
            <a:ext cx="5131677" cy="6861627"/>
          </a:xfrm>
          <a:prstGeom prst="rect">
            <a:avLst/>
          </a:prstGeom>
        </p:spPr>
      </p:pic>
      <p:sp>
        <p:nvSpPr>
          <p:cNvPr id="3" name="Subtitle 2">
            <a:extLst>
              <a:ext uri="{FF2B5EF4-FFF2-40B4-BE49-F238E27FC236}">
                <a16:creationId xmlns:a16="http://schemas.microsoft.com/office/drawing/2014/main" id="{363CF5F8-0028-8636-5006-5D5C52B32774}"/>
              </a:ext>
            </a:extLst>
          </p:cNvPr>
          <p:cNvSpPr>
            <a:spLocks noGrp="1"/>
          </p:cNvSpPr>
          <p:nvPr>
            <p:ph sz="quarter" idx="14"/>
          </p:nvPr>
        </p:nvSpPr>
        <p:spPr>
          <a:xfrm>
            <a:off x="3882671" y="6216091"/>
            <a:ext cx="2452715" cy="363255"/>
          </a:xfrm>
        </p:spPr>
        <p:txBody>
          <a:bodyPr>
            <a:normAutofit fontScale="92500"/>
          </a:bodyPr>
          <a:lstStyle/>
          <a:p>
            <a:r>
              <a:rPr lang="en-US"/>
              <a:t>Presented by Saad Ehsan</a:t>
            </a:r>
            <a:endParaRPr lang="en-US" dirty="0"/>
          </a:p>
        </p:txBody>
      </p:sp>
      <p:sp>
        <p:nvSpPr>
          <p:cNvPr id="5" name="Title 1">
            <a:extLst>
              <a:ext uri="{FF2B5EF4-FFF2-40B4-BE49-F238E27FC236}">
                <a16:creationId xmlns:a16="http://schemas.microsoft.com/office/drawing/2014/main" id="{6375D6BD-E5D7-409B-37D6-DAB352D2EC81}"/>
              </a:ext>
            </a:extLst>
          </p:cNvPr>
          <p:cNvSpPr txBox="1">
            <a:spLocks/>
          </p:cNvSpPr>
          <p:nvPr/>
        </p:nvSpPr>
        <p:spPr>
          <a:xfrm>
            <a:off x="380031" y="2786971"/>
            <a:ext cx="5955028" cy="636998"/>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7200" b="0" i="0" kern="1200" cap="all" baseline="0">
                <a:solidFill>
                  <a:schemeClr val="tx1"/>
                </a:solidFill>
                <a:latin typeface="+mj-lt"/>
                <a:ea typeface="Dotum" panose="020B0600000101010101" pitchFamily="34" charset="-127"/>
                <a:cs typeface="Noto Sans Kannada Thin" panose="020B0202040504020204" pitchFamily="34" charset="0"/>
              </a:defRPr>
            </a:lvl1pPr>
          </a:lstStyle>
          <a:p>
            <a:r>
              <a:rPr lang="en-US" sz="1800">
                <a:ea typeface="+mj-lt"/>
                <a:cs typeface="+mj-lt"/>
              </a:rPr>
              <a:t>Machine Learning for Pricing, Quality Assessment, and Customer Segmentation </a:t>
            </a:r>
            <a:endParaRPr lang="en-US" sz="1800"/>
          </a:p>
        </p:txBody>
      </p:sp>
    </p:spTree>
    <p:extLst>
      <p:ext uri="{BB962C8B-B14F-4D97-AF65-F5344CB8AC3E}">
        <p14:creationId xmlns:p14="http://schemas.microsoft.com/office/powerpoint/2010/main" val="17738313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a:extLst>
            <a:ext uri="{FF2B5EF4-FFF2-40B4-BE49-F238E27FC236}">
              <a16:creationId xmlns:a16="http://schemas.microsoft.com/office/drawing/2014/main" id="{21C934B4-77E0-387F-5DB4-3906151249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328115-DC2E-BC4A-4E9F-DFECB075204D}"/>
              </a:ext>
            </a:extLst>
          </p:cNvPr>
          <p:cNvSpPr>
            <a:spLocks noGrp="1"/>
          </p:cNvSpPr>
          <p:nvPr>
            <p:ph type="title"/>
          </p:nvPr>
        </p:nvSpPr>
        <p:spPr/>
        <p:txBody>
          <a:bodyPr/>
          <a:lstStyle/>
          <a:p>
            <a:r>
              <a:rPr lang="en-US" dirty="0"/>
              <a:t>What This Project Is About</a:t>
            </a:r>
            <a:endParaRPr lang="en-US" dirty="0">
              <a:ea typeface="+mj-lt"/>
              <a:cs typeface="+mj-lt"/>
            </a:endParaRPr>
          </a:p>
        </p:txBody>
      </p:sp>
      <p:sp>
        <p:nvSpPr>
          <p:cNvPr id="6" name="Slide Number Placeholder 5">
            <a:extLst>
              <a:ext uri="{FF2B5EF4-FFF2-40B4-BE49-F238E27FC236}">
                <a16:creationId xmlns:a16="http://schemas.microsoft.com/office/drawing/2014/main" id="{E06AA4A9-AA6C-8136-B31B-8CB416D4DC7C}"/>
              </a:ext>
            </a:extLst>
          </p:cNvPr>
          <p:cNvSpPr>
            <a:spLocks noGrp="1"/>
          </p:cNvSpPr>
          <p:nvPr>
            <p:ph type="sldNum" sz="quarter" idx="12"/>
          </p:nvPr>
        </p:nvSpPr>
        <p:spPr/>
        <p:txBody>
          <a:bodyPr/>
          <a:lstStyle/>
          <a:p>
            <a:fld id="{CC057153-B650-4DEB-B370-79DDCFDCE934}" type="slidenum">
              <a:rPr lang="en-US" smtClean="0"/>
              <a:t>2</a:t>
            </a:fld>
            <a:endParaRPr lang="en-US" dirty="0"/>
          </a:p>
        </p:txBody>
      </p:sp>
      <p:sp>
        <p:nvSpPr>
          <p:cNvPr id="4" name="Footer Placeholder 4">
            <a:extLst>
              <a:ext uri="{FF2B5EF4-FFF2-40B4-BE49-F238E27FC236}">
                <a16:creationId xmlns:a16="http://schemas.microsoft.com/office/drawing/2014/main" id="{FBF1ED02-CDEE-392C-37EE-30A9AC6489BB}"/>
              </a:ext>
            </a:extLst>
          </p:cNvPr>
          <p:cNvSpPr txBox="1">
            <a:spLocks/>
          </p:cNvSpPr>
          <p:nvPr/>
        </p:nvSpPr>
        <p:spPr>
          <a:xfrm rot="16200000">
            <a:off x="-2067304" y="2064540"/>
            <a:ext cx="4564376" cy="429768"/>
          </a:xfrm>
          <a:prstGeom prst="rect">
            <a:avLst/>
          </a:prstGeom>
        </p:spPr>
        <p:txBody>
          <a:bodyPr vert="horz" lIns="91440" tIns="45720" rIns="91440" bIns="45720" rtlCol="0" anchor="ctr"/>
          <a:lstStyle>
            <a:defPPr>
              <a:defRPr lang="en-US"/>
            </a:defPPr>
            <a:lvl1pPr marL="0" algn="r" defTabSz="914400" rtl="0" eaLnBrk="1" latinLnBrk="0" hangingPunct="1">
              <a:defRPr sz="800" b="0" i="0" kern="1200">
                <a:solidFill>
                  <a:schemeClr val="tx1"/>
                </a:solidFill>
                <a:latin typeface="+mn-lt"/>
                <a:ea typeface="Batang" panose="02030600000101010101" pitchFamily="18" charset="-127"/>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ea typeface="Batang"/>
              </a:rPr>
              <a:t>Diamonds Predictor Application</a:t>
            </a:r>
          </a:p>
        </p:txBody>
      </p:sp>
      <p:sp>
        <p:nvSpPr>
          <p:cNvPr id="9" name="Content Placeholder 8">
            <a:extLst>
              <a:ext uri="{FF2B5EF4-FFF2-40B4-BE49-F238E27FC236}">
                <a16:creationId xmlns:a16="http://schemas.microsoft.com/office/drawing/2014/main" id="{26492EBA-7F3B-40A6-3B21-35CAA817D2ED}"/>
              </a:ext>
            </a:extLst>
          </p:cNvPr>
          <p:cNvSpPr>
            <a:spLocks noGrp="1"/>
          </p:cNvSpPr>
          <p:nvPr>
            <p:ph idx="1"/>
          </p:nvPr>
        </p:nvSpPr>
        <p:spPr/>
        <p:txBody>
          <a:bodyPr vert="horz" lIns="91440" tIns="45720" rIns="91440" bIns="45720" rtlCol="0" anchor="t">
            <a:normAutofit/>
          </a:bodyPr>
          <a:lstStyle/>
          <a:p>
            <a:pPr marL="0" indent="0">
              <a:buNone/>
            </a:pPr>
            <a:r>
              <a:rPr lang="en-US" b="1" dirty="0"/>
              <a:t>Diamonds Predictor Application — End‑to‑End ML System</a:t>
            </a:r>
          </a:p>
          <a:p>
            <a:pPr marL="0" indent="0">
              <a:buNone/>
            </a:pPr>
            <a:r>
              <a:rPr lang="en-US" dirty="0">
                <a:effectLst/>
              </a:rPr>
              <a:t>This project is an end‑to‑end machine learning system designed to help a diamond retailer:</a:t>
            </a:r>
          </a:p>
          <a:p>
            <a:pPr marL="0" indent="0">
              <a:buNone/>
            </a:pPr>
            <a:endParaRPr lang="en-US" dirty="0"/>
          </a:p>
          <a:p>
            <a:pPr eaLnBrk="0" fontAlgn="base" hangingPunct="0">
              <a:lnSpc>
                <a:spcPct val="150000"/>
              </a:lnSpc>
              <a:spcBef>
                <a:spcPct val="0"/>
              </a:spcBef>
              <a:spcAft>
                <a:spcPct val="0"/>
              </a:spcAft>
            </a:pPr>
            <a:r>
              <a:rPr kumimoji="0" lang="en-US" altLang="en-US" sz="1600" b="1" i="0" u="none" strike="noStrike" cap="none" normalizeH="0" baseline="0" dirty="0">
                <a:ln>
                  <a:noFill/>
                </a:ln>
                <a:solidFill>
                  <a:schemeClr val="tx1"/>
                </a:solidFill>
                <a:effectLst/>
                <a:latin typeface="Arial" panose="020B0604020202020204" pitchFamily="34" charset="0"/>
              </a:rPr>
              <a:t>Price Prediction</a:t>
            </a:r>
            <a:r>
              <a:rPr kumimoji="0" lang="en-US" altLang="en-US" sz="1600" b="0" i="0" u="none" strike="noStrike" cap="none" normalizeH="0" baseline="0" dirty="0">
                <a:ln>
                  <a:noFill/>
                </a:ln>
                <a:solidFill>
                  <a:schemeClr val="tx1"/>
                </a:solidFill>
                <a:effectLst/>
                <a:latin typeface="Arial" panose="020B0604020202020204" pitchFamily="34" charset="0"/>
              </a:rPr>
              <a:t> — Estimate diamond prices using an ANN regression model</a:t>
            </a:r>
          </a:p>
          <a:p>
            <a:pPr eaLnBrk="0" fontAlgn="base" hangingPunct="0">
              <a:lnSpc>
                <a:spcPct val="150000"/>
              </a:lnSpc>
              <a:spcBef>
                <a:spcPct val="0"/>
              </a:spcBef>
              <a:spcAft>
                <a:spcPct val="0"/>
              </a:spcAft>
            </a:pPr>
            <a:r>
              <a:rPr kumimoji="0" lang="en-US" altLang="en-US" sz="1600" b="1" i="0" u="none" strike="noStrike" cap="none" normalizeH="0" baseline="0" dirty="0">
                <a:ln>
                  <a:noFill/>
                </a:ln>
                <a:solidFill>
                  <a:schemeClr val="tx1"/>
                </a:solidFill>
                <a:effectLst/>
                <a:latin typeface="Arial" panose="020B0604020202020204" pitchFamily="34" charset="0"/>
              </a:rPr>
              <a:t>Clarity Prediction</a:t>
            </a:r>
            <a:r>
              <a:rPr kumimoji="0" lang="en-US" altLang="en-US" sz="1600" b="0" i="0" u="none" strike="noStrike" cap="none" normalizeH="0" baseline="0" dirty="0">
                <a:ln>
                  <a:noFill/>
                </a:ln>
                <a:solidFill>
                  <a:schemeClr val="tx1"/>
                </a:solidFill>
                <a:effectLst/>
                <a:latin typeface="Arial" panose="020B0604020202020204" pitchFamily="34" charset="0"/>
              </a:rPr>
              <a:t> — Classify diamond clarity using an ANN classifier</a:t>
            </a:r>
          </a:p>
          <a:p>
            <a:pPr eaLnBrk="0" fontAlgn="base" hangingPunct="0">
              <a:lnSpc>
                <a:spcPct val="150000"/>
              </a:lnSpc>
              <a:spcBef>
                <a:spcPct val="0"/>
              </a:spcBef>
              <a:spcAft>
                <a:spcPct val="0"/>
              </a:spcAft>
            </a:pPr>
            <a:r>
              <a:rPr kumimoji="0" lang="en-US" altLang="en-US" sz="1600" b="1" i="0" u="none" strike="noStrike" cap="none" normalizeH="0" baseline="0" dirty="0">
                <a:ln>
                  <a:noFill/>
                </a:ln>
                <a:solidFill>
                  <a:schemeClr val="tx1"/>
                </a:solidFill>
                <a:effectLst/>
                <a:latin typeface="Arial" panose="020B0604020202020204" pitchFamily="34" charset="0"/>
              </a:rPr>
              <a:t>Customer Segmentation</a:t>
            </a:r>
            <a:r>
              <a:rPr kumimoji="0" lang="en-US" altLang="en-US" sz="1600" b="0" i="0" u="none" strike="noStrike" cap="none" normalizeH="0" baseline="0" dirty="0">
                <a:ln>
                  <a:noFill/>
                </a:ln>
                <a:solidFill>
                  <a:schemeClr val="tx1"/>
                </a:solidFill>
                <a:effectLst/>
                <a:latin typeface="Arial" panose="020B0604020202020204" pitchFamily="34" charset="0"/>
              </a:rPr>
              <a:t> — Group diamonds into meaningful market clusters</a:t>
            </a:r>
          </a:p>
          <a:p>
            <a:pPr eaLnBrk="0" fontAlgn="base" hangingPunct="0">
              <a:lnSpc>
                <a:spcPct val="150000"/>
              </a:lnSpc>
              <a:spcBef>
                <a:spcPct val="0"/>
              </a:spcBef>
              <a:spcAft>
                <a:spcPct val="0"/>
              </a:spcAft>
            </a:pPr>
            <a:r>
              <a:rPr kumimoji="0" lang="en-US" altLang="en-US" sz="1600" b="1" i="0" u="none" strike="noStrike" cap="none" normalizeH="0" baseline="0" dirty="0">
                <a:ln>
                  <a:noFill/>
                </a:ln>
                <a:solidFill>
                  <a:schemeClr val="tx1"/>
                </a:solidFill>
                <a:effectLst/>
                <a:latin typeface="Arial" panose="020B0604020202020204" pitchFamily="34" charset="0"/>
              </a:rPr>
              <a:t>AI Assistant</a:t>
            </a:r>
            <a:r>
              <a:rPr kumimoji="0" lang="en-US" altLang="en-US" sz="1600" b="0" i="0" u="none" strike="noStrike" cap="none" normalizeH="0" baseline="0" dirty="0">
                <a:ln>
                  <a:noFill/>
                </a:ln>
                <a:solidFill>
                  <a:schemeClr val="tx1"/>
                </a:solidFill>
                <a:effectLst/>
                <a:latin typeface="Arial" panose="020B0604020202020204" pitchFamily="34" charset="0"/>
              </a:rPr>
              <a:t> — Natural‑language search for diamond insights</a:t>
            </a:r>
          </a:p>
          <a:p>
            <a:pPr eaLnBrk="0" fontAlgn="base" hangingPunct="0">
              <a:lnSpc>
                <a:spcPct val="150000"/>
              </a:lnSpc>
              <a:spcBef>
                <a:spcPct val="0"/>
              </a:spcBef>
              <a:spcAft>
                <a:spcPct val="0"/>
              </a:spcAft>
            </a:pPr>
            <a:r>
              <a:rPr kumimoji="0" lang="en-US" altLang="en-US" sz="1600" b="1" i="0" u="none" strike="noStrike" cap="none" normalizeH="0" baseline="0" dirty="0">
                <a:ln>
                  <a:noFill/>
                </a:ln>
                <a:solidFill>
                  <a:schemeClr val="tx1"/>
                </a:solidFill>
                <a:effectLst/>
                <a:latin typeface="Arial" panose="020B0604020202020204" pitchFamily="34" charset="0"/>
              </a:rPr>
              <a:t>Interactive Web App</a:t>
            </a:r>
            <a:r>
              <a:rPr kumimoji="0" lang="en-US" altLang="en-US" sz="1600" b="0" i="0" u="none" strike="noStrike" cap="none" normalizeH="0" baseline="0" dirty="0">
                <a:ln>
                  <a:noFill/>
                </a:ln>
                <a:solidFill>
                  <a:schemeClr val="tx1"/>
                </a:solidFill>
                <a:effectLst/>
                <a:latin typeface="Arial" panose="020B0604020202020204" pitchFamily="34" charset="0"/>
              </a:rPr>
              <a:t> — Gradio interface for easy use and deployment</a:t>
            </a:r>
          </a:p>
          <a:p>
            <a:pPr marL="0" indent="0">
              <a:buNone/>
            </a:pPr>
            <a:endParaRPr lang="en-US" dirty="0"/>
          </a:p>
        </p:txBody>
      </p:sp>
    </p:spTree>
    <p:extLst>
      <p:ext uri="{BB962C8B-B14F-4D97-AF65-F5344CB8AC3E}">
        <p14:creationId xmlns:p14="http://schemas.microsoft.com/office/powerpoint/2010/main" val="25970770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D0D9FB-B08B-6550-BEBF-B430741924E7}"/>
              </a:ext>
            </a:extLst>
          </p:cNvPr>
          <p:cNvSpPr>
            <a:spLocks noGrp="1"/>
          </p:cNvSpPr>
          <p:nvPr>
            <p:ph type="title"/>
          </p:nvPr>
        </p:nvSpPr>
        <p:spPr>
          <a:xfrm>
            <a:off x="6514676" y="1001716"/>
            <a:ext cx="5587573" cy="1459832"/>
          </a:xfrm>
        </p:spPr>
        <p:txBody>
          <a:bodyPr/>
          <a:lstStyle/>
          <a:p>
            <a:r>
              <a:rPr lang="en-US"/>
              <a:t>Business Problem</a:t>
            </a:r>
            <a:endParaRPr lang="en-US" dirty="0"/>
          </a:p>
        </p:txBody>
      </p:sp>
      <p:sp>
        <p:nvSpPr>
          <p:cNvPr id="6" name="Slide Number Placeholder 5">
            <a:extLst>
              <a:ext uri="{FF2B5EF4-FFF2-40B4-BE49-F238E27FC236}">
                <a16:creationId xmlns:a16="http://schemas.microsoft.com/office/drawing/2014/main" id="{A6597480-562D-362F-4FFD-70F352A11955}"/>
              </a:ext>
            </a:extLst>
          </p:cNvPr>
          <p:cNvSpPr>
            <a:spLocks noGrp="1"/>
          </p:cNvSpPr>
          <p:nvPr>
            <p:ph type="sldNum" sz="quarter" idx="12"/>
          </p:nvPr>
        </p:nvSpPr>
        <p:spPr/>
        <p:txBody>
          <a:bodyPr/>
          <a:lstStyle/>
          <a:p>
            <a:fld id="{CC057153-B650-4DEB-B370-79DDCFDCE934}" type="slidenum">
              <a:rPr lang="en-US" smtClean="0"/>
              <a:t>3</a:t>
            </a:fld>
            <a:endParaRPr lang="en-US" dirty="0"/>
          </a:p>
        </p:txBody>
      </p:sp>
      <p:sp>
        <p:nvSpPr>
          <p:cNvPr id="5" name="Footer Placeholder 4">
            <a:extLst>
              <a:ext uri="{FF2B5EF4-FFF2-40B4-BE49-F238E27FC236}">
                <a16:creationId xmlns:a16="http://schemas.microsoft.com/office/drawing/2014/main" id="{C4E30805-9EDF-DFE1-AE27-78BEC69286BD}"/>
              </a:ext>
            </a:extLst>
          </p:cNvPr>
          <p:cNvSpPr>
            <a:spLocks noGrp="1"/>
          </p:cNvSpPr>
          <p:nvPr>
            <p:ph type="ftr" sz="quarter" idx="11"/>
          </p:nvPr>
        </p:nvSpPr>
        <p:spPr>
          <a:xfrm rot="16200000">
            <a:off x="-2154389" y="2144369"/>
            <a:ext cx="4724033" cy="444282"/>
          </a:xfrm>
        </p:spPr>
        <p:txBody>
          <a:bodyPr/>
          <a:lstStyle/>
          <a:p>
            <a:r>
              <a:rPr lang="en-US">
                <a:ea typeface="Batang"/>
              </a:rPr>
              <a:t>Diamonds Predictor Application</a:t>
            </a:r>
          </a:p>
        </p:txBody>
      </p:sp>
      <p:pic>
        <p:nvPicPr>
          <p:cNvPr id="8" name="Picture Placeholder 7" descr="A white vase with dried flowers">
            <a:extLst>
              <a:ext uri="{FF2B5EF4-FFF2-40B4-BE49-F238E27FC236}">
                <a16:creationId xmlns:a16="http://schemas.microsoft.com/office/drawing/2014/main" id="{AEA16DDC-C63C-0A75-89CD-9003DA6F199A}"/>
              </a:ext>
            </a:extLst>
          </p:cNvPr>
          <p:cNvPicPr>
            <a:picLocks noGrp="1" noChangeAspect="1"/>
          </p:cNvPicPr>
          <p:nvPr>
            <p:ph type="pic" sz="quarter" idx="14"/>
          </p:nvPr>
        </p:nvPicPr>
        <p:blipFill>
          <a:blip r:embed="rId3" cstate="screen">
            <a:extLst>
              <a:ext uri="{28A0092B-C50C-407E-A947-70E740481C1C}">
                <a14:useLocalDpi xmlns:a14="http://schemas.microsoft.com/office/drawing/2010/main"/>
              </a:ext>
            </a:extLst>
          </a:blip>
          <a:srcRect/>
          <a:stretch>
            <a:fillRect/>
          </a:stretch>
        </p:blipFill>
        <p:spPr/>
      </p:pic>
      <p:sp>
        <p:nvSpPr>
          <p:cNvPr id="3" name="Content Placeholder 2">
            <a:extLst>
              <a:ext uri="{FF2B5EF4-FFF2-40B4-BE49-F238E27FC236}">
                <a16:creationId xmlns:a16="http://schemas.microsoft.com/office/drawing/2014/main" id="{79BC7904-BA22-561E-1DE0-8E716FCEA69E}"/>
              </a:ext>
            </a:extLst>
          </p:cNvPr>
          <p:cNvSpPr>
            <a:spLocks noGrp="1"/>
          </p:cNvSpPr>
          <p:nvPr>
            <p:ph sz="quarter" idx="13"/>
          </p:nvPr>
        </p:nvSpPr>
        <p:spPr>
          <a:xfrm>
            <a:off x="6515324" y="2799002"/>
            <a:ext cx="5674011" cy="1471827"/>
          </a:xfrm>
        </p:spPr>
        <p:txBody>
          <a:bodyPr anchor="ctr">
            <a:normAutofit/>
          </a:bodyPr>
          <a:lstStyle/>
          <a:p>
            <a:r>
              <a:rPr lang="en-US">
                <a:ea typeface="+mn-lt"/>
                <a:cs typeface="+mn-lt"/>
              </a:rPr>
              <a:t>How can a diamond retailer accurately price diamonds, assess their quality, and segment customers to improve sales and profitability?</a:t>
            </a:r>
            <a:endParaRPr lang="en-US"/>
          </a:p>
        </p:txBody>
      </p:sp>
    </p:spTree>
    <p:extLst>
      <p:ext uri="{BB962C8B-B14F-4D97-AF65-F5344CB8AC3E}">
        <p14:creationId xmlns:p14="http://schemas.microsoft.com/office/powerpoint/2010/main" val="15451770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896B45-59A7-C589-9ECA-BA4BE7D7D9F3}"/>
              </a:ext>
            </a:extLst>
          </p:cNvPr>
          <p:cNvSpPr>
            <a:spLocks noGrp="1"/>
          </p:cNvSpPr>
          <p:nvPr>
            <p:ph type="title"/>
          </p:nvPr>
        </p:nvSpPr>
        <p:spPr/>
        <p:txBody>
          <a:bodyPr anchor="ctr"/>
          <a:lstStyle/>
          <a:p>
            <a:r>
              <a:rPr lang="en-US"/>
              <a:t>Dataset</a:t>
            </a:r>
            <a:br>
              <a:rPr lang="en-US" dirty="0"/>
            </a:br>
            <a:r>
              <a:rPr lang="en-US"/>
              <a:t>OVERVIEW</a:t>
            </a:r>
            <a:endParaRPr lang="en-US" dirty="0"/>
          </a:p>
        </p:txBody>
      </p:sp>
      <p:sp>
        <p:nvSpPr>
          <p:cNvPr id="7" name="Slide Number Placeholder 6">
            <a:extLst>
              <a:ext uri="{FF2B5EF4-FFF2-40B4-BE49-F238E27FC236}">
                <a16:creationId xmlns:a16="http://schemas.microsoft.com/office/drawing/2014/main" id="{7E547D68-CFC1-8AF4-FE7E-36D912B1B951}"/>
              </a:ext>
            </a:extLst>
          </p:cNvPr>
          <p:cNvSpPr>
            <a:spLocks noGrp="1"/>
          </p:cNvSpPr>
          <p:nvPr>
            <p:ph type="sldNum" sz="quarter" idx="12"/>
          </p:nvPr>
        </p:nvSpPr>
        <p:spPr/>
        <p:txBody>
          <a:bodyPr/>
          <a:lstStyle/>
          <a:p>
            <a:fld id="{CC057153-B650-4DEB-B370-79DDCFDCE934}" type="slidenum">
              <a:rPr lang="en-US" smtClean="0"/>
              <a:t>4</a:t>
            </a:fld>
            <a:endParaRPr lang="en-US" dirty="0"/>
          </a:p>
        </p:txBody>
      </p:sp>
      <p:sp>
        <p:nvSpPr>
          <p:cNvPr id="5" name="Content Placeholder 4">
            <a:extLst>
              <a:ext uri="{FF2B5EF4-FFF2-40B4-BE49-F238E27FC236}">
                <a16:creationId xmlns:a16="http://schemas.microsoft.com/office/drawing/2014/main" id="{FBFE3E85-F977-4917-D2F3-E64C503441F1}"/>
              </a:ext>
            </a:extLst>
          </p:cNvPr>
          <p:cNvSpPr>
            <a:spLocks noGrp="1"/>
          </p:cNvSpPr>
          <p:nvPr>
            <p:ph sz="quarter" idx="13"/>
          </p:nvPr>
        </p:nvSpPr>
        <p:spPr>
          <a:xfrm>
            <a:off x="5185350" y="4549358"/>
            <a:ext cx="6209054" cy="2195057"/>
          </a:xfrm>
        </p:spPr>
        <p:txBody>
          <a:bodyPr/>
          <a:lstStyle/>
          <a:p>
            <a:pPr marL="0" indent="0">
              <a:buNone/>
            </a:pPr>
            <a:r>
              <a:rPr lang="en-US" b="1" dirty="0">
                <a:ea typeface="+mn-lt"/>
                <a:cs typeface="+mn-lt"/>
              </a:rPr>
              <a:t>Source</a:t>
            </a:r>
            <a:r>
              <a:rPr lang="en-US" dirty="0">
                <a:ea typeface="+mn-lt"/>
                <a:cs typeface="+mn-lt"/>
              </a:rPr>
              <a:t>: Kaggle </a:t>
            </a:r>
            <a:endParaRPr lang="en-US" dirty="0"/>
          </a:p>
          <a:p>
            <a:pPr marL="0" indent="0">
              <a:buNone/>
            </a:pPr>
            <a:r>
              <a:rPr lang="en-US" b="1" dirty="0">
                <a:ea typeface="+mn-lt"/>
                <a:cs typeface="+mn-lt"/>
              </a:rPr>
              <a:t>Rows</a:t>
            </a:r>
            <a:r>
              <a:rPr lang="en-US" dirty="0">
                <a:ea typeface="+mn-lt"/>
                <a:cs typeface="+mn-lt"/>
              </a:rPr>
              <a:t>: 53,940 </a:t>
            </a:r>
            <a:endParaRPr lang="en-US" dirty="0"/>
          </a:p>
          <a:p>
            <a:pPr marL="0" indent="0">
              <a:buNone/>
            </a:pPr>
            <a:r>
              <a:rPr lang="en-US" b="1" dirty="0">
                <a:ea typeface="+mn-lt"/>
                <a:cs typeface="+mn-lt"/>
              </a:rPr>
              <a:t>Features</a:t>
            </a:r>
            <a:r>
              <a:rPr lang="en-US" dirty="0">
                <a:ea typeface="+mn-lt"/>
                <a:cs typeface="+mn-lt"/>
              </a:rPr>
              <a:t>: carat, depth, table, x, y, z, price, cut, color, clarity</a:t>
            </a:r>
            <a:endParaRPr lang="en-US" dirty="0"/>
          </a:p>
        </p:txBody>
      </p:sp>
      <p:sp>
        <p:nvSpPr>
          <p:cNvPr id="4" name="Footer Placeholder 4">
            <a:extLst>
              <a:ext uri="{FF2B5EF4-FFF2-40B4-BE49-F238E27FC236}">
                <a16:creationId xmlns:a16="http://schemas.microsoft.com/office/drawing/2014/main" id="{F7F57E9F-98B9-9801-BF65-4B849F02C54F}"/>
              </a:ext>
            </a:extLst>
          </p:cNvPr>
          <p:cNvSpPr txBox="1">
            <a:spLocks/>
          </p:cNvSpPr>
          <p:nvPr/>
        </p:nvSpPr>
        <p:spPr>
          <a:xfrm rot="16200000">
            <a:off x="-2067304" y="2064540"/>
            <a:ext cx="4564376" cy="429768"/>
          </a:xfrm>
          <a:prstGeom prst="rect">
            <a:avLst/>
          </a:prstGeom>
        </p:spPr>
        <p:txBody>
          <a:bodyPr vert="horz" lIns="91440" tIns="45720" rIns="91440" bIns="45720" rtlCol="0" anchor="ctr"/>
          <a:lstStyle>
            <a:defPPr>
              <a:defRPr lang="en-US"/>
            </a:defPPr>
            <a:lvl1pPr marL="0" algn="r" defTabSz="914400" rtl="0" eaLnBrk="1" latinLnBrk="0" hangingPunct="1">
              <a:defRPr sz="800" b="0" i="0" kern="1200">
                <a:solidFill>
                  <a:schemeClr val="tx1"/>
                </a:solidFill>
                <a:latin typeface="+mn-lt"/>
                <a:ea typeface="Batang" panose="02030600000101010101" pitchFamily="18" charset="-127"/>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ea typeface="Batang"/>
              </a:rPr>
              <a:t>Diamonds Predictor Application</a:t>
            </a:r>
          </a:p>
        </p:txBody>
      </p:sp>
      <p:graphicFrame>
        <p:nvGraphicFramePr>
          <p:cNvPr id="9" name="Table 8">
            <a:extLst>
              <a:ext uri="{FF2B5EF4-FFF2-40B4-BE49-F238E27FC236}">
                <a16:creationId xmlns:a16="http://schemas.microsoft.com/office/drawing/2014/main" id="{166C743B-A674-660C-ADE3-7A546DA2AA94}"/>
              </a:ext>
            </a:extLst>
          </p:cNvPr>
          <p:cNvGraphicFramePr>
            <a:graphicFrameLocks noGrp="1"/>
          </p:cNvGraphicFramePr>
          <p:nvPr>
            <p:extLst>
              <p:ext uri="{D42A27DB-BD31-4B8C-83A1-F6EECF244321}">
                <p14:modId xmlns:p14="http://schemas.microsoft.com/office/powerpoint/2010/main" val="1173112009"/>
              </p:ext>
            </p:extLst>
          </p:nvPr>
        </p:nvGraphicFramePr>
        <p:xfrm>
          <a:off x="5744936" y="264523"/>
          <a:ext cx="5448300" cy="4282440"/>
        </p:xfrm>
        <a:graphic>
          <a:graphicData uri="http://schemas.openxmlformats.org/drawingml/2006/table">
            <a:tbl>
              <a:tblPr bandRow="1">
                <a:tableStyleId>{69012ECD-51FC-41F1-AA8D-1B2483CD663E}</a:tableStyleId>
              </a:tblPr>
              <a:tblGrid>
                <a:gridCol w="495300">
                  <a:extLst>
                    <a:ext uri="{9D8B030D-6E8A-4147-A177-3AD203B41FA5}">
                      <a16:colId xmlns:a16="http://schemas.microsoft.com/office/drawing/2014/main" val="1669683077"/>
                    </a:ext>
                  </a:extLst>
                </a:gridCol>
                <a:gridCol w="495300">
                  <a:extLst>
                    <a:ext uri="{9D8B030D-6E8A-4147-A177-3AD203B41FA5}">
                      <a16:colId xmlns:a16="http://schemas.microsoft.com/office/drawing/2014/main" val="1781808051"/>
                    </a:ext>
                  </a:extLst>
                </a:gridCol>
                <a:gridCol w="495300">
                  <a:extLst>
                    <a:ext uri="{9D8B030D-6E8A-4147-A177-3AD203B41FA5}">
                      <a16:colId xmlns:a16="http://schemas.microsoft.com/office/drawing/2014/main" val="3993026921"/>
                    </a:ext>
                  </a:extLst>
                </a:gridCol>
                <a:gridCol w="495300">
                  <a:extLst>
                    <a:ext uri="{9D8B030D-6E8A-4147-A177-3AD203B41FA5}">
                      <a16:colId xmlns:a16="http://schemas.microsoft.com/office/drawing/2014/main" val="1612168977"/>
                    </a:ext>
                  </a:extLst>
                </a:gridCol>
                <a:gridCol w="495300">
                  <a:extLst>
                    <a:ext uri="{9D8B030D-6E8A-4147-A177-3AD203B41FA5}">
                      <a16:colId xmlns:a16="http://schemas.microsoft.com/office/drawing/2014/main" val="1657825940"/>
                    </a:ext>
                  </a:extLst>
                </a:gridCol>
                <a:gridCol w="495300">
                  <a:extLst>
                    <a:ext uri="{9D8B030D-6E8A-4147-A177-3AD203B41FA5}">
                      <a16:colId xmlns:a16="http://schemas.microsoft.com/office/drawing/2014/main" val="2427957782"/>
                    </a:ext>
                  </a:extLst>
                </a:gridCol>
                <a:gridCol w="495300">
                  <a:extLst>
                    <a:ext uri="{9D8B030D-6E8A-4147-A177-3AD203B41FA5}">
                      <a16:colId xmlns:a16="http://schemas.microsoft.com/office/drawing/2014/main" val="577591712"/>
                    </a:ext>
                  </a:extLst>
                </a:gridCol>
                <a:gridCol w="495300">
                  <a:extLst>
                    <a:ext uri="{9D8B030D-6E8A-4147-A177-3AD203B41FA5}">
                      <a16:colId xmlns:a16="http://schemas.microsoft.com/office/drawing/2014/main" val="2443616079"/>
                    </a:ext>
                  </a:extLst>
                </a:gridCol>
                <a:gridCol w="495300">
                  <a:extLst>
                    <a:ext uri="{9D8B030D-6E8A-4147-A177-3AD203B41FA5}">
                      <a16:colId xmlns:a16="http://schemas.microsoft.com/office/drawing/2014/main" val="2991605850"/>
                    </a:ext>
                  </a:extLst>
                </a:gridCol>
                <a:gridCol w="495300">
                  <a:extLst>
                    <a:ext uri="{9D8B030D-6E8A-4147-A177-3AD203B41FA5}">
                      <a16:colId xmlns:a16="http://schemas.microsoft.com/office/drawing/2014/main" val="1028027329"/>
                    </a:ext>
                  </a:extLst>
                </a:gridCol>
                <a:gridCol w="495300">
                  <a:extLst>
                    <a:ext uri="{9D8B030D-6E8A-4147-A177-3AD203B41FA5}">
                      <a16:colId xmlns:a16="http://schemas.microsoft.com/office/drawing/2014/main" val="3057149365"/>
                    </a:ext>
                  </a:extLst>
                </a:gridCol>
              </a:tblGrid>
              <a:tr h="323850">
                <a:tc>
                  <a:txBody>
                    <a:bodyPr/>
                    <a:lstStyle/>
                    <a:p>
                      <a:pPr marL="0" marR="0" indent="0" algn="l" rtl="0" fontAlgn="base">
                        <a:buNone/>
                      </a:pPr>
                      <a:r>
                        <a:rPr lang="en-US" sz="1100" b="0" i="0">
                          <a:solidFill>
                            <a:srgbClr val="000000"/>
                          </a:solidFill>
                          <a:effectLst/>
                          <a:latin typeface="Cambria" panose="02040503050406030204" pitchFamily="18" charset="0"/>
                        </a:rPr>
                        <a:t>#</a:t>
                      </a:r>
                      <a:r>
                        <a:rPr lang="en-GB" sz="1100" b="0" i="0">
                          <a:solidFill>
                            <a:srgbClr val="000000"/>
                          </a:solidFill>
                          <a:effectLst/>
                          <a:latin typeface="Cambria" panose="02040503050406030204" pitchFamily="18" charset="0"/>
                        </a:rPr>
                        <a:t> </a:t>
                      </a:r>
                      <a:endParaRPr lang="en-GB" sz="900" b="0" i="0">
                        <a:solidFill>
                          <a:srgbClr val="000000"/>
                        </a:solidFill>
                        <a:effectLst/>
                        <a:latin typeface="Segoe UI" panose="020B0502040204020203" pitchFamily="34" charset="0"/>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tc>
                  <a:txBody>
                    <a:bodyPr/>
                    <a:lstStyle/>
                    <a:p>
                      <a:pPr marL="0" marR="0" indent="0" algn="l" rtl="0" fontAlgn="base">
                        <a:buNone/>
                      </a:pPr>
                      <a:r>
                        <a:rPr lang="en-US" sz="1100" b="0" i="0">
                          <a:solidFill>
                            <a:srgbClr val="000000"/>
                          </a:solidFill>
                          <a:effectLst/>
                          <a:latin typeface="Cambria" panose="02040503050406030204" pitchFamily="18" charset="0"/>
                        </a:rPr>
                        <a:t>carat</a:t>
                      </a:r>
                      <a:r>
                        <a:rPr lang="en-GB" sz="1100" b="0" i="0">
                          <a:solidFill>
                            <a:srgbClr val="000000"/>
                          </a:solidFill>
                          <a:effectLst/>
                          <a:latin typeface="Cambria" panose="02040503050406030204" pitchFamily="18" charset="0"/>
                        </a:rPr>
                        <a:t> </a:t>
                      </a:r>
                      <a:endParaRPr lang="en-GB" sz="900" b="0" i="0">
                        <a:solidFill>
                          <a:srgbClr val="000000"/>
                        </a:solidFill>
                        <a:effectLst/>
                        <a:latin typeface="Segoe UI" panose="020B0502040204020203" pitchFamily="34" charset="0"/>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tc>
                  <a:txBody>
                    <a:bodyPr/>
                    <a:lstStyle/>
                    <a:p>
                      <a:pPr marL="0" marR="0" indent="0" algn="l" rtl="0" fontAlgn="base">
                        <a:buNone/>
                      </a:pPr>
                      <a:r>
                        <a:rPr lang="en-US" sz="1100" b="0" i="0">
                          <a:solidFill>
                            <a:srgbClr val="000000"/>
                          </a:solidFill>
                          <a:effectLst/>
                          <a:latin typeface="Cambria" panose="02040503050406030204" pitchFamily="18" charset="0"/>
                        </a:rPr>
                        <a:t>cut</a:t>
                      </a:r>
                      <a:r>
                        <a:rPr lang="en-GB" sz="1100" b="0" i="0">
                          <a:solidFill>
                            <a:srgbClr val="000000"/>
                          </a:solidFill>
                          <a:effectLst/>
                          <a:latin typeface="Cambria" panose="02040503050406030204" pitchFamily="18" charset="0"/>
                        </a:rPr>
                        <a:t> </a:t>
                      </a:r>
                      <a:endParaRPr lang="en-GB" sz="900" b="0" i="0">
                        <a:solidFill>
                          <a:srgbClr val="000000"/>
                        </a:solidFill>
                        <a:effectLst/>
                        <a:latin typeface="Segoe UI" panose="020B0502040204020203" pitchFamily="34" charset="0"/>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tc>
                  <a:txBody>
                    <a:bodyPr/>
                    <a:lstStyle/>
                    <a:p>
                      <a:pPr marL="0" marR="0" indent="0" algn="l" rtl="0" fontAlgn="base">
                        <a:buNone/>
                      </a:pPr>
                      <a:r>
                        <a:rPr lang="en-US" sz="1100" b="0" i="0">
                          <a:solidFill>
                            <a:srgbClr val="000000"/>
                          </a:solidFill>
                          <a:effectLst/>
                          <a:latin typeface="Cambria" panose="02040503050406030204" pitchFamily="18" charset="0"/>
                        </a:rPr>
                        <a:t>color</a:t>
                      </a:r>
                      <a:r>
                        <a:rPr lang="en-GB" sz="1100" b="0" i="0">
                          <a:solidFill>
                            <a:srgbClr val="000000"/>
                          </a:solidFill>
                          <a:effectLst/>
                          <a:latin typeface="Cambria" panose="02040503050406030204" pitchFamily="18" charset="0"/>
                        </a:rPr>
                        <a:t> </a:t>
                      </a:r>
                      <a:endParaRPr lang="en-GB" sz="900" b="0" i="0">
                        <a:solidFill>
                          <a:srgbClr val="000000"/>
                        </a:solidFill>
                        <a:effectLst/>
                        <a:latin typeface="Segoe UI" panose="020B0502040204020203" pitchFamily="34" charset="0"/>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tc>
                  <a:txBody>
                    <a:bodyPr/>
                    <a:lstStyle/>
                    <a:p>
                      <a:pPr marL="0" marR="0" indent="0" algn="l" rtl="0" fontAlgn="base">
                        <a:buNone/>
                      </a:pPr>
                      <a:r>
                        <a:rPr lang="en-US" sz="1100" b="0" i="0">
                          <a:solidFill>
                            <a:srgbClr val="000000"/>
                          </a:solidFill>
                          <a:effectLst/>
                          <a:latin typeface="Cambria" panose="02040503050406030204" pitchFamily="18" charset="0"/>
                        </a:rPr>
                        <a:t>clarity</a:t>
                      </a:r>
                      <a:r>
                        <a:rPr lang="en-GB" sz="1100" b="0" i="0">
                          <a:solidFill>
                            <a:srgbClr val="000000"/>
                          </a:solidFill>
                          <a:effectLst/>
                          <a:latin typeface="Cambria" panose="02040503050406030204" pitchFamily="18" charset="0"/>
                        </a:rPr>
                        <a:t> </a:t>
                      </a:r>
                      <a:endParaRPr lang="en-GB" sz="900" b="0" i="0">
                        <a:solidFill>
                          <a:srgbClr val="000000"/>
                        </a:solidFill>
                        <a:effectLst/>
                        <a:latin typeface="Segoe UI" panose="020B0502040204020203" pitchFamily="34" charset="0"/>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tc>
                  <a:txBody>
                    <a:bodyPr/>
                    <a:lstStyle/>
                    <a:p>
                      <a:pPr marL="0" marR="0" indent="0" algn="l" rtl="0" fontAlgn="base">
                        <a:buNone/>
                      </a:pPr>
                      <a:r>
                        <a:rPr lang="en-US" sz="1100" b="0" i="0">
                          <a:solidFill>
                            <a:srgbClr val="000000"/>
                          </a:solidFill>
                          <a:effectLst/>
                          <a:latin typeface="Cambria" panose="02040503050406030204" pitchFamily="18" charset="0"/>
                        </a:rPr>
                        <a:t>depth</a:t>
                      </a:r>
                      <a:r>
                        <a:rPr lang="en-GB" sz="1100" b="0" i="0">
                          <a:solidFill>
                            <a:srgbClr val="000000"/>
                          </a:solidFill>
                          <a:effectLst/>
                          <a:latin typeface="Cambria" panose="02040503050406030204" pitchFamily="18" charset="0"/>
                        </a:rPr>
                        <a:t> </a:t>
                      </a:r>
                      <a:endParaRPr lang="en-GB" sz="900" b="0" i="0">
                        <a:solidFill>
                          <a:srgbClr val="000000"/>
                        </a:solidFill>
                        <a:effectLst/>
                        <a:latin typeface="Segoe UI" panose="020B0502040204020203" pitchFamily="34" charset="0"/>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tc>
                  <a:txBody>
                    <a:bodyPr/>
                    <a:lstStyle/>
                    <a:p>
                      <a:pPr marL="0" marR="0" indent="0" algn="l" rtl="0" fontAlgn="base">
                        <a:buNone/>
                      </a:pPr>
                      <a:r>
                        <a:rPr lang="en-US" sz="1100" b="0" i="0">
                          <a:solidFill>
                            <a:srgbClr val="000000"/>
                          </a:solidFill>
                          <a:effectLst/>
                          <a:latin typeface="Cambria" panose="02040503050406030204" pitchFamily="18" charset="0"/>
                        </a:rPr>
                        <a:t>table</a:t>
                      </a:r>
                      <a:r>
                        <a:rPr lang="en-GB" sz="1100" b="0" i="0">
                          <a:solidFill>
                            <a:srgbClr val="000000"/>
                          </a:solidFill>
                          <a:effectLst/>
                          <a:latin typeface="Cambria" panose="02040503050406030204" pitchFamily="18" charset="0"/>
                        </a:rPr>
                        <a:t> </a:t>
                      </a:r>
                      <a:endParaRPr lang="en-GB" sz="900" b="0" i="0">
                        <a:solidFill>
                          <a:srgbClr val="000000"/>
                        </a:solidFill>
                        <a:effectLst/>
                        <a:latin typeface="Segoe UI" panose="020B0502040204020203" pitchFamily="34" charset="0"/>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tc>
                  <a:txBody>
                    <a:bodyPr/>
                    <a:lstStyle/>
                    <a:p>
                      <a:pPr marL="0" marR="0" indent="0" algn="l" rtl="0" fontAlgn="base">
                        <a:buNone/>
                      </a:pPr>
                      <a:r>
                        <a:rPr lang="en-US" sz="1100" b="0" i="0">
                          <a:solidFill>
                            <a:srgbClr val="000000"/>
                          </a:solidFill>
                          <a:effectLst/>
                          <a:latin typeface="Cambria" panose="02040503050406030204" pitchFamily="18" charset="0"/>
                        </a:rPr>
                        <a:t>price</a:t>
                      </a:r>
                      <a:r>
                        <a:rPr lang="en-GB" sz="1100" b="0" i="0">
                          <a:solidFill>
                            <a:srgbClr val="000000"/>
                          </a:solidFill>
                          <a:effectLst/>
                          <a:latin typeface="Cambria" panose="02040503050406030204" pitchFamily="18" charset="0"/>
                        </a:rPr>
                        <a:t> </a:t>
                      </a:r>
                      <a:endParaRPr lang="en-GB" sz="900" b="0" i="0">
                        <a:solidFill>
                          <a:srgbClr val="000000"/>
                        </a:solidFill>
                        <a:effectLst/>
                        <a:latin typeface="Segoe UI" panose="020B0502040204020203" pitchFamily="34" charset="0"/>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tc>
                  <a:txBody>
                    <a:bodyPr/>
                    <a:lstStyle/>
                    <a:p>
                      <a:pPr marL="0" marR="0" indent="0" algn="l" rtl="0" fontAlgn="base">
                        <a:buNone/>
                      </a:pPr>
                      <a:r>
                        <a:rPr lang="en-US" sz="1100" b="0" i="0">
                          <a:solidFill>
                            <a:srgbClr val="000000"/>
                          </a:solidFill>
                          <a:effectLst/>
                          <a:latin typeface="Cambria" panose="02040503050406030204" pitchFamily="18" charset="0"/>
                        </a:rPr>
                        <a:t>x</a:t>
                      </a:r>
                      <a:r>
                        <a:rPr lang="en-GB" sz="1100" b="0" i="0">
                          <a:solidFill>
                            <a:srgbClr val="000000"/>
                          </a:solidFill>
                          <a:effectLst/>
                          <a:latin typeface="Cambria" panose="02040503050406030204" pitchFamily="18" charset="0"/>
                        </a:rPr>
                        <a:t> </a:t>
                      </a:r>
                      <a:endParaRPr lang="en-GB" sz="900" b="0" i="0">
                        <a:solidFill>
                          <a:srgbClr val="000000"/>
                        </a:solidFill>
                        <a:effectLst/>
                        <a:latin typeface="Segoe UI" panose="020B0502040204020203" pitchFamily="34" charset="0"/>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tc>
                  <a:txBody>
                    <a:bodyPr/>
                    <a:lstStyle/>
                    <a:p>
                      <a:pPr marL="0" marR="0" indent="0" algn="l" rtl="0" fontAlgn="base">
                        <a:buNone/>
                      </a:pPr>
                      <a:r>
                        <a:rPr lang="en-US" sz="1100" b="0" i="0">
                          <a:solidFill>
                            <a:srgbClr val="000000"/>
                          </a:solidFill>
                          <a:effectLst/>
                          <a:latin typeface="Cambria" panose="02040503050406030204" pitchFamily="18" charset="0"/>
                        </a:rPr>
                        <a:t>y</a:t>
                      </a:r>
                      <a:r>
                        <a:rPr lang="en-GB" sz="1100" b="0" i="0">
                          <a:solidFill>
                            <a:srgbClr val="000000"/>
                          </a:solidFill>
                          <a:effectLst/>
                          <a:latin typeface="Cambria" panose="02040503050406030204" pitchFamily="18" charset="0"/>
                        </a:rPr>
                        <a:t> </a:t>
                      </a:r>
                      <a:endParaRPr lang="en-GB" sz="900" b="0" i="0">
                        <a:solidFill>
                          <a:srgbClr val="000000"/>
                        </a:solidFill>
                        <a:effectLst/>
                        <a:latin typeface="Segoe UI" panose="020B0502040204020203" pitchFamily="34" charset="0"/>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tc>
                  <a:txBody>
                    <a:bodyPr/>
                    <a:lstStyle/>
                    <a:p>
                      <a:pPr marL="0" marR="0" indent="0" algn="l" rtl="0" fontAlgn="base">
                        <a:buNone/>
                      </a:pPr>
                      <a:r>
                        <a:rPr lang="en-US" sz="1100" b="0" i="0">
                          <a:solidFill>
                            <a:srgbClr val="000000"/>
                          </a:solidFill>
                          <a:effectLst/>
                          <a:latin typeface="Cambria" panose="02040503050406030204" pitchFamily="18" charset="0"/>
                        </a:rPr>
                        <a:t>z</a:t>
                      </a:r>
                      <a:r>
                        <a:rPr lang="en-GB" sz="1100" b="0" i="0">
                          <a:solidFill>
                            <a:srgbClr val="000000"/>
                          </a:solidFill>
                          <a:effectLst/>
                          <a:latin typeface="Cambria" panose="02040503050406030204" pitchFamily="18" charset="0"/>
                        </a:rPr>
                        <a:t> </a:t>
                      </a:r>
                      <a:endParaRPr lang="en-GB" sz="900" b="0" i="0">
                        <a:solidFill>
                          <a:srgbClr val="000000"/>
                        </a:solidFill>
                        <a:effectLst/>
                        <a:latin typeface="Segoe UI" panose="020B0502040204020203" pitchFamily="34" charset="0"/>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extLst>
                  <a:ext uri="{0D108BD9-81ED-4DB2-BD59-A6C34878D82A}">
                    <a16:rowId xmlns:a16="http://schemas.microsoft.com/office/drawing/2014/main" val="2691696575"/>
                  </a:ext>
                </a:extLst>
              </a:tr>
              <a:tr h="323850">
                <a:tc>
                  <a:txBody>
                    <a:bodyPr/>
                    <a:lstStyle/>
                    <a:p>
                      <a:pPr marL="0" marR="0" indent="0" algn="l" rtl="0" fontAlgn="base">
                        <a:buNone/>
                      </a:pPr>
                      <a:r>
                        <a:rPr lang="en-US" sz="1100" b="0" i="0">
                          <a:solidFill>
                            <a:srgbClr val="000000"/>
                          </a:solidFill>
                          <a:effectLst/>
                          <a:latin typeface="Cambria" panose="02040503050406030204" pitchFamily="18" charset="0"/>
                        </a:rPr>
                        <a:t>1</a:t>
                      </a:r>
                      <a:r>
                        <a:rPr lang="en-GB" sz="1100" b="0" i="0">
                          <a:solidFill>
                            <a:srgbClr val="000000"/>
                          </a:solidFill>
                          <a:effectLst/>
                          <a:latin typeface="Cambria" panose="02040503050406030204" pitchFamily="18" charset="0"/>
                        </a:rPr>
                        <a:t> </a:t>
                      </a:r>
                      <a:endParaRPr lang="en-GB" sz="900" b="0" i="0">
                        <a:solidFill>
                          <a:srgbClr val="000000"/>
                        </a:solidFill>
                        <a:effectLst/>
                        <a:latin typeface="Segoe UI" panose="020B0502040204020203" pitchFamily="34" charset="0"/>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tc>
                  <a:txBody>
                    <a:bodyPr/>
                    <a:lstStyle/>
                    <a:p>
                      <a:pPr marL="0" marR="0" indent="0" algn="l" rtl="0" fontAlgn="base">
                        <a:buNone/>
                      </a:pPr>
                      <a:r>
                        <a:rPr lang="en-US" sz="1100" b="0" i="0">
                          <a:solidFill>
                            <a:srgbClr val="000000"/>
                          </a:solidFill>
                          <a:effectLst/>
                          <a:latin typeface="Cambria" panose="02040503050406030204" pitchFamily="18" charset="0"/>
                        </a:rPr>
                        <a:t>0.23</a:t>
                      </a:r>
                      <a:r>
                        <a:rPr lang="en-GB" sz="1100" b="0" i="0">
                          <a:solidFill>
                            <a:srgbClr val="000000"/>
                          </a:solidFill>
                          <a:effectLst/>
                          <a:latin typeface="Cambria" panose="02040503050406030204" pitchFamily="18" charset="0"/>
                        </a:rPr>
                        <a:t> </a:t>
                      </a:r>
                      <a:endParaRPr lang="en-GB" sz="900" b="0" i="0">
                        <a:solidFill>
                          <a:srgbClr val="000000"/>
                        </a:solidFill>
                        <a:effectLst/>
                        <a:latin typeface="Segoe UI" panose="020B0502040204020203" pitchFamily="34" charset="0"/>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tc>
                  <a:txBody>
                    <a:bodyPr/>
                    <a:lstStyle/>
                    <a:p>
                      <a:pPr marL="0" marR="0" indent="0" algn="l" rtl="0" fontAlgn="base">
                        <a:buNone/>
                      </a:pPr>
                      <a:r>
                        <a:rPr lang="en-US" sz="1100" b="0" i="0">
                          <a:solidFill>
                            <a:srgbClr val="000000"/>
                          </a:solidFill>
                          <a:effectLst/>
                          <a:latin typeface="Cambria" panose="02040503050406030204" pitchFamily="18" charset="0"/>
                        </a:rPr>
                        <a:t>Ideal</a:t>
                      </a:r>
                      <a:r>
                        <a:rPr lang="en-GB" sz="1100" b="0" i="0">
                          <a:solidFill>
                            <a:srgbClr val="000000"/>
                          </a:solidFill>
                          <a:effectLst/>
                          <a:latin typeface="Cambria" panose="02040503050406030204" pitchFamily="18" charset="0"/>
                        </a:rPr>
                        <a:t> </a:t>
                      </a:r>
                      <a:endParaRPr lang="en-GB" sz="900" b="0" i="0">
                        <a:solidFill>
                          <a:srgbClr val="000000"/>
                        </a:solidFill>
                        <a:effectLst/>
                        <a:latin typeface="Segoe UI" panose="020B0502040204020203" pitchFamily="34" charset="0"/>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tc>
                  <a:txBody>
                    <a:bodyPr/>
                    <a:lstStyle/>
                    <a:p>
                      <a:pPr marL="0" marR="0" indent="0" algn="l" rtl="0" fontAlgn="base">
                        <a:buNone/>
                      </a:pPr>
                      <a:r>
                        <a:rPr lang="en-US" sz="1100" b="0" i="0">
                          <a:solidFill>
                            <a:srgbClr val="000000"/>
                          </a:solidFill>
                          <a:effectLst/>
                          <a:latin typeface="Cambria" panose="02040503050406030204" pitchFamily="18" charset="0"/>
                        </a:rPr>
                        <a:t>E</a:t>
                      </a:r>
                      <a:r>
                        <a:rPr lang="en-GB" sz="1100" b="0" i="0">
                          <a:solidFill>
                            <a:srgbClr val="000000"/>
                          </a:solidFill>
                          <a:effectLst/>
                          <a:latin typeface="Cambria" panose="02040503050406030204" pitchFamily="18" charset="0"/>
                        </a:rPr>
                        <a:t> </a:t>
                      </a:r>
                      <a:endParaRPr lang="en-GB" sz="900" b="0" i="0">
                        <a:solidFill>
                          <a:srgbClr val="000000"/>
                        </a:solidFill>
                        <a:effectLst/>
                        <a:latin typeface="Segoe UI" panose="020B0502040204020203" pitchFamily="34" charset="0"/>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tc>
                  <a:txBody>
                    <a:bodyPr/>
                    <a:lstStyle/>
                    <a:p>
                      <a:pPr marL="0" marR="0" indent="0" algn="l" rtl="0" fontAlgn="base">
                        <a:buNone/>
                      </a:pPr>
                      <a:r>
                        <a:rPr lang="en-US" sz="1100" b="0" i="0">
                          <a:solidFill>
                            <a:srgbClr val="000000"/>
                          </a:solidFill>
                          <a:effectLst/>
                          <a:latin typeface="Cambria" panose="02040503050406030204" pitchFamily="18" charset="0"/>
                        </a:rPr>
                        <a:t>SI2</a:t>
                      </a:r>
                      <a:r>
                        <a:rPr lang="en-GB" sz="1100" b="0" i="0">
                          <a:solidFill>
                            <a:srgbClr val="000000"/>
                          </a:solidFill>
                          <a:effectLst/>
                          <a:latin typeface="Cambria" panose="02040503050406030204" pitchFamily="18" charset="0"/>
                        </a:rPr>
                        <a:t> </a:t>
                      </a:r>
                      <a:endParaRPr lang="en-GB" sz="900" b="0" i="0">
                        <a:solidFill>
                          <a:srgbClr val="000000"/>
                        </a:solidFill>
                        <a:effectLst/>
                        <a:latin typeface="Segoe UI" panose="020B0502040204020203" pitchFamily="34" charset="0"/>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tc>
                  <a:txBody>
                    <a:bodyPr/>
                    <a:lstStyle/>
                    <a:p>
                      <a:pPr marL="0" marR="0" indent="0" algn="l" rtl="0" fontAlgn="base">
                        <a:buNone/>
                      </a:pPr>
                      <a:r>
                        <a:rPr lang="en-US" sz="1100" b="0" i="0">
                          <a:solidFill>
                            <a:srgbClr val="000000"/>
                          </a:solidFill>
                          <a:effectLst/>
                          <a:latin typeface="Cambria" panose="02040503050406030204" pitchFamily="18" charset="0"/>
                        </a:rPr>
                        <a:t>61.5</a:t>
                      </a:r>
                      <a:r>
                        <a:rPr lang="en-GB" sz="1100" b="0" i="0">
                          <a:solidFill>
                            <a:srgbClr val="000000"/>
                          </a:solidFill>
                          <a:effectLst/>
                          <a:latin typeface="Cambria" panose="02040503050406030204" pitchFamily="18" charset="0"/>
                        </a:rPr>
                        <a:t> </a:t>
                      </a:r>
                      <a:endParaRPr lang="en-GB" sz="900" b="0" i="0">
                        <a:solidFill>
                          <a:srgbClr val="000000"/>
                        </a:solidFill>
                        <a:effectLst/>
                        <a:latin typeface="Segoe UI" panose="020B0502040204020203" pitchFamily="34" charset="0"/>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tc>
                  <a:txBody>
                    <a:bodyPr/>
                    <a:lstStyle/>
                    <a:p>
                      <a:pPr marL="0" marR="0" indent="0" algn="l" rtl="0" fontAlgn="base">
                        <a:buNone/>
                      </a:pPr>
                      <a:r>
                        <a:rPr lang="en-US" sz="1100" b="0" i="0">
                          <a:solidFill>
                            <a:srgbClr val="000000"/>
                          </a:solidFill>
                          <a:effectLst/>
                          <a:latin typeface="Cambria" panose="02040503050406030204" pitchFamily="18" charset="0"/>
                        </a:rPr>
                        <a:t>55</a:t>
                      </a:r>
                      <a:r>
                        <a:rPr lang="en-GB" sz="1100" b="0" i="0">
                          <a:solidFill>
                            <a:srgbClr val="000000"/>
                          </a:solidFill>
                          <a:effectLst/>
                          <a:latin typeface="Cambria" panose="02040503050406030204" pitchFamily="18" charset="0"/>
                        </a:rPr>
                        <a:t> </a:t>
                      </a:r>
                      <a:endParaRPr lang="en-GB" sz="900" b="0" i="0">
                        <a:solidFill>
                          <a:srgbClr val="000000"/>
                        </a:solidFill>
                        <a:effectLst/>
                        <a:latin typeface="Segoe UI" panose="020B0502040204020203" pitchFamily="34" charset="0"/>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tc>
                  <a:txBody>
                    <a:bodyPr/>
                    <a:lstStyle/>
                    <a:p>
                      <a:pPr marL="0" marR="0" indent="0" algn="l" rtl="0" fontAlgn="base">
                        <a:buNone/>
                      </a:pPr>
                      <a:r>
                        <a:rPr lang="en-US" sz="1100" b="0" i="0">
                          <a:solidFill>
                            <a:srgbClr val="000000"/>
                          </a:solidFill>
                          <a:effectLst/>
                          <a:latin typeface="Cambria" panose="02040503050406030204" pitchFamily="18" charset="0"/>
                        </a:rPr>
                        <a:t>326</a:t>
                      </a:r>
                      <a:r>
                        <a:rPr lang="en-GB" sz="1100" b="0" i="0">
                          <a:solidFill>
                            <a:srgbClr val="000000"/>
                          </a:solidFill>
                          <a:effectLst/>
                          <a:latin typeface="Cambria" panose="02040503050406030204" pitchFamily="18" charset="0"/>
                        </a:rPr>
                        <a:t> </a:t>
                      </a:r>
                      <a:endParaRPr lang="en-GB" sz="900" b="0" i="0">
                        <a:solidFill>
                          <a:srgbClr val="000000"/>
                        </a:solidFill>
                        <a:effectLst/>
                        <a:latin typeface="Segoe UI" panose="020B0502040204020203" pitchFamily="34" charset="0"/>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tc>
                  <a:txBody>
                    <a:bodyPr/>
                    <a:lstStyle/>
                    <a:p>
                      <a:pPr marL="0" marR="0" indent="0" algn="l" rtl="0" fontAlgn="base">
                        <a:buNone/>
                      </a:pPr>
                      <a:r>
                        <a:rPr lang="en-US" sz="1100" b="0" i="0">
                          <a:solidFill>
                            <a:srgbClr val="000000"/>
                          </a:solidFill>
                          <a:effectLst/>
                          <a:latin typeface="Cambria" panose="02040503050406030204" pitchFamily="18" charset="0"/>
                        </a:rPr>
                        <a:t>3.95</a:t>
                      </a:r>
                      <a:r>
                        <a:rPr lang="en-GB" sz="1100" b="0" i="0">
                          <a:solidFill>
                            <a:srgbClr val="000000"/>
                          </a:solidFill>
                          <a:effectLst/>
                          <a:latin typeface="Cambria" panose="02040503050406030204" pitchFamily="18" charset="0"/>
                        </a:rPr>
                        <a:t> </a:t>
                      </a:r>
                      <a:endParaRPr lang="en-GB" sz="900" b="0" i="0">
                        <a:solidFill>
                          <a:srgbClr val="000000"/>
                        </a:solidFill>
                        <a:effectLst/>
                        <a:latin typeface="Segoe UI" panose="020B0502040204020203" pitchFamily="34" charset="0"/>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tc>
                  <a:txBody>
                    <a:bodyPr/>
                    <a:lstStyle/>
                    <a:p>
                      <a:pPr marL="0" marR="0" indent="0" algn="l" rtl="0" fontAlgn="base">
                        <a:buNone/>
                      </a:pPr>
                      <a:r>
                        <a:rPr lang="en-US" sz="1100" b="0" i="0">
                          <a:solidFill>
                            <a:srgbClr val="000000"/>
                          </a:solidFill>
                          <a:effectLst/>
                          <a:latin typeface="Cambria" panose="02040503050406030204" pitchFamily="18" charset="0"/>
                        </a:rPr>
                        <a:t>3.98</a:t>
                      </a:r>
                      <a:r>
                        <a:rPr lang="en-GB" sz="1100" b="0" i="0">
                          <a:solidFill>
                            <a:srgbClr val="000000"/>
                          </a:solidFill>
                          <a:effectLst/>
                          <a:latin typeface="Cambria" panose="02040503050406030204" pitchFamily="18" charset="0"/>
                        </a:rPr>
                        <a:t> </a:t>
                      </a:r>
                      <a:endParaRPr lang="en-GB" sz="900" b="0" i="0">
                        <a:solidFill>
                          <a:srgbClr val="000000"/>
                        </a:solidFill>
                        <a:effectLst/>
                        <a:latin typeface="Segoe UI" panose="020B0502040204020203" pitchFamily="34" charset="0"/>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tc>
                  <a:txBody>
                    <a:bodyPr/>
                    <a:lstStyle/>
                    <a:p>
                      <a:pPr marL="0" marR="0" indent="0" algn="l" rtl="0" fontAlgn="base">
                        <a:buNone/>
                      </a:pPr>
                      <a:r>
                        <a:rPr lang="en-US" sz="1100" b="0" i="0">
                          <a:solidFill>
                            <a:srgbClr val="000000"/>
                          </a:solidFill>
                          <a:effectLst/>
                          <a:latin typeface="Cambria" panose="02040503050406030204" pitchFamily="18" charset="0"/>
                        </a:rPr>
                        <a:t>2.43</a:t>
                      </a:r>
                      <a:r>
                        <a:rPr lang="en-GB" sz="1100" b="0" i="0">
                          <a:solidFill>
                            <a:srgbClr val="000000"/>
                          </a:solidFill>
                          <a:effectLst/>
                          <a:latin typeface="Cambria" panose="02040503050406030204" pitchFamily="18" charset="0"/>
                        </a:rPr>
                        <a:t> </a:t>
                      </a:r>
                      <a:endParaRPr lang="en-GB" sz="900" b="0" i="0">
                        <a:solidFill>
                          <a:srgbClr val="000000"/>
                        </a:solidFill>
                        <a:effectLst/>
                        <a:latin typeface="Segoe UI" panose="020B0502040204020203" pitchFamily="34" charset="0"/>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extLst>
                  <a:ext uri="{0D108BD9-81ED-4DB2-BD59-A6C34878D82A}">
                    <a16:rowId xmlns:a16="http://schemas.microsoft.com/office/drawing/2014/main" val="756433449"/>
                  </a:ext>
                </a:extLst>
              </a:tr>
              <a:tr h="323850">
                <a:tc>
                  <a:txBody>
                    <a:bodyPr/>
                    <a:lstStyle/>
                    <a:p>
                      <a:pPr marL="0" marR="0" indent="0" algn="l" rtl="0" fontAlgn="base">
                        <a:buNone/>
                      </a:pPr>
                      <a:r>
                        <a:rPr lang="en-US" sz="1100" b="0" i="0">
                          <a:solidFill>
                            <a:srgbClr val="000000"/>
                          </a:solidFill>
                          <a:effectLst/>
                          <a:latin typeface="Cambria" panose="02040503050406030204" pitchFamily="18" charset="0"/>
                        </a:rPr>
                        <a:t>2</a:t>
                      </a:r>
                      <a:r>
                        <a:rPr lang="en-GB" sz="1100" b="0" i="0">
                          <a:solidFill>
                            <a:srgbClr val="000000"/>
                          </a:solidFill>
                          <a:effectLst/>
                          <a:latin typeface="Cambria" panose="02040503050406030204" pitchFamily="18" charset="0"/>
                        </a:rPr>
                        <a:t> </a:t>
                      </a:r>
                      <a:endParaRPr lang="en-GB" sz="900" b="0" i="0">
                        <a:solidFill>
                          <a:srgbClr val="000000"/>
                        </a:solidFill>
                        <a:effectLst/>
                        <a:latin typeface="Segoe UI" panose="020B0502040204020203" pitchFamily="34" charset="0"/>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tc>
                  <a:txBody>
                    <a:bodyPr/>
                    <a:lstStyle/>
                    <a:p>
                      <a:pPr marL="0" marR="0" indent="0" algn="l" rtl="0" fontAlgn="base">
                        <a:buNone/>
                      </a:pPr>
                      <a:r>
                        <a:rPr lang="en-US" sz="1100" b="0" i="0">
                          <a:solidFill>
                            <a:srgbClr val="000000"/>
                          </a:solidFill>
                          <a:effectLst/>
                          <a:latin typeface="Cambria" panose="02040503050406030204" pitchFamily="18" charset="0"/>
                        </a:rPr>
                        <a:t>0.21</a:t>
                      </a:r>
                      <a:r>
                        <a:rPr lang="en-GB" sz="1100" b="0" i="0">
                          <a:solidFill>
                            <a:srgbClr val="000000"/>
                          </a:solidFill>
                          <a:effectLst/>
                          <a:latin typeface="Cambria" panose="02040503050406030204" pitchFamily="18" charset="0"/>
                        </a:rPr>
                        <a:t> </a:t>
                      </a:r>
                      <a:endParaRPr lang="en-GB" sz="900" b="0" i="0">
                        <a:solidFill>
                          <a:srgbClr val="000000"/>
                        </a:solidFill>
                        <a:effectLst/>
                        <a:latin typeface="Segoe UI" panose="020B0502040204020203" pitchFamily="34" charset="0"/>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tc>
                  <a:txBody>
                    <a:bodyPr/>
                    <a:lstStyle/>
                    <a:p>
                      <a:pPr marL="0" marR="0" indent="0" algn="l" rtl="0" fontAlgn="base">
                        <a:buNone/>
                      </a:pPr>
                      <a:r>
                        <a:rPr lang="en-US" sz="1100" b="0" i="0">
                          <a:solidFill>
                            <a:srgbClr val="000000"/>
                          </a:solidFill>
                          <a:effectLst/>
                          <a:latin typeface="Cambria" panose="02040503050406030204" pitchFamily="18" charset="0"/>
                        </a:rPr>
                        <a:t>Premium</a:t>
                      </a:r>
                      <a:r>
                        <a:rPr lang="en-GB" sz="1100" b="0" i="0">
                          <a:solidFill>
                            <a:srgbClr val="000000"/>
                          </a:solidFill>
                          <a:effectLst/>
                          <a:latin typeface="Cambria" panose="02040503050406030204" pitchFamily="18" charset="0"/>
                        </a:rPr>
                        <a:t> </a:t>
                      </a:r>
                      <a:endParaRPr lang="en-GB" sz="900" b="0" i="0">
                        <a:solidFill>
                          <a:srgbClr val="000000"/>
                        </a:solidFill>
                        <a:effectLst/>
                        <a:latin typeface="Segoe UI" panose="020B0502040204020203" pitchFamily="34" charset="0"/>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tc>
                  <a:txBody>
                    <a:bodyPr/>
                    <a:lstStyle/>
                    <a:p>
                      <a:pPr marL="0" marR="0" indent="0" algn="l" rtl="0" fontAlgn="base">
                        <a:buNone/>
                      </a:pPr>
                      <a:r>
                        <a:rPr lang="en-US" sz="1100" b="0" i="0">
                          <a:solidFill>
                            <a:srgbClr val="000000"/>
                          </a:solidFill>
                          <a:effectLst/>
                          <a:latin typeface="Cambria" panose="02040503050406030204" pitchFamily="18" charset="0"/>
                        </a:rPr>
                        <a:t>E</a:t>
                      </a:r>
                      <a:r>
                        <a:rPr lang="en-GB" sz="1100" b="0" i="0">
                          <a:solidFill>
                            <a:srgbClr val="000000"/>
                          </a:solidFill>
                          <a:effectLst/>
                          <a:latin typeface="Cambria" panose="02040503050406030204" pitchFamily="18" charset="0"/>
                        </a:rPr>
                        <a:t> </a:t>
                      </a:r>
                      <a:endParaRPr lang="en-GB" sz="900" b="0" i="0">
                        <a:solidFill>
                          <a:srgbClr val="000000"/>
                        </a:solidFill>
                        <a:effectLst/>
                        <a:latin typeface="Segoe UI" panose="020B0502040204020203" pitchFamily="34" charset="0"/>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tc>
                  <a:txBody>
                    <a:bodyPr/>
                    <a:lstStyle/>
                    <a:p>
                      <a:pPr marL="0" marR="0" indent="0" algn="l" rtl="0" fontAlgn="base">
                        <a:buNone/>
                      </a:pPr>
                      <a:r>
                        <a:rPr lang="en-US" sz="1100" b="0" i="0">
                          <a:solidFill>
                            <a:srgbClr val="000000"/>
                          </a:solidFill>
                          <a:effectLst/>
                          <a:latin typeface="Cambria" panose="02040503050406030204" pitchFamily="18" charset="0"/>
                        </a:rPr>
                        <a:t>SI1</a:t>
                      </a:r>
                      <a:r>
                        <a:rPr lang="en-GB" sz="1100" b="0" i="0">
                          <a:solidFill>
                            <a:srgbClr val="000000"/>
                          </a:solidFill>
                          <a:effectLst/>
                          <a:latin typeface="Cambria" panose="02040503050406030204" pitchFamily="18" charset="0"/>
                        </a:rPr>
                        <a:t> </a:t>
                      </a:r>
                      <a:endParaRPr lang="en-GB" sz="900" b="0" i="0">
                        <a:solidFill>
                          <a:srgbClr val="000000"/>
                        </a:solidFill>
                        <a:effectLst/>
                        <a:latin typeface="Segoe UI" panose="020B0502040204020203" pitchFamily="34" charset="0"/>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tc>
                  <a:txBody>
                    <a:bodyPr/>
                    <a:lstStyle/>
                    <a:p>
                      <a:pPr marL="0" marR="0" indent="0" algn="l" rtl="0" fontAlgn="base">
                        <a:buNone/>
                      </a:pPr>
                      <a:r>
                        <a:rPr lang="en-US" sz="1100" b="0" i="0">
                          <a:solidFill>
                            <a:srgbClr val="000000"/>
                          </a:solidFill>
                          <a:effectLst/>
                          <a:latin typeface="Cambria" panose="02040503050406030204" pitchFamily="18" charset="0"/>
                        </a:rPr>
                        <a:t>59.8</a:t>
                      </a:r>
                      <a:r>
                        <a:rPr lang="en-GB" sz="1100" b="0" i="0">
                          <a:solidFill>
                            <a:srgbClr val="000000"/>
                          </a:solidFill>
                          <a:effectLst/>
                          <a:latin typeface="Cambria" panose="02040503050406030204" pitchFamily="18" charset="0"/>
                        </a:rPr>
                        <a:t> </a:t>
                      </a:r>
                      <a:endParaRPr lang="en-GB" sz="900" b="0" i="0">
                        <a:solidFill>
                          <a:srgbClr val="000000"/>
                        </a:solidFill>
                        <a:effectLst/>
                        <a:latin typeface="Segoe UI" panose="020B0502040204020203" pitchFamily="34" charset="0"/>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tc>
                  <a:txBody>
                    <a:bodyPr/>
                    <a:lstStyle/>
                    <a:p>
                      <a:pPr marL="0" marR="0" indent="0" algn="l" rtl="0" fontAlgn="base">
                        <a:buNone/>
                      </a:pPr>
                      <a:r>
                        <a:rPr lang="en-US" sz="1100" b="0" i="0">
                          <a:solidFill>
                            <a:srgbClr val="000000"/>
                          </a:solidFill>
                          <a:effectLst/>
                          <a:latin typeface="Cambria" panose="02040503050406030204" pitchFamily="18" charset="0"/>
                        </a:rPr>
                        <a:t>61</a:t>
                      </a:r>
                      <a:r>
                        <a:rPr lang="en-GB" sz="1100" b="0" i="0">
                          <a:solidFill>
                            <a:srgbClr val="000000"/>
                          </a:solidFill>
                          <a:effectLst/>
                          <a:latin typeface="Cambria" panose="02040503050406030204" pitchFamily="18" charset="0"/>
                        </a:rPr>
                        <a:t> </a:t>
                      </a:r>
                      <a:endParaRPr lang="en-GB" sz="900" b="0" i="0">
                        <a:solidFill>
                          <a:srgbClr val="000000"/>
                        </a:solidFill>
                        <a:effectLst/>
                        <a:latin typeface="Segoe UI" panose="020B0502040204020203" pitchFamily="34" charset="0"/>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tc>
                  <a:txBody>
                    <a:bodyPr/>
                    <a:lstStyle/>
                    <a:p>
                      <a:pPr marL="0" marR="0" indent="0" algn="l" rtl="0" fontAlgn="base">
                        <a:buNone/>
                      </a:pPr>
                      <a:r>
                        <a:rPr lang="en-US" sz="1100" b="0" i="0">
                          <a:solidFill>
                            <a:srgbClr val="000000"/>
                          </a:solidFill>
                          <a:effectLst/>
                          <a:latin typeface="Cambria" panose="02040503050406030204" pitchFamily="18" charset="0"/>
                        </a:rPr>
                        <a:t>326</a:t>
                      </a:r>
                      <a:r>
                        <a:rPr lang="en-GB" sz="1100" b="0" i="0">
                          <a:solidFill>
                            <a:srgbClr val="000000"/>
                          </a:solidFill>
                          <a:effectLst/>
                          <a:latin typeface="Cambria" panose="02040503050406030204" pitchFamily="18" charset="0"/>
                        </a:rPr>
                        <a:t> </a:t>
                      </a:r>
                      <a:endParaRPr lang="en-GB" sz="900" b="0" i="0">
                        <a:solidFill>
                          <a:srgbClr val="000000"/>
                        </a:solidFill>
                        <a:effectLst/>
                        <a:latin typeface="Segoe UI" panose="020B0502040204020203" pitchFamily="34" charset="0"/>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tc>
                  <a:txBody>
                    <a:bodyPr/>
                    <a:lstStyle/>
                    <a:p>
                      <a:pPr marL="0" marR="0" indent="0" algn="l" rtl="0" fontAlgn="base">
                        <a:buNone/>
                      </a:pPr>
                      <a:r>
                        <a:rPr lang="en-US" sz="1100" b="0" i="0">
                          <a:solidFill>
                            <a:srgbClr val="000000"/>
                          </a:solidFill>
                          <a:effectLst/>
                          <a:latin typeface="Cambria" panose="02040503050406030204" pitchFamily="18" charset="0"/>
                        </a:rPr>
                        <a:t>3.89</a:t>
                      </a:r>
                      <a:r>
                        <a:rPr lang="en-GB" sz="1100" b="0" i="0">
                          <a:solidFill>
                            <a:srgbClr val="000000"/>
                          </a:solidFill>
                          <a:effectLst/>
                          <a:latin typeface="Cambria" panose="02040503050406030204" pitchFamily="18" charset="0"/>
                        </a:rPr>
                        <a:t> </a:t>
                      </a:r>
                      <a:endParaRPr lang="en-GB" sz="900" b="0" i="0">
                        <a:solidFill>
                          <a:srgbClr val="000000"/>
                        </a:solidFill>
                        <a:effectLst/>
                        <a:latin typeface="Segoe UI" panose="020B0502040204020203" pitchFamily="34" charset="0"/>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tc>
                  <a:txBody>
                    <a:bodyPr/>
                    <a:lstStyle/>
                    <a:p>
                      <a:pPr marL="0" marR="0" indent="0" algn="l" rtl="0" fontAlgn="base">
                        <a:buNone/>
                      </a:pPr>
                      <a:r>
                        <a:rPr lang="en-US" sz="1100" b="0" i="0">
                          <a:solidFill>
                            <a:srgbClr val="000000"/>
                          </a:solidFill>
                          <a:effectLst/>
                          <a:latin typeface="Cambria" panose="02040503050406030204" pitchFamily="18" charset="0"/>
                        </a:rPr>
                        <a:t>3.84</a:t>
                      </a:r>
                      <a:r>
                        <a:rPr lang="en-GB" sz="1100" b="0" i="0">
                          <a:solidFill>
                            <a:srgbClr val="000000"/>
                          </a:solidFill>
                          <a:effectLst/>
                          <a:latin typeface="Cambria" panose="02040503050406030204" pitchFamily="18" charset="0"/>
                        </a:rPr>
                        <a:t> </a:t>
                      </a:r>
                      <a:endParaRPr lang="en-GB" sz="900" b="0" i="0">
                        <a:solidFill>
                          <a:srgbClr val="000000"/>
                        </a:solidFill>
                        <a:effectLst/>
                        <a:latin typeface="Segoe UI" panose="020B0502040204020203" pitchFamily="34" charset="0"/>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tc>
                  <a:txBody>
                    <a:bodyPr/>
                    <a:lstStyle/>
                    <a:p>
                      <a:pPr marL="0" marR="0" indent="0" algn="l" rtl="0" fontAlgn="base">
                        <a:buNone/>
                      </a:pPr>
                      <a:r>
                        <a:rPr lang="en-US" sz="1100" b="0" i="0">
                          <a:solidFill>
                            <a:srgbClr val="000000"/>
                          </a:solidFill>
                          <a:effectLst/>
                          <a:latin typeface="Cambria" panose="02040503050406030204" pitchFamily="18" charset="0"/>
                        </a:rPr>
                        <a:t>2.31</a:t>
                      </a:r>
                      <a:r>
                        <a:rPr lang="en-GB" sz="1100" b="0" i="0">
                          <a:solidFill>
                            <a:srgbClr val="000000"/>
                          </a:solidFill>
                          <a:effectLst/>
                          <a:latin typeface="Cambria" panose="02040503050406030204" pitchFamily="18" charset="0"/>
                        </a:rPr>
                        <a:t> </a:t>
                      </a:r>
                      <a:endParaRPr lang="en-GB" sz="900" b="0" i="0">
                        <a:solidFill>
                          <a:srgbClr val="000000"/>
                        </a:solidFill>
                        <a:effectLst/>
                        <a:latin typeface="Segoe UI" panose="020B0502040204020203" pitchFamily="34" charset="0"/>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extLst>
                  <a:ext uri="{0D108BD9-81ED-4DB2-BD59-A6C34878D82A}">
                    <a16:rowId xmlns:a16="http://schemas.microsoft.com/office/drawing/2014/main" val="3322809176"/>
                  </a:ext>
                </a:extLst>
              </a:tr>
              <a:tr h="323850">
                <a:tc>
                  <a:txBody>
                    <a:bodyPr/>
                    <a:lstStyle/>
                    <a:p>
                      <a:pPr marL="0" marR="0" indent="0" algn="l" rtl="0" fontAlgn="base">
                        <a:buNone/>
                      </a:pPr>
                      <a:r>
                        <a:rPr lang="en-US" sz="1100" b="0" i="0">
                          <a:solidFill>
                            <a:srgbClr val="000000"/>
                          </a:solidFill>
                          <a:effectLst/>
                          <a:latin typeface="Cambria" panose="02040503050406030204" pitchFamily="18" charset="0"/>
                        </a:rPr>
                        <a:t>3</a:t>
                      </a:r>
                      <a:r>
                        <a:rPr lang="en-GB" sz="1100" b="0" i="0">
                          <a:solidFill>
                            <a:srgbClr val="000000"/>
                          </a:solidFill>
                          <a:effectLst/>
                          <a:latin typeface="Cambria" panose="02040503050406030204" pitchFamily="18" charset="0"/>
                        </a:rPr>
                        <a:t> </a:t>
                      </a:r>
                      <a:endParaRPr lang="en-GB" sz="900" b="0" i="0">
                        <a:solidFill>
                          <a:srgbClr val="000000"/>
                        </a:solidFill>
                        <a:effectLst/>
                        <a:latin typeface="Segoe UI" panose="020B0502040204020203" pitchFamily="34" charset="0"/>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tc>
                  <a:txBody>
                    <a:bodyPr/>
                    <a:lstStyle/>
                    <a:p>
                      <a:pPr marL="0" marR="0" indent="0" algn="l" rtl="0" fontAlgn="base">
                        <a:buNone/>
                      </a:pPr>
                      <a:r>
                        <a:rPr lang="en-US" sz="1100" b="0" i="0">
                          <a:solidFill>
                            <a:srgbClr val="000000"/>
                          </a:solidFill>
                          <a:effectLst/>
                          <a:latin typeface="Cambria" panose="02040503050406030204" pitchFamily="18" charset="0"/>
                        </a:rPr>
                        <a:t>0.23</a:t>
                      </a:r>
                      <a:r>
                        <a:rPr lang="en-GB" sz="1100" b="0" i="0">
                          <a:solidFill>
                            <a:srgbClr val="000000"/>
                          </a:solidFill>
                          <a:effectLst/>
                          <a:latin typeface="Cambria" panose="02040503050406030204" pitchFamily="18" charset="0"/>
                        </a:rPr>
                        <a:t> </a:t>
                      </a:r>
                      <a:endParaRPr lang="en-GB" sz="900" b="0" i="0">
                        <a:solidFill>
                          <a:srgbClr val="000000"/>
                        </a:solidFill>
                        <a:effectLst/>
                        <a:latin typeface="Segoe UI" panose="020B0502040204020203" pitchFamily="34" charset="0"/>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tc>
                  <a:txBody>
                    <a:bodyPr/>
                    <a:lstStyle/>
                    <a:p>
                      <a:pPr marL="0" marR="0" indent="0" algn="l" rtl="0" fontAlgn="base">
                        <a:buNone/>
                      </a:pPr>
                      <a:r>
                        <a:rPr lang="en-US" sz="1100" b="0" i="0">
                          <a:solidFill>
                            <a:srgbClr val="000000"/>
                          </a:solidFill>
                          <a:effectLst/>
                          <a:latin typeface="Cambria" panose="02040503050406030204" pitchFamily="18" charset="0"/>
                        </a:rPr>
                        <a:t>Good</a:t>
                      </a:r>
                      <a:r>
                        <a:rPr lang="en-GB" sz="1100" b="0" i="0">
                          <a:solidFill>
                            <a:srgbClr val="000000"/>
                          </a:solidFill>
                          <a:effectLst/>
                          <a:latin typeface="Cambria" panose="02040503050406030204" pitchFamily="18" charset="0"/>
                        </a:rPr>
                        <a:t> </a:t>
                      </a:r>
                      <a:endParaRPr lang="en-GB" sz="900" b="0" i="0">
                        <a:solidFill>
                          <a:srgbClr val="000000"/>
                        </a:solidFill>
                        <a:effectLst/>
                        <a:latin typeface="Segoe UI" panose="020B0502040204020203" pitchFamily="34" charset="0"/>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tc>
                  <a:txBody>
                    <a:bodyPr/>
                    <a:lstStyle/>
                    <a:p>
                      <a:pPr marL="0" marR="0" indent="0" algn="l" rtl="0" fontAlgn="base">
                        <a:buNone/>
                      </a:pPr>
                      <a:r>
                        <a:rPr lang="en-US" sz="1100" b="0" i="0">
                          <a:solidFill>
                            <a:srgbClr val="000000"/>
                          </a:solidFill>
                          <a:effectLst/>
                          <a:latin typeface="Cambria" panose="02040503050406030204" pitchFamily="18" charset="0"/>
                        </a:rPr>
                        <a:t>E</a:t>
                      </a:r>
                      <a:r>
                        <a:rPr lang="en-GB" sz="1100" b="0" i="0">
                          <a:solidFill>
                            <a:srgbClr val="000000"/>
                          </a:solidFill>
                          <a:effectLst/>
                          <a:latin typeface="Cambria" panose="02040503050406030204" pitchFamily="18" charset="0"/>
                        </a:rPr>
                        <a:t> </a:t>
                      </a:r>
                      <a:endParaRPr lang="en-GB" sz="900" b="0" i="0">
                        <a:solidFill>
                          <a:srgbClr val="000000"/>
                        </a:solidFill>
                        <a:effectLst/>
                        <a:latin typeface="Segoe UI" panose="020B0502040204020203" pitchFamily="34" charset="0"/>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tc>
                  <a:txBody>
                    <a:bodyPr/>
                    <a:lstStyle/>
                    <a:p>
                      <a:pPr marL="0" marR="0" indent="0" algn="l" rtl="0" fontAlgn="base">
                        <a:buNone/>
                      </a:pPr>
                      <a:r>
                        <a:rPr lang="en-US" sz="1100" b="0" i="0">
                          <a:solidFill>
                            <a:srgbClr val="000000"/>
                          </a:solidFill>
                          <a:effectLst/>
                          <a:latin typeface="Cambria" panose="02040503050406030204" pitchFamily="18" charset="0"/>
                        </a:rPr>
                        <a:t>VS1</a:t>
                      </a:r>
                      <a:r>
                        <a:rPr lang="en-GB" sz="1100" b="0" i="0">
                          <a:solidFill>
                            <a:srgbClr val="000000"/>
                          </a:solidFill>
                          <a:effectLst/>
                          <a:latin typeface="Cambria" panose="02040503050406030204" pitchFamily="18" charset="0"/>
                        </a:rPr>
                        <a:t> </a:t>
                      </a:r>
                      <a:endParaRPr lang="en-GB" sz="900" b="0" i="0">
                        <a:solidFill>
                          <a:srgbClr val="000000"/>
                        </a:solidFill>
                        <a:effectLst/>
                        <a:latin typeface="Segoe UI" panose="020B0502040204020203" pitchFamily="34" charset="0"/>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tc>
                  <a:txBody>
                    <a:bodyPr/>
                    <a:lstStyle/>
                    <a:p>
                      <a:pPr marL="0" marR="0" indent="0" algn="l" rtl="0" fontAlgn="base">
                        <a:buNone/>
                      </a:pPr>
                      <a:r>
                        <a:rPr lang="en-US" sz="1100" b="0" i="0">
                          <a:solidFill>
                            <a:srgbClr val="000000"/>
                          </a:solidFill>
                          <a:effectLst/>
                          <a:latin typeface="Cambria" panose="02040503050406030204" pitchFamily="18" charset="0"/>
                        </a:rPr>
                        <a:t>56.9</a:t>
                      </a:r>
                      <a:r>
                        <a:rPr lang="en-GB" sz="1100" b="0" i="0">
                          <a:solidFill>
                            <a:srgbClr val="000000"/>
                          </a:solidFill>
                          <a:effectLst/>
                          <a:latin typeface="Cambria" panose="02040503050406030204" pitchFamily="18" charset="0"/>
                        </a:rPr>
                        <a:t> </a:t>
                      </a:r>
                      <a:endParaRPr lang="en-GB" sz="900" b="0" i="0">
                        <a:solidFill>
                          <a:srgbClr val="000000"/>
                        </a:solidFill>
                        <a:effectLst/>
                        <a:latin typeface="Segoe UI" panose="020B0502040204020203" pitchFamily="34" charset="0"/>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tc>
                  <a:txBody>
                    <a:bodyPr/>
                    <a:lstStyle/>
                    <a:p>
                      <a:pPr marL="0" marR="0" indent="0" algn="l" rtl="0" fontAlgn="base">
                        <a:buNone/>
                      </a:pPr>
                      <a:r>
                        <a:rPr lang="en-US" sz="1100" b="0" i="0">
                          <a:solidFill>
                            <a:srgbClr val="000000"/>
                          </a:solidFill>
                          <a:effectLst/>
                          <a:latin typeface="Cambria" panose="02040503050406030204" pitchFamily="18" charset="0"/>
                        </a:rPr>
                        <a:t>65</a:t>
                      </a:r>
                      <a:r>
                        <a:rPr lang="en-GB" sz="1100" b="0" i="0">
                          <a:solidFill>
                            <a:srgbClr val="000000"/>
                          </a:solidFill>
                          <a:effectLst/>
                          <a:latin typeface="Cambria" panose="02040503050406030204" pitchFamily="18" charset="0"/>
                        </a:rPr>
                        <a:t> </a:t>
                      </a:r>
                      <a:endParaRPr lang="en-GB" sz="900" b="0" i="0">
                        <a:solidFill>
                          <a:srgbClr val="000000"/>
                        </a:solidFill>
                        <a:effectLst/>
                        <a:latin typeface="Segoe UI" panose="020B0502040204020203" pitchFamily="34" charset="0"/>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tc>
                  <a:txBody>
                    <a:bodyPr/>
                    <a:lstStyle/>
                    <a:p>
                      <a:pPr marL="0" marR="0" indent="0" algn="l" rtl="0" fontAlgn="base">
                        <a:buNone/>
                      </a:pPr>
                      <a:r>
                        <a:rPr lang="en-US" sz="1100" b="0" i="0">
                          <a:solidFill>
                            <a:srgbClr val="000000"/>
                          </a:solidFill>
                          <a:effectLst/>
                          <a:latin typeface="Cambria" panose="02040503050406030204" pitchFamily="18" charset="0"/>
                        </a:rPr>
                        <a:t>327</a:t>
                      </a:r>
                      <a:r>
                        <a:rPr lang="en-GB" sz="1100" b="0" i="0">
                          <a:solidFill>
                            <a:srgbClr val="000000"/>
                          </a:solidFill>
                          <a:effectLst/>
                          <a:latin typeface="Cambria" panose="02040503050406030204" pitchFamily="18" charset="0"/>
                        </a:rPr>
                        <a:t> </a:t>
                      </a:r>
                      <a:endParaRPr lang="en-GB" sz="900" b="0" i="0">
                        <a:solidFill>
                          <a:srgbClr val="000000"/>
                        </a:solidFill>
                        <a:effectLst/>
                        <a:latin typeface="Segoe UI" panose="020B0502040204020203" pitchFamily="34" charset="0"/>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tc>
                  <a:txBody>
                    <a:bodyPr/>
                    <a:lstStyle/>
                    <a:p>
                      <a:pPr marL="0" marR="0" indent="0" algn="l" rtl="0" fontAlgn="base">
                        <a:buNone/>
                      </a:pPr>
                      <a:r>
                        <a:rPr lang="en-US" sz="1100" b="0" i="0">
                          <a:solidFill>
                            <a:srgbClr val="000000"/>
                          </a:solidFill>
                          <a:effectLst/>
                          <a:latin typeface="Cambria" panose="02040503050406030204" pitchFamily="18" charset="0"/>
                        </a:rPr>
                        <a:t>4.05</a:t>
                      </a:r>
                      <a:r>
                        <a:rPr lang="en-GB" sz="1100" b="0" i="0">
                          <a:solidFill>
                            <a:srgbClr val="000000"/>
                          </a:solidFill>
                          <a:effectLst/>
                          <a:latin typeface="Cambria" panose="02040503050406030204" pitchFamily="18" charset="0"/>
                        </a:rPr>
                        <a:t> </a:t>
                      </a:r>
                      <a:endParaRPr lang="en-GB" sz="900" b="0" i="0">
                        <a:solidFill>
                          <a:srgbClr val="000000"/>
                        </a:solidFill>
                        <a:effectLst/>
                        <a:latin typeface="Segoe UI" panose="020B0502040204020203" pitchFamily="34" charset="0"/>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tc>
                  <a:txBody>
                    <a:bodyPr/>
                    <a:lstStyle/>
                    <a:p>
                      <a:pPr marL="0" marR="0" indent="0" algn="l" rtl="0" fontAlgn="base">
                        <a:buNone/>
                      </a:pPr>
                      <a:r>
                        <a:rPr lang="en-US" sz="1100" b="0" i="0">
                          <a:solidFill>
                            <a:srgbClr val="000000"/>
                          </a:solidFill>
                          <a:effectLst/>
                          <a:latin typeface="Cambria" panose="02040503050406030204" pitchFamily="18" charset="0"/>
                        </a:rPr>
                        <a:t>4.07</a:t>
                      </a:r>
                      <a:r>
                        <a:rPr lang="en-GB" sz="1100" b="0" i="0">
                          <a:solidFill>
                            <a:srgbClr val="000000"/>
                          </a:solidFill>
                          <a:effectLst/>
                          <a:latin typeface="Cambria" panose="02040503050406030204" pitchFamily="18" charset="0"/>
                        </a:rPr>
                        <a:t> </a:t>
                      </a:r>
                      <a:endParaRPr lang="en-GB" sz="900" b="0" i="0">
                        <a:solidFill>
                          <a:srgbClr val="000000"/>
                        </a:solidFill>
                        <a:effectLst/>
                        <a:latin typeface="Segoe UI" panose="020B0502040204020203" pitchFamily="34" charset="0"/>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tc>
                  <a:txBody>
                    <a:bodyPr/>
                    <a:lstStyle/>
                    <a:p>
                      <a:pPr marL="0" marR="0" indent="0" algn="l" rtl="0" fontAlgn="base">
                        <a:buNone/>
                      </a:pPr>
                      <a:r>
                        <a:rPr lang="en-US" sz="1100" b="0" i="0">
                          <a:solidFill>
                            <a:srgbClr val="000000"/>
                          </a:solidFill>
                          <a:effectLst/>
                          <a:latin typeface="Cambria" panose="02040503050406030204" pitchFamily="18" charset="0"/>
                        </a:rPr>
                        <a:t>2.31</a:t>
                      </a:r>
                      <a:r>
                        <a:rPr lang="en-GB" sz="1100" b="0" i="0">
                          <a:solidFill>
                            <a:srgbClr val="000000"/>
                          </a:solidFill>
                          <a:effectLst/>
                          <a:latin typeface="Cambria" panose="02040503050406030204" pitchFamily="18" charset="0"/>
                        </a:rPr>
                        <a:t> </a:t>
                      </a:r>
                      <a:endParaRPr lang="en-GB" sz="900" b="0" i="0">
                        <a:solidFill>
                          <a:srgbClr val="000000"/>
                        </a:solidFill>
                        <a:effectLst/>
                        <a:latin typeface="Segoe UI" panose="020B0502040204020203" pitchFamily="34" charset="0"/>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extLst>
                  <a:ext uri="{0D108BD9-81ED-4DB2-BD59-A6C34878D82A}">
                    <a16:rowId xmlns:a16="http://schemas.microsoft.com/office/drawing/2014/main" val="2876947231"/>
                  </a:ext>
                </a:extLst>
              </a:tr>
              <a:tr h="323850">
                <a:tc>
                  <a:txBody>
                    <a:bodyPr/>
                    <a:lstStyle/>
                    <a:p>
                      <a:pPr marL="0" marR="0" indent="0" algn="l" rtl="0" fontAlgn="base">
                        <a:buNone/>
                      </a:pPr>
                      <a:r>
                        <a:rPr lang="en-US" sz="1100" b="0" i="0">
                          <a:solidFill>
                            <a:srgbClr val="000000"/>
                          </a:solidFill>
                          <a:effectLst/>
                          <a:latin typeface="Cambria" panose="02040503050406030204" pitchFamily="18" charset="0"/>
                        </a:rPr>
                        <a:t>4</a:t>
                      </a:r>
                      <a:r>
                        <a:rPr lang="en-GB" sz="1100" b="0" i="0">
                          <a:solidFill>
                            <a:srgbClr val="000000"/>
                          </a:solidFill>
                          <a:effectLst/>
                          <a:latin typeface="Cambria" panose="02040503050406030204" pitchFamily="18" charset="0"/>
                        </a:rPr>
                        <a:t> </a:t>
                      </a:r>
                      <a:endParaRPr lang="en-GB" sz="900" b="0" i="0">
                        <a:solidFill>
                          <a:srgbClr val="000000"/>
                        </a:solidFill>
                        <a:effectLst/>
                        <a:latin typeface="Segoe UI" panose="020B0502040204020203" pitchFamily="34" charset="0"/>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tc>
                  <a:txBody>
                    <a:bodyPr/>
                    <a:lstStyle/>
                    <a:p>
                      <a:pPr marL="0" marR="0" indent="0" algn="l" rtl="0" fontAlgn="base">
                        <a:buNone/>
                      </a:pPr>
                      <a:r>
                        <a:rPr lang="en-US" sz="1100" b="0" i="0">
                          <a:solidFill>
                            <a:srgbClr val="000000"/>
                          </a:solidFill>
                          <a:effectLst/>
                          <a:latin typeface="Cambria" panose="02040503050406030204" pitchFamily="18" charset="0"/>
                        </a:rPr>
                        <a:t>0.29</a:t>
                      </a:r>
                      <a:r>
                        <a:rPr lang="en-GB" sz="1100" b="0" i="0">
                          <a:solidFill>
                            <a:srgbClr val="000000"/>
                          </a:solidFill>
                          <a:effectLst/>
                          <a:latin typeface="Cambria" panose="02040503050406030204" pitchFamily="18" charset="0"/>
                        </a:rPr>
                        <a:t> </a:t>
                      </a:r>
                      <a:endParaRPr lang="en-GB" sz="900" b="0" i="0">
                        <a:solidFill>
                          <a:srgbClr val="000000"/>
                        </a:solidFill>
                        <a:effectLst/>
                        <a:latin typeface="Segoe UI" panose="020B0502040204020203" pitchFamily="34" charset="0"/>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tc>
                  <a:txBody>
                    <a:bodyPr/>
                    <a:lstStyle/>
                    <a:p>
                      <a:pPr marL="0" marR="0" indent="0" algn="l" rtl="0" fontAlgn="base">
                        <a:buNone/>
                      </a:pPr>
                      <a:r>
                        <a:rPr lang="en-US" sz="1100" b="0" i="0">
                          <a:solidFill>
                            <a:srgbClr val="000000"/>
                          </a:solidFill>
                          <a:effectLst/>
                          <a:latin typeface="Cambria" panose="02040503050406030204" pitchFamily="18" charset="0"/>
                        </a:rPr>
                        <a:t>Premium</a:t>
                      </a:r>
                      <a:r>
                        <a:rPr lang="en-GB" sz="1100" b="0" i="0">
                          <a:solidFill>
                            <a:srgbClr val="000000"/>
                          </a:solidFill>
                          <a:effectLst/>
                          <a:latin typeface="Cambria" panose="02040503050406030204" pitchFamily="18" charset="0"/>
                        </a:rPr>
                        <a:t> </a:t>
                      </a:r>
                      <a:endParaRPr lang="en-GB" sz="900" b="0" i="0">
                        <a:solidFill>
                          <a:srgbClr val="000000"/>
                        </a:solidFill>
                        <a:effectLst/>
                        <a:latin typeface="Segoe UI" panose="020B0502040204020203" pitchFamily="34" charset="0"/>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tc>
                  <a:txBody>
                    <a:bodyPr/>
                    <a:lstStyle/>
                    <a:p>
                      <a:pPr marL="0" marR="0" indent="0" algn="l" rtl="0" fontAlgn="base">
                        <a:buNone/>
                      </a:pPr>
                      <a:r>
                        <a:rPr lang="en-US" sz="1100" b="0" i="0">
                          <a:solidFill>
                            <a:srgbClr val="000000"/>
                          </a:solidFill>
                          <a:effectLst/>
                          <a:latin typeface="Cambria" panose="02040503050406030204" pitchFamily="18" charset="0"/>
                        </a:rPr>
                        <a:t>I</a:t>
                      </a:r>
                      <a:r>
                        <a:rPr lang="en-GB" sz="1100" b="0" i="0">
                          <a:solidFill>
                            <a:srgbClr val="000000"/>
                          </a:solidFill>
                          <a:effectLst/>
                          <a:latin typeface="Cambria" panose="02040503050406030204" pitchFamily="18" charset="0"/>
                        </a:rPr>
                        <a:t> </a:t>
                      </a:r>
                      <a:endParaRPr lang="en-GB" sz="900" b="0" i="0">
                        <a:solidFill>
                          <a:srgbClr val="000000"/>
                        </a:solidFill>
                        <a:effectLst/>
                        <a:latin typeface="Segoe UI" panose="020B0502040204020203" pitchFamily="34" charset="0"/>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tc>
                  <a:txBody>
                    <a:bodyPr/>
                    <a:lstStyle/>
                    <a:p>
                      <a:pPr marL="0" marR="0" indent="0" algn="l" rtl="0" fontAlgn="base">
                        <a:buNone/>
                      </a:pPr>
                      <a:r>
                        <a:rPr lang="en-US" sz="1100" b="0" i="0">
                          <a:solidFill>
                            <a:srgbClr val="000000"/>
                          </a:solidFill>
                          <a:effectLst/>
                          <a:latin typeface="Cambria" panose="02040503050406030204" pitchFamily="18" charset="0"/>
                        </a:rPr>
                        <a:t>VS2</a:t>
                      </a:r>
                      <a:r>
                        <a:rPr lang="en-GB" sz="1100" b="0" i="0">
                          <a:solidFill>
                            <a:srgbClr val="000000"/>
                          </a:solidFill>
                          <a:effectLst/>
                          <a:latin typeface="Cambria" panose="02040503050406030204" pitchFamily="18" charset="0"/>
                        </a:rPr>
                        <a:t> </a:t>
                      </a:r>
                      <a:endParaRPr lang="en-GB" sz="900" b="0" i="0">
                        <a:solidFill>
                          <a:srgbClr val="000000"/>
                        </a:solidFill>
                        <a:effectLst/>
                        <a:latin typeface="Segoe UI" panose="020B0502040204020203" pitchFamily="34" charset="0"/>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tc>
                  <a:txBody>
                    <a:bodyPr/>
                    <a:lstStyle/>
                    <a:p>
                      <a:pPr marL="0" marR="0" indent="0" algn="l" rtl="0" fontAlgn="base">
                        <a:buNone/>
                      </a:pPr>
                      <a:r>
                        <a:rPr lang="en-US" sz="1100" b="0" i="0">
                          <a:solidFill>
                            <a:srgbClr val="000000"/>
                          </a:solidFill>
                          <a:effectLst/>
                          <a:latin typeface="Cambria" panose="02040503050406030204" pitchFamily="18" charset="0"/>
                        </a:rPr>
                        <a:t>62.4</a:t>
                      </a:r>
                      <a:r>
                        <a:rPr lang="en-GB" sz="1100" b="0" i="0">
                          <a:solidFill>
                            <a:srgbClr val="000000"/>
                          </a:solidFill>
                          <a:effectLst/>
                          <a:latin typeface="Cambria" panose="02040503050406030204" pitchFamily="18" charset="0"/>
                        </a:rPr>
                        <a:t> </a:t>
                      </a:r>
                      <a:endParaRPr lang="en-GB" sz="900" b="0" i="0">
                        <a:solidFill>
                          <a:srgbClr val="000000"/>
                        </a:solidFill>
                        <a:effectLst/>
                        <a:latin typeface="Segoe UI" panose="020B0502040204020203" pitchFamily="34" charset="0"/>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tc>
                  <a:txBody>
                    <a:bodyPr/>
                    <a:lstStyle/>
                    <a:p>
                      <a:pPr marL="0" marR="0" indent="0" algn="l" rtl="0" fontAlgn="base">
                        <a:buNone/>
                      </a:pPr>
                      <a:r>
                        <a:rPr lang="en-US" sz="1100" b="0" i="0">
                          <a:solidFill>
                            <a:srgbClr val="000000"/>
                          </a:solidFill>
                          <a:effectLst/>
                          <a:latin typeface="Cambria" panose="02040503050406030204" pitchFamily="18" charset="0"/>
                        </a:rPr>
                        <a:t>58</a:t>
                      </a:r>
                      <a:r>
                        <a:rPr lang="en-GB" sz="1100" b="0" i="0">
                          <a:solidFill>
                            <a:srgbClr val="000000"/>
                          </a:solidFill>
                          <a:effectLst/>
                          <a:latin typeface="Cambria" panose="02040503050406030204" pitchFamily="18" charset="0"/>
                        </a:rPr>
                        <a:t> </a:t>
                      </a:r>
                      <a:endParaRPr lang="en-GB" sz="900" b="0" i="0">
                        <a:solidFill>
                          <a:srgbClr val="000000"/>
                        </a:solidFill>
                        <a:effectLst/>
                        <a:latin typeface="Segoe UI" panose="020B0502040204020203" pitchFamily="34" charset="0"/>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tc>
                  <a:txBody>
                    <a:bodyPr/>
                    <a:lstStyle/>
                    <a:p>
                      <a:pPr marL="0" marR="0" indent="0" algn="l" rtl="0" fontAlgn="base">
                        <a:buNone/>
                      </a:pPr>
                      <a:r>
                        <a:rPr lang="en-US" sz="1100" b="0" i="0">
                          <a:solidFill>
                            <a:srgbClr val="000000"/>
                          </a:solidFill>
                          <a:effectLst/>
                          <a:latin typeface="Cambria" panose="02040503050406030204" pitchFamily="18" charset="0"/>
                        </a:rPr>
                        <a:t>334</a:t>
                      </a:r>
                      <a:r>
                        <a:rPr lang="en-GB" sz="1100" b="0" i="0">
                          <a:solidFill>
                            <a:srgbClr val="000000"/>
                          </a:solidFill>
                          <a:effectLst/>
                          <a:latin typeface="Cambria" panose="02040503050406030204" pitchFamily="18" charset="0"/>
                        </a:rPr>
                        <a:t> </a:t>
                      </a:r>
                      <a:endParaRPr lang="en-GB" sz="900" b="0" i="0">
                        <a:solidFill>
                          <a:srgbClr val="000000"/>
                        </a:solidFill>
                        <a:effectLst/>
                        <a:latin typeface="Segoe UI" panose="020B0502040204020203" pitchFamily="34" charset="0"/>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tc>
                  <a:txBody>
                    <a:bodyPr/>
                    <a:lstStyle/>
                    <a:p>
                      <a:pPr marL="0" marR="0" indent="0" algn="l" rtl="0" fontAlgn="base">
                        <a:buNone/>
                      </a:pPr>
                      <a:r>
                        <a:rPr lang="en-US" sz="1100" b="0" i="0">
                          <a:solidFill>
                            <a:srgbClr val="000000"/>
                          </a:solidFill>
                          <a:effectLst/>
                          <a:latin typeface="Cambria" panose="02040503050406030204" pitchFamily="18" charset="0"/>
                        </a:rPr>
                        <a:t>4.2</a:t>
                      </a:r>
                      <a:r>
                        <a:rPr lang="en-GB" sz="1100" b="0" i="0">
                          <a:solidFill>
                            <a:srgbClr val="000000"/>
                          </a:solidFill>
                          <a:effectLst/>
                          <a:latin typeface="Cambria" panose="02040503050406030204" pitchFamily="18" charset="0"/>
                        </a:rPr>
                        <a:t> </a:t>
                      </a:r>
                      <a:endParaRPr lang="en-GB" sz="900" b="0" i="0">
                        <a:solidFill>
                          <a:srgbClr val="000000"/>
                        </a:solidFill>
                        <a:effectLst/>
                        <a:latin typeface="Segoe UI" panose="020B0502040204020203" pitchFamily="34" charset="0"/>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tc>
                  <a:txBody>
                    <a:bodyPr/>
                    <a:lstStyle/>
                    <a:p>
                      <a:pPr marL="0" marR="0" indent="0" algn="l" rtl="0" fontAlgn="base">
                        <a:buNone/>
                      </a:pPr>
                      <a:r>
                        <a:rPr lang="en-US" sz="1100" b="0" i="0">
                          <a:solidFill>
                            <a:srgbClr val="000000"/>
                          </a:solidFill>
                          <a:effectLst/>
                          <a:latin typeface="Cambria" panose="02040503050406030204" pitchFamily="18" charset="0"/>
                        </a:rPr>
                        <a:t>4.23</a:t>
                      </a:r>
                      <a:r>
                        <a:rPr lang="en-GB" sz="1100" b="0" i="0">
                          <a:solidFill>
                            <a:srgbClr val="000000"/>
                          </a:solidFill>
                          <a:effectLst/>
                          <a:latin typeface="Cambria" panose="02040503050406030204" pitchFamily="18" charset="0"/>
                        </a:rPr>
                        <a:t> </a:t>
                      </a:r>
                      <a:endParaRPr lang="en-GB" sz="900" b="0" i="0">
                        <a:solidFill>
                          <a:srgbClr val="000000"/>
                        </a:solidFill>
                        <a:effectLst/>
                        <a:latin typeface="Segoe UI" panose="020B0502040204020203" pitchFamily="34" charset="0"/>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tc>
                  <a:txBody>
                    <a:bodyPr/>
                    <a:lstStyle/>
                    <a:p>
                      <a:pPr marL="0" marR="0" indent="0" algn="l" rtl="0" fontAlgn="base">
                        <a:buNone/>
                      </a:pPr>
                      <a:r>
                        <a:rPr lang="en-US" sz="1100" b="0" i="0">
                          <a:solidFill>
                            <a:srgbClr val="000000"/>
                          </a:solidFill>
                          <a:effectLst/>
                          <a:latin typeface="Cambria" panose="02040503050406030204" pitchFamily="18" charset="0"/>
                        </a:rPr>
                        <a:t>2.63</a:t>
                      </a:r>
                      <a:r>
                        <a:rPr lang="en-GB" sz="1100" b="0" i="0">
                          <a:solidFill>
                            <a:srgbClr val="000000"/>
                          </a:solidFill>
                          <a:effectLst/>
                          <a:latin typeface="Cambria" panose="02040503050406030204" pitchFamily="18" charset="0"/>
                        </a:rPr>
                        <a:t> </a:t>
                      </a:r>
                      <a:endParaRPr lang="en-GB" sz="900" b="0" i="0">
                        <a:solidFill>
                          <a:srgbClr val="000000"/>
                        </a:solidFill>
                        <a:effectLst/>
                        <a:latin typeface="Segoe UI" panose="020B0502040204020203" pitchFamily="34" charset="0"/>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extLst>
                  <a:ext uri="{0D108BD9-81ED-4DB2-BD59-A6C34878D82A}">
                    <a16:rowId xmlns:a16="http://schemas.microsoft.com/office/drawing/2014/main" val="1040833495"/>
                  </a:ext>
                </a:extLst>
              </a:tr>
              <a:tr h="323850">
                <a:tc>
                  <a:txBody>
                    <a:bodyPr/>
                    <a:lstStyle/>
                    <a:p>
                      <a:pPr marL="0" marR="0" indent="0" algn="l" rtl="0" fontAlgn="base">
                        <a:buNone/>
                      </a:pPr>
                      <a:r>
                        <a:rPr lang="en-US" sz="1100" b="0" i="0">
                          <a:solidFill>
                            <a:srgbClr val="000000"/>
                          </a:solidFill>
                          <a:effectLst/>
                          <a:latin typeface="Cambria" panose="02040503050406030204" pitchFamily="18" charset="0"/>
                        </a:rPr>
                        <a:t>5</a:t>
                      </a:r>
                      <a:r>
                        <a:rPr lang="en-GB" sz="1100" b="0" i="0">
                          <a:solidFill>
                            <a:srgbClr val="000000"/>
                          </a:solidFill>
                          <a:effectLst/>
                          <a:latin typeface="Cambria" panose="02040503050406030204" pitchFamily="18" charset="0"/>
                        </a:rPr>
                        <a:t> </a:t>
                      </a:r>
                      <a:endParaRPr lang="en-GB" sz="900" b="0" i="0">
                        <a:solidFill>
                          <a:srgbClr val="000000"/>
                        </a:solidFill>
                        <a:effectLst/>
                        <a:latin typeface="Segoe UI" panose="020B0502040204020203" pitchFamily="34" charset="0"/>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tc>
                  <a:txBody>
                    <a:bodyPr/>
                    <a:lstStyle/>
                    <a:p>
                      <a:pPr marL="0" marR="0" indent="0" algn="l" rtl="0" fontAlgn="base">
                        <a:buNone/>
                      </a:pPr>
                      <a:r>
                        <a:rPr lang="en-US" sz="1100" b="0" i="0">
                          <a:solidFill>
                            <a:srgbClr val="000000"/>
                          </a:solidFill>
                          <a:effectLst/>
                          <a:latin typeface="Cambria" panose="02040503050406030204" pitchFamily="18" charset="0"/>
                        </a:rPr>
                        <a:t>0.31</a:t>
                      </a:r>
                      <a:r>
                        <a:rPr lang="en-GB" sz="1100" b="0" i="0">
                          <a:solidFill>
                            <a:srgbClr val="000000"/>
                          </a:solidFill>
                          <a:effectLst/>
                          <a:latin typeface="Cambria" panose="02040503050406030204" pitchFamily="18" charset="0"/>
                        </a:rPr>
                        <a:t> </a:t>
                      </a:r>
                      <a:endParaRPr lang="en-GB" sz="900" b="0" i="0">
                        <a:solidFill>
                          <a:srgbClr val="000000"/>
                        </a:solidFill>
                        <a:effectLst/>
                        <a:latin typeface="Segoe UI" panose="020B0502040204020203" pitchFamily="34" charset="0"/>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tc>
                  <a:txBody>
                    <a:bodyPr/>
                    <a:lstStyle/>
                    <a:p>
                      <a:pPr marL="0" marR="0" indent="0" algn="l" rtl="0" fontAlgn="base">
                        <a:buNone/>
                      </a:pPr>
                      <a:r>
                        <a:rPr lang="en-US" sz="1100" b="0" i="0">
                          <a:solidFill>
                            <a:srgbClr val="000000"/>
                          </a:solidFill>
                          <a:effectLst/>
                          <a:latin typeface="Cambria" panose="02040503050406030204" pitchFamily="18" charset="0"/>
                        </a:rPr>
                        <a:t>Good</a:t>
                      </a:r>
                      <a:r>
                        <a:rPr lang="en-GB" sz="1100" b="0" i="0">
                          <a:solidFill>
                            <a:srgbClr val="000000"/>
                          </a:solidFill>
                          <a:effectLst/>
                          <a:latin typeface="Cambria" panose="02040503050406030204" pitchFamily="18" charset="0"/>
                        </a:rPr>
                        <a:t> </a:t>
                      </a:r>
                      <a:endParaRPr lang="en-GB" sz="900" b="0" i="0">
                        <a:solidFill>
                          <a:srgbClr val="000000"/>
                        </a:solidFill>
                        <a:effectLst/>
                        <a:latin typeface="Segoe UI" panose="020B0502040204020203" pitchFamily="34" charset="0"/>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tc>
                  <a:txBody>
                    <a:bodyPr/>
                    <a:lstStyle/>
                    <a:p>
                      <a:pPr marL="0" marR="0" indent="0" algn="l" rtl="0" fontAlgn="base">
                        <a:buNone/>
                      </a:pPr>
                      <a:r>
                        <a:rPr lang="en-US" sz="1100" b="0" i="0">
                          <a:solidFill>
                            <a:srgbClr val="000000"/>
                          </a:solidFill>
                          <a:effectLst/>
                          <a:latin typeface="Cambria" panose="02040503050406030204" pitchFamily="18" charset="0"/>
                        </a:rPr>
                        <a:t>J</a:t>
                      </a:r>
                      <a:r>
                        <a:rPr lang="en-GB" sz="1100" b="0" i="0">
                          <a:solidFill>
                            <a:srgbClr val="000000"/>
                          </a:solidFill>
                          <a:effectLst/>
                          <a:latin typeface="Cambria" panose="02040503050406030204" pitchFamily="18" charset="0"/>
                        </a:rPr>
                        <a:t> </a:t>
                      </a:r>
                      <a:endParaRPr lang="en-GB" sz="900" b="0" i="0">
                        <a:solidFill>
                          <a:srgbClr val="000000"/>
                        </a:solidFill>
                        <a:effectLst/>
                        <a:latin typeface="Segoe UI" panose="020B0502040204020203" pitchFamily="34" charset="0"/>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tc>
                  <a:txBody>
                    <a:bodyPr/>
                    <a:lstStyle/>
                    <a:p>
                      <a:pPr marL="0" marR="0" indent="0" algn="l" rtl="0" fontAlgn="base">
                        <a:buNone/>
                      </a:pPr>
                      <a:r>
                        <a:rPr lang="en-US" sz="1100" b="0" i="0">
                          <a:solidFill>
                            <a:srgbClr val="000000"/>
                          </a:solidFill>
                          <a:effectLst/>
                          <a:latin typeface="Cambria" panose="02040503050406030204" pitchFamily="18" charset="0"/>
                        </a:rPr>
                        <a:t>SI2</a:t>
                      </a:r>
                      <a:r>
                        <a:rPr lang="en-GB" sz="1100" b="0" i="0">
                          <a:solidFill>
                            <a:srgbClr val="000000"/>
                          </a:solidFill>
                          <a:effectLst/>
                          <a:latin typeface="Cambria" panose="02040503050406030204" pitchFamily="18" charset="0"/>
                        </a:rPr>
                        <a:t> </a:t>
                      </a:r>
                      <a:endParaRPr lang="en-GB" sz="900" b="0" i="0">
                        <a:solidFill>
                          <a:srgbClr val="000000"/>
                        </a:solidFill>
                        <a:effectLst/>
                        <a:latin typeface="Segoe UI" panose="020B0502040204020203" pitchFamily="34" charset="0"/>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tc>
                  <a:txBody>
                    <a:bodyPr/>
                    <a:lstStyle/>
                    <a:p>
                      <a:pPr marL="0" marR="0" indent="0" algn="l" rtl="0" fontAlgn="base">
                        <a:buNone/>
                      </a:pPr>
                      <a:r>
                        <a:rPr lang="en-US" sz="1100" b="0" i="0">
                          <a:solidFill>
                            <a:srgbClr val="000000"/>
                          </a:solidFill>
                          <a:effectLst/>
                          <a:latin typeface="Cambria" panose="02040503050406030204" pitchFamily="18" charset="0"/>
                        </a:rPr>
                        <a:t>63.3</a:t>
                      </a:r>
                      <a:r>
                        <a:rPr lang="en-GB" sz="1100" b="0" i="0">
                          <a:solidFill>
                            <a:srgbClr val="000000"/>
                          </a:solidFill>
                          <a:effectLst/>
                          <a:latin typeface="Cambria" panose="02040503050406030204" pitchFamily="18" charset="0"/>
                        </a:rPr>
                        <a:t> </a:t>
                      </a:r>
                      <a:endParaRPr lang="en-GB" sz="900" b="0" i="0">
                        <a:solidFill>
                          <a:srgbClr val="000000"/>
                        </a:solidFill>
                        <a:effectLst/>
                        <a:latin typeface="Segoe UI" panose="020B0502040204020203" pitchFamily="34" charset="0"/>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tc>
                  <a:txBody>
                    <a:bodyPr/>
                    <a:lstStyle/>
                    <a:p>
                      <a:pPr marL="0" marR="0" indent="0" algn="l" rtl="0" fontAlgn="base">
                        <a:buNone/>
                      </a:pPr>
                      <a:r>
                        <a:rPr lang="en-US" sz="1100" b="0" i="0">
                          <a:solidFill>
                            <a:srgbClr val="000000"/>
                          </a:solidFill>
                          <a:effectLst/>
                          <a:latin typeface="Cambria" panose="02040503050406030204" pitchFamily="18" charset="0"/>
                        </a:rPr>
                        <a:t>58</a:t>
                      </a:r>
                      <a:r>
                        <a:rPr lang="en-GB" sz="1100" b="0" i="0">
                          <a:solidFill>
                            <a:srgbClr val="000000"/>
                          </a:solidFill>
                          <a:effectLst/>
                          <a:latin typeface="Cambria" panose="02040503050406030204" pitchFamily="18" charset="0"/>
                        </a:rPr>
                        <a:t> </a:t>
                      </a:r>
                      <a:endParaRPr lang="en-GB" sz="900" b="0" i="0">
                        <a:solidFill>
                          <a:srgbClr val="000000"/>
                        </a:solidFill>
                        <a:effectLst/>
                        <a:latin typeface="Segoe UI" panose="020B0502040204020203" pitchFamily="34" charset="0"/>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tc>
                  <a:txBody>
                    <a:bodyPr/>
                    <a:lstStyle/>
                    <a:p>
                      <a:pPr marL="0" marR="0" indent="0" algn="l" rtl="0" fontAlgn="base">
                        <a:buNone/>
                      </a:pPr>
                      <a:r>
                        <a:rPr lang="en-US" sz="1100" b="0" i="0">
                          <a:solidFill>
                            <a:srgbClr val="000000"/>
                          </a:solidFill>
                          <a:effectLst/>
                          <a:latin typeface="Cambria" panose="02040503050406030204" pitchFamily="18" charset="0"/>
                        </a:rPr>
                        <a:t>335</a:t>
                      </a:r>
                      <a:r>
                        <a:rPr lang="en-GB" sz="1100" b="0" i="0">
                          <a:solidFill>
                            <a:srgbClr val="000000"/>
                          </a:solidFill>
                          <a:effectLst/>
                          <a:latin typeface="Cambria" panose="02040503050406030204" pitchFamily="18" charset="0"/>
                        </a:rPr>
                        <a:t> </a:t>
                      </a:r>
                      <a:endParaRPr lang="en-GB" sz="900" b="0" i="0">
                        <a:solidFill>
                          <a:srgbClr val="000000"/>
                        </a:solidFill>
                        <a:effectLst/>
                        <a:latin typeface="Segoe UI" panose="020B0502040204020203" pitchFamily="34" charset="0"/>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tc>
                  <a:txBody>
                    <a:bodyPr/>
                    <a:lstStyle/>
                    <a:p>
                      <a:pPr marL="0" marR="0" indent="0" algn="l" rtl="0" fontAlgn="base">
                        <a:buNone/>
                      </a:pPr>
                      <a:r>
                        <a:rPr lang="en-US" sz="1100" b="0" i="0">
                          <a:solidFill>
                            <a:srgbClr val="000000"/>
                          </a:solidFill>
                          <a:effectLst/>
                          <a:latin typeface="Cambria" panose="02040503050406030204" pitchFamily="18" charset="0"/>
                        </a:rPr>
                        <a:t>4.34</a:t>
                      </a:r>
                      <a:r>
                        <a:rPr lang="en-GB" sz="1100" b="0" i="0">
                          <a:solidFill>
                            <a:srgbClr val="000000"/>
                          </a:solidFill>
                          <a:effectLst/>
                          <a:latin typeface="Cambria" panose="02040503050406030204" pitchFamily="18" charset="0"/>
                        </a:rPr>
                        <a:t> </a:t>
                      </a:r>
                      <a:endParaRPr lang="en-GB" sz="900" b="0" i="0">
                        <a:solidFill>
                          <a:srgbClr val="000000"/>
                        </a:solidFill>
                        <a:effectLst/>
                        <a:latin typeface="Segoe UI" panose="020B0502040204020203" pitchFamily="34" charset="0"/>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tc>
                  <a:txBody>
                    <a:bodyPr/>
                    <a:lstStyle/>
                    <a:p>
                      <a:pPr marL="0" marR="0" indent="0" algn="l" rtl="0" fontAlgn="base">
                        <a:buNone/>
                      </a:pPr>
                      <a:r>
                        <a:rPr lang="en-US" sz="1100" b="0" i="0">
                          <a:solidFill>
                            <a:srgbClr val="000000"/>
                          </a:solidFill>
                          <a:effectLst/>
                          <a:latin typeface="Cambria" panose="02040503050406030204" pitchFamily="18" charset="0"/>
                        </a:rPr>
                        <a:t>4.35</a:t>
                      </a:r>
                      <a:r>
                        <a:rPr lang="en-GB" sz="1100" b="0" i="0">
                          <a:solidFill>
                            <a:srgbClr val="000000"/>
                          </a:solidFill>
                          <a:effectLst/>
                          <a:latin typeface="Cambria" panose="02040503050406030204" pitchFamily="18" charset="0"/>
                        </a:rPr>
                        <a:t> </a:t>
                      </a:r>
                      <a:endParaRPr lang="en-GB" sz="900" b="0" i="0">
                        <a:solidFill>
                          <a:srgbClr val="000000"/>
                        </a:solidFill>
                        <a:effectLst/>
                        <a:latin typeface="Segoe UI" panose="020B0502040204020203" pitchFamily="34" charset="0"/>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tc>
                  <a:txBody>
                    <a:bodyPr/>
                    <a:lstStyle/>
                    <a:p>
                      <a:pPr marL="0" marR="0" indent="0" algn="l" rtl="0" fontAlgn="base">
                        <a:buNone/>
                      </a:pPr>
                      <a:r>
                        <a:rPr lang="en-US" sz="1100" b="0" i="0">
                          <a:solidFill>
                            <a:srgbClr val="000000"/>
                          </a:solidFill>
                          <a:effectLst/>
                          <a:latin typeface="Cambria" panose="02040503050406030204" pitchFamily="18" charset="0"/>
                        </a:rPr>
                        <a:t>2.75</a:t>
                      </a:r>
                      <a:r>
                        <a:rPr lang="en-GB" sz="1100" b="0" i="0">
                          <a:solidFill>
                            <a:srgbClr val="000000"/>
                          </a:solidFill>
                          <a:effectLst/>
                          <a:latin typeface="Cambria" panose="02040503050406030204" pitchFamily="18" charset="0"/>
                        </a:rPr>
                        <a:t> </a:t>
                      </a:r>
                      <a:endParaRPr lang="en-GB" sz="900" b="0" i="0">
                        <a:solidFill>
                          <a:srgbClr val="000000"/>
                        </a:solidFill>
                        <a:effectLst/>
                        <a:latin typeface="Segoe UI" panose="020B0502040204020203" pitchFamily="34" charset="0"/>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extLst>
                  <a:ext uri="{0D108BD9-81ED-4DB2-BD59-A6C34878D82A}">
                    <a16:rowId xmlns:a16="http://schemas.microsoft.com/office/drawing/2014/main" val="821128585"/>
                  </a:ext>
                </a:extLst>
              </a:tr>
              <a:tr h="323850">
                <a:tc>
                  <a:txBody>
                    <a:bodyPr/>
                    <a:lstStyle/>
                    <a:p>
                      <a:pPr marL="0" marR="0" indent="0" algn="l" rtl="0" fontAlgn="base">
                        <a:buNone/>
                      </a:pPr>
                      <a:r>
                        <a:rPr lang="en-US" sz="1100" b="0" i="0">
                          <a:solidFill>
                            <a:srgbClr val="000000"/>
                          </a:solidFill>
                          <a:effectLst/>
                          <a:latin typeface="Cambria" panose="02040503050406030204" pitchFamily="18" charset="0"/>
                        </a:rPr>
                        <a:t>6</a:t>
                      </a:r>
                      <a:r>
                        <a:rPr lang="en-GB" sz="1100" b="0" i="0">
                          <a:solidFill>
                            <a:srgbClr val="000000"/>
                          </a:solidFill>
                          <a:effectLst/>
                          <a:latin typeface="Cambria" panose="02040503050406030204" pitchFamily="18" charset="0"/>
                        </a:rPr>
                        <a:t> </a:t>
                      </a:r>
                      <a:endParaRPr lang="en-GB" sz="900" b="0" i="0">
                        <a:solidFill>
                          <a:srgbClr val="000000"/>
                        </a:solidFill>
                        <a:effectLst/>
                        <a:latin typeface="Segoe UI" panose="020B0502040204020203" pitchFamily="34" charset="0"/>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tc>
                  <a:txBody>
                    <a:bodyPr/>
                    <a:lstStyle/>
                    <a:p>
                      <a:pPr marL="0" marR="0" indent="0" algn="l" rtl="0" fontAlgn="base">
                        <a:buNone/>
                      </a:pPr>
                      <a:r>
                        <a:rPr lang="en-US" sz="1100" b="0" i="0">
                          <a:solidFill>
                            <a:srgbClr val="000000"/>
                          </a:solidFill>
                          <a:effectLst/>
                          <a:latin typeface="Cambria" panose="02040503050406030204" pitchFamily="18" charset="0"/>
                        </a:rPr>
                        <a:t>0.24</a:t>
                      </a:r>
                      <a:r>
                        <a:rPr lang="en-GB" sz="1100" b="0" i="0">
                          <a:solidFill>
                            <a:srgbClr val="000000"/>
                          </a:solidFill>
                          <a:effectLst/>
                          <a:latin typeface="Cambria" panose="02040503050406030204" pitchFamily="18" charset="0"/>
                        </a:rPr>
                        <a:t> </a:t>
                      </a:r>
                      <a:endParaRPr lang="en-GB" sz="900" b="0" i="0">
                        <a:solidFill>
                          <a:srgbClr val="000000"/>
                        </a:solidFill>
                        <a:effectLst/>
                        <a:latin typeface="Segoe UI" panose="020B0502040204020203" pitchFamily="34" charset="0"/>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tc>
                  <a:txBody>
                    <a:bodyPr/>
                    <a:lstStyle/>
                    <a:p>
                      <a:pPr marL="0" marR="0" indent="0" algn="l" rtl="0" fontAlgn="base">
                        <a:buNone/>
                      </a:pPr>
                      <a:r>
                        <a:rPr lang="en-US" sz="1100" b="0" i="0">
                          <a:solidFill>
                            <a:srgbClr val="000000"/>
                          </a:solidFill>
                          <a:effectLst/>
                          <a:latin typeface="Cambria" panose="02040503050406030204" pitchFamily="18" charset="0"/>
                        </a:rPr>
                        <a:t>Very Good</a:t>
                      </a:r>
                      <a:r>
                        <a:rPr lang="en-GB" sz="1100" b="0" i="0">
                          <a:solidFill>
                            <a:srgbClr val="000000"/>
                          </a:solidFill>
                          <a:effectLst/>
                          <a:latin typeface="Cambria" panose="02040503050406030204" pitchFamily="18" charset="0"/>
                        </a:rPr>
                        <a:t> </a:t>
                      </a:r>
                      <a:endParaRPr lang="en-GB" sz="900" b="0" i="0">
                        <a:solidFill>
                          <a:srgbClr val="000000"/>
                        </a:solidFill>
                        <a:effectLst/>
                        <a:latin typeface="Segoe UI" panose="020B0502040204020203" pitchFamily="34" charset="0"/>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tc>
                  <a:txBody>
                    <a:bodyPr/>
                    <a:lstStyle/>
                    <a:p>
                      <a:pPr marL="0" marR="0" indent="0" algn="l" rtl="0" fontAlgn="base">
                        <a:buNone/>
                      </a:pPr>
                      <a:r>
                        <a:rPr lang="en-US" sz="1100" b="0" i="0">
                          <a:solidFill>
                            <a:srgbClr val="000000"/>
                          </a:solidFill>
                          <a:effectLst/>
                          <a:latin typeface="Cambria" panose="02040503050406030204" pitchFamily="18" charset="0"/>
                        </a:rPr>
                        <a:t>J</a:t>
                      </a:r>
                      <a:r>
                        <a:rPr lang="en-GB" sz="1100" b="0" i="0">
                          <a:solidFill>
                            <a:srgbClr val="000000"/>
                          </a:solidFill>
                          <a:effectLst/>
                          <a:latin typeface="Cambria" panose="02040503050406030204" pitchFamily="18" charset="0"/>
                        </a:rPr>
                        <a:t> </a:t>
                      </a:r>
                      <a:endParaRPr lang="en-GB" sz="900" b="0" i="0">
                        <a:solidFill>
                          <a:srgbClr val="000000"/>
                        </a:solidFill>
                        <a:effectLst/>
                        <a:latin typeface="Segoe UI" panose="020B0502040204020203" pitchFamily="34" charset="0"/>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tc>
                  <a:txBody>
                    <a:bodyPr/>
                    <a:lstStyle/>
                    <a:p>
                      <a:pPr marL="0" marR="0" indent="0" algn="l" rtl="0" fontAlgn="base">
                        <a:buNone/>
                      </a:pPr>
                      <a:r>
                        <a:rPr lang="en-US" sz="1100" b="0" i="0">
                          <a:solidFill>
                            <a:srgbClr val="000000"/>
                          </a:solidFill>
                          <a:effectLst/>
                          <a:latin typeface="Cambria" panose="02040503050406030204" pitchFamily="18" charset="0"/>
                        </a:rPr>
                        <a:t>VVS2</a:t>
                      </a:r>
                      <a:r>
                        <a:rPr lang="en-GB" sz="1100" b="0" i="0">
                          <a:solidFill>
                            <a:srgbClr val="000000"/>
                          </a:solidFill>
                          <a:effectLst/>
                          <a:latin typeface="Cambria" panose="02040503050406030204" pitchFamily="18" charset="0"/>
                        </a:rPr>
                        <a:t> </a:t>
                      </a:r>
                      <a:endParaRPr lang="en-GB" sz="900" b="0" i="0">
                        <a:solidFill>
                          <a:srgbClr val="000000"/>
                        </a:solidFill>
                        <a:effectLst/>
                        <a:latin typeface="Segoe UI" panose="020B0502040204020203" pitchFamily="34" charset="0"/>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tc>
                  <a:txBody>
                    <a:bodyPr/>
                    <a:lstStyle/>
                    <a:p>
                      <a:pPr marL="0" marR="0" indent="0" algn="l" rtl="0" fontAlgn="base">
                        <a:buNone/>
                      </a:pPr>
                      <a:r>
                        <a:rPr lang="en-US" sz="1100" b="0" i="0">
                          <a:solidFill>
                            <a:srgbClr val="000000"/>
                          </a:solidFill>
                          <a:effectLst/>
                          <a:latin typeface="Cambria" panose="02040503050406030204" pitchFamily="18" charset="0"/>
                        </a:rPr>
                        <a:t>62.8</a:t>
                      </a:r>
                      <a:r>
                        <a:rPr lang="en-GB" sz="1100" b="0" i="0">
                          <a:solidFill>
                            <a:srgbClr val="000000"/>
                          </a:solidFill>
                          <a:effectLst/>
                          <a:latin typeface="Cambria" panose="02040503050406030204" pitchFamily="18" charset="0"/>
                        </a:rPr>
                        <a:t> </a:t>
                      </a:r>
                      <a:endParaRPr lang="en-GB" sz="900" b="0" i="0">
                        <a:solidFill>
                          <a:srgbClr val="000000"/>
                        </a:solidFill>
                        <a:effectLst/>
                        <a:latin typeface="Segoe UI" panose="020B0502040204020203" pitchFamily="34" charset="0"/>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tc>
                  <a:txBody>
                    <a:bodyPr/>
                    <a:lstStyle/>
                    <a:p>
                      <a:pPr marL="0" marR="0" indent="0" algn="l" rtl="0" fontAlgn="base">
                        <a:buNone/>
                      </a:pPr>
                      <a:r>
                        <a:rPr lang="en-US" sz="1100" b="0" i="0">
                          <a:solidFill>
                            <a:srgbClr val="000000"/>
                          </a:solidFill>
                          <a:effectLst/>
                          <a:latin typeface="Cambria" panose="02040503050406030204" pitchFamily="18" charset="0"/>
                        </a:rPr>
                        <a:t>57</a:t>
                      </a:r>
                      <a:r>
                        <a:rPr lang="en-GB" sz="1100" b="0" i="0">
                          <a:solidFill>
                            <a:srgbClr val="000000"/>
                          </a:solidFill>
                          <a:effectLst/>
                          <a:latin typeface="Cambria" panose="02040503050406030204" pitchFamily="18" charset="0"/>
                        </a:rPr>
                        <a:t> </a:t>
                      </a:r>
                      <a:endParaRPr lang="en-GB" sz="900" b="0" i="0">
                        <a:solidFill>
                          <a:srgbClr val="000000"/>
                        </a:solidFill>
                        <a:effectLst/>
                        <a:latin typeface="Segoe UI" panose="020B0502040204020203" pitchFamily="34" charset="0"/>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tc>
                  <a:txBody>
                    <a:bodyPr/>
                    <a:lstStyle/>
                    <a:p>
                      <a:pPr marL="0" marR="0" indent="0" algn="l" rtl="0" fontAlgn="base">
                        <a:buNone/>
                      </a:pPr>
                      <a:r>
                        <a:rPr lang="en-US" sz="1100" b="0" i="0">
                          <a:solidFill>
                            <a:srgbClr val="000000"/>
                          </a:solidFill>
                          <a:effectLst/>
                          <a:latin typeface="Cambria" panose="02040503050406030204" pitchFamily="18" charset="0"/>
                        </a:rPr>
                        <a:t>336</a:t>
                      </a:r>
                      <a:r>
                        <a:rPr lang="en-GB" sz="1100" b="0" i="0">
                          <a:solidFill>
                            <a:srgbClr val="000000"/>
                          </a:solidFill>
                          <a:effectLst/>
                          <a:latin typeface="Cambria" panose="02040503050406030204" pitchFamily="18" charset="0"/>
                        </a:rPr>
                        <a:t> </a:t>
                      </a:r>
                      <a:endParaRPr lang="en-GB" sz="900" b="0" i="0">
                        <a:solidFill>
                          <a:srgbClr val="000000"/>
                        </a:solidFill>
                        <a:effectLst/>
                        <a:latin typeface="Segoe UI" panose="020B0502040204020203" pitchFamily="34" charset="0"/>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tc>
                  <a:txBody>
                    <a:bodyPr/>
                    <a:lstStyle/>
                    <a:p>
                      <a:pPr marL="0" marR="0" indent="0" algn="l" rtl="0" fontAlgn="base">
                        <a:buNone/>
                      </a:pPr>
                      <a:r>
                        <a:rPr lang="en-US" sz="1100" b="0" i="0">
                          <a:solidFill>
                            <a:srgbClr val="000000"/>
                          </a:solidFill>
                          <a:effectLst/>
                          <a:latin typeface="Cambria" panose="02040503050406030204" pitchFamily="18" charset="0"/>
                        </a:rPr>
                        <a:t>3.94</a:t>
                      </a:r>
                      <a:r>
                        <a:rPr lang="en-GB" sz="1100" b="0" i="0">
                          <a:solidFill>
                            <a:srgbClr val="000000"/>
                          </a:solidFill>
                          <a:effectLst/>
                          <a:latin typeface="Cambria" panose="02040503050406030204" pitchFamily="18" charset="0"/>
                        </a:rPr>
                        <a:t> </a:t>
                      </a:r>
                      <a:endParaRPr lang="en-GB" sz="900" b="0" i="0">
                        <a:solidFill>
                          <a:srgbClr val="000000"/>
                        </a:solidFill>
                        <a:effectLst/>
                        <a:latin typeface="Segoe UI" panose="020B0502040204020203" pitchFamily="34" charset="0"/>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tc>
                  <a:txBody>
                    <a:bodyPr/>
                    <a:lstStyle/>
                    <a:p>
                      <a:pPr marL="0" marR="0" indent="0" algn="l" rtl="0" fontAlgn="base">
                        <a:buNone/>
                      </a:pPr>
                      <a:r>
                        <a:rPr lang="en-US" sz="1100" b="0" i="0">
                          <a:solidFill>
                            <a:srgbClr val="000000"/>
                          </a:solidFill>
                          <a:effectLst/>
                          <a:latin typeface="Cambria" panose="02040503050406030204" pitchFamily="18" charset="0"/>
                        </a:rPr>
                        <a:t>3.96</a:t>
                      </a:r>
                      <a:r>
                        <a:rPr lang="en-GB" sz="1100" b="0" i="0">
                          <a:solidFill>
                            <a:srgbClr val="000000"/>
                          </a:solidFill>
                          <a:effectLst/>
                          <a:latin typeface="Cambria" panose="02040503050406030204" pitchFamily="18" charset="0"/>
                        </a:rPr>
                        <a:t> </a:t>
                      </a:r>
                      <a:endParaRPr lang="en-GB" sz="900" b="0" i="0">
                        <a:solidFill>
                          <a:srgbClr val="000000"/>
                        </a:solidFill>
                        <a:effectLst/>
                        <a:latin typeface="Segoe UI" panose="020B0502040204020203" pitchFamily="34" charset="0"/>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tc>
                  <a:txBody>
                    <a:bodyPr/>
                    <a:lstStyle/>
                    <a:p>
                      <a:pPr marL="0" marR="0" indent="0" algn="l" rtl="0" fontAlgn="base">
                        <a:buNone/>
                      </a:pPr>
                      <a:r>
                        <a:rPr lang="en-US" sz="1100" b="0" i="0">
                          <a:solidFill>
                            <a:srgbClr val="000000"/>
                          </a:solidFill>
                          <a:effectLst/>
                          <a:latin typeface="Cambria" panose="02040503050406030204" pitchFamily="18" charset="0"/>
                        </a:rPr>
                        <a:t>2.48</a:t>
                      </a:r>
                      <a:r>
                        <a:rPr lang="en-GB" sz="1100" b="0" i="0">
                          <a:solidFill>
                            <a:srgbClr val="000000"/>
                          </a:solidFill>
                          <a:effectLst/>
                          <a:latin typeface="Cambria" panose="02040503050406030204" pitchFamily="18" charset="0"/>
                        </a:rPr>
                        <a:t> </a:t>
                      </a:r>
                      <a:endParaRPr lang="en-GB" sz="900" b="0" i="0">
                        <a:solidFill>
                          <a:srgbClr val="000000"/>
                        </a:solidFill>
                        <a:effectLst/>
                        <a:latin typeface="Segoe UI" panose="020B0502040204020203" pitchFamily="34" charset="0"/>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extLst>
                  <a:ext uri="{0D108BD9-81ED-4DB2-BD59-A6C34878D82A}">
                    <a16:rowId xmlns:a16="http://schemas.microsoft.com/office/drawing/2014/main" val="1313891056"/>
                  </a:ext>
                </a:extLst>
              </a:tr>
              <a:tr h="323850">
                <a:tc>
                  <a:txBody>
                    <a:bodyPr/>
                    <a:lstStyle/>
                    <a:p>
                      <a:pPr marL="0" marR="0" indent="0" algn="l" rtl="0" fontAlgn="base">
                        <a:buNone/>
                      </a:pPr>
                      <a:r>
                        <a:rPr lang="en-US" sz="1100" b="0" i="0">
                          <a:solidFill>
                            <a:srgbClr val="000000"/>
                          </a:solidFill>
                          <a:effectLst/>
                          <a:latin typeface="Cambria" panose="02040503050406030204" pitchFamily="18" charset="0"/>
                        </a:rPr>
                        <a:t>7</a:t>
                      </a:r>
                      <a:r>
                        <a:rPr lang="en-GB" sz="1100" b="0" i="0">
                          <a:solidFill>
                            <a:srgbClr val="000000"/>
                          </a:solidFill>
                          <a:effectLst/>
                          <a:latin typeface="Cambria" panose="02040503050406030204" pitchFamily="18" charset="0"/>
                        </a:rPr>
                        <a:t> </a:t>
                      </a:r>
                      <a:endParaRPr lang="en-GB" sz="900" b="0" i="0">
                        <a:solidFill>
                          <a:srgbClr val="000000"/>
                        </a:solidFill>
                        <a:effectLst/>
                        <a:latin typeface="Segoe UI" panose="020B0502040204020203" pitchFamily="34" charset="0"/>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tc>
                  <a:txBody>
                    <a:bodyPr/>
                    <a:lstStyle/>
                    <a:p>
                      <a:pPr marL="0" marR="0" indent="0" algn="l" rtl="0" fontAlgn="base">
                        <a:buNone/>
                      </a:pPr>
                      <a:r>
                        <a:rPr lang="en-US" sz="1100" b="0" i="0">
                          <a:solidFill>
                            <a:srgbClr val="000000"/>
                          </a:solidFill>
                          <a:effectLst/>
                          <a:latin typeface="Cambria" panose="02040503050406030204" pitchFamily="18" charset="0"/>
                        </a:rPr>
                        <a:t>0.24</a:t>
                      </a:r>
                      <a:r>
                        <a:rPr lang="en-GB" sz="1100" b="0" i="0">
                          <a:solidFill>
                            <a:srgbClr val="000000"/>
                          </a:solidFill>
                          <a:effectLst/>
                          <a:latin typeface="Cambria" panose="02040503050406030204" pitchFamily="18" charset="0"/>
                        </a:rPr>
                        <a:t> </a:t>
                      </a:r>
                      <a:endParaRPr lang="en-GB" sz="900" b="0" i="0">
                        <a:solidFill>
                          <a:srgbClr val="000000"/>
                        </a:solidFill>
                        <a:effectLst/>
                        <a:latin typeface="Segoe UI" panose="020B0502040204020203" pitchFamily="34" charset="0"/>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tc>
                  <a:txBody>
                    <a:bodyPr/>
                    <a:lstStyle/>
                    <a:p>
                      <a:pPr marL="0" marR="0" indent="0" algn="l" rtl="0" fontAlgn="base">
                        <a:buNone/>
                      </a:pPr>
                      <a:r>
                        <a:rPr lang="en-US" sz="1100" b="0" i="0">
                          <a:solidFill>
                            <a:srgbClr val="000000"/>
                          </a:solidFill>
                          <a:effectLst/>
                          <a:latin typeface="Cambria" panose="02040503050406030204" pitchFamily="18" charset="0"/>
                        </a:rPr>
                        <a:t>Very Good</a:t>
                      </a:r>
                      <a:r>
                        <a:rPr lang="en-GB" sz="1100" b="0" i="0">
                          <a:solidFill>
                            <a:srgbClr val="000000"/>
                          </a:solidFill>
                          <a:effectLst/>
                          <a:latin typeface="Cambria" panose="02040503050406030204" pitchFamily="18" charset="0"/>
                        </a:rPr>
                        <a:t> </a:t>
                      </a:r>
                      <a:endParaRPr lang="en-GB" sz="900" b="0" i="0">
                        <a:solidFill>
                          <a:srgbClr val="000000"/>
                        </a:solidFill>
                        <a:effectLst/>
                        <a:latin typeface="Segoe UI" panose="020B0502040204020203" pitchFamily="34" charset="0"/>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tc>
                  <a:txBody>
                    <a:bodyPr/>
                    <a:lstStyle/>
                    <a:p>
                      <a:pPr marL="0" marR="0" indent="0" algn="l" rtl="0" fontAlgn="base">
                        <a:buNone/>
                      </a:pPr>
                      <a:r>
                        <a:rPr lang="en-US" sz="1100" b="0" i="0">
                          <a:solidFill>
                            <a:srgbClr val="000000"/>
                          </a:solidFill>
                          <a:effectLst/>
                          <a:latin typeface="Cambria" panose="02040503050406030204" pitchFamily="18" charset="0"/>
                        </a:rPr>
                        <a:t>I</a:t>
                      </a:r>
                      <a:r>
                        <a:rPr lang="en-GB" sz="1100" b="0" i="0">
                          <a:solidFill>
                            <a:srgbClr val="000000"/>
                          </a:solidFill>
                          <a:effectLst/>
                          <a:latin typeface="Cambria" panose="02040503050406030204" pitchFamily="18" charset="0"/>
                        </a:rPr>
                        <a:t> </a:t>
                      </a:r>
                      <a:endParaRPr lang="en-GB" sz="900" b="0" i="0">
                        <a:solidFill>
                          <a:srgbClr val="000000"/>
                        </a:solidFill>
                        <a:effectLst/>
                        <a:latin typeface="Segoe UI" panose="020B0502040204020203" pitchFamily="34" charset="0"/>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tc>
                  <a:txBody>
                    <a:bodyPr/>
                    <a:lstStyle/>
                    <a:p>
                      <a:pPr marL="0" marR="0" indent="0" algn="l" rtl="0" fontAlgn="base">
                        <a:buNone/>
                      </a:pPr>
                      <a:r>
                        <a:rPr lang="en-US" sz="1100" b="0" i="0">
                          <a:solidFill>
                            <a:srgbClr val="000000"/>
                          </a:solidFill>
                          <a:effectLst/>
                          <a:latin typeface="Cambria" panose="02040503050406030204" pitchFamily="18" charset="0"/>
                        </a:rPr>
                        <a:t>VVS1</a:t>
                      </a:r>
                      <a:r>
                        <a:rPr lang="en-GB" sz="1100" b="0" i="0">
                          <a:solidFill>
                            <a:srgbClr val="000000"/>
                          </a:solidFill>
                          <a:effectLst/>
                          <a:latin typeface="Cambria" panose="02040503050406030204" pitchFamily="18" charset="0"/>
                        </a:rPr>
                        <a:t> </a:t>
                      </a:r>
                      <a:endParaRPr lang="en-GB" sz="900" b="0" i="0">
                        <a:solidFill>
                          <a:srgbClr val="000000"/>
                        </a:solidFill>
                        <a:effectLst/>
                        <a:latin typeface="Segoe UI" panose="020B0502040204020203" pitchFamily="34" charset="0"/>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tc>
                  <a:txBody>
                    <a:bodyPr/>
                    <a:lstStyle/>
                    <a:p>
                      <a:pPr marL="0" marR="0" indent="0" algn="l" rtl="0" fontAlgn="base">
                        <a:buNone/>
                      </a:pPr>
                      <a:r>
                        <a:rPr lang="en-US" sz="1100" b="0" i="0">
                          <a:solidFill>
                            <a:srgbClr val="000000"/>
                          </a:solidFill>
                          <a:effectLst/>
                          <a:latin typeface="Cambria" panose="02040503050406030204" pitchFamily="18" charset="0"/>
                        </a:rPr>
                        <a:t>62.3</a:t>
                      </a:r>
                      <a:r>
                        <a:rPr lang="en-GB" sz="1100" b="0" i="0">
                          <a:solidFill>
                            <a:srgbClr val="000000"/>
                          </a:solidFill>
                          <a:effectLst/>
                          <a:latin typeface="Cambria" panose="02040503050406030204" pitchFamily="18" charset="0"/>
                        </a:rPr>
                        <a:t> </a:t>
                      </a:r>
                      <a:endParaRPr lang="en-GB" sz="900" b="0" i="0">
                        <a:solidFill>
                          <a:srgbClr val="000000"/>
                        </a:solidFill>
                        <a:effectLst/>
                        <a:latin typeface="Segoe UI" panose="020B0502040204020203" pitchFamily="34" charset="0"/>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tc>
                  <a:txBody>
                    <a:bodyPr/>
                    <a:lstStyle/>
                    <a:p>
                      <a:pPr marL="0" marR="0" indent="0" algn="l" rtl="0" fontAlgn="base">
                        <a:buNone/>
                      </a:pPr>
                      <a:r>
                        <a:rPr lang="en-US" sz="1100" b="0" i="0">
                          <a:solidFill>
                            <a:srgbClr val="000000"/>
                          </a:solidFill>
                          <a:effectLst/>
                          <a:latin typeface="Cambria" panose="02040503050406030204" pitchFamily="18" charset="0"/>
                        </a:rPr>
                        <a:t>57</a:t>
                      </a:r>
                      <a:r>
                        <a:rPr lang="en-GB" sz="1100" b="0" i="0">
                          <a:solidFill>
                            <a:srgbClr val="000000"/>
                          </a:solidFill>
                          <a:effectLst/>
                          <a:latin typeface="Cambria" panose="02040503050406030204" pitchFamily="18" charset="0"/>
                        </a:rPr>
                        <a:t> </a:t>
                      </a:r>
                      <a:endParaRPr lang="en-GB" sz="900" b="0" i="0">
                        <a:solidFill>
                          <a:srgbClr val="000000"/>
                        </a:solidFill>
                        <a:effectLst/>
                        <a:latin typeface="Segoe UI" panose="020B0502040204020203" pitchFamily="34" charset="0"/>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tc>
                  <a:txBody>
                    <a:bodyPr/>
                    <a:lstStyle/>
                    <a:p>
                      <a:pPr marL="0" marR="0" indent="0" algn="l" rtl="0" fontAlgn="base">
                        <a:buNone/>
                      </a:pPr>
                      <a:r>
                        <a:rPr lang="en-US" sz="1100" b="0" i="0">
                          <a:solidFill>
                            <a:srgbClr val="000000"/>
                          </a:solidFill>
                          <a:effectLst/>
                          <a:latin typeface="Cambria" panose="02040503050406030204" pitchFamily="18" charset="0"/>
                        </a:rPr>
                        <a:t>336</a:t>
                      </a:r>
                      <a:r>
                        <a:rPr lang="en-GB" sz="1100" b="0" i="0">
                          <a:solidFill>
                            <a:srgbClr val="000000"/>
                          </a:solidFill>
                          <a:effectLst/>
                          <a:latin typeface="Cambria" panose="02040503050406030204" pitchFamily="18" charset="0"/>
                        </a:rPr>
                        <a:t> </a:t>
                      </a:r>
                      <a:endParaRPr lang="en-GB" sz="900" b="0" i="0">
                        <a:solidFill>
                          <a:srgbClr val="000000"/>
                        </a:solidFill>
                        <a:effectLst/>
                        <a:latin typeface="Segoe UI" panose="020B0502040204020203" pitchFamily="34" charset="0"/>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tc>
                  <a:txBody>
                    <a:bodyPr/>
                    <a:lstStyle/>
                    <a:p>
                      <a:pPr marL="0" marR="0" indent="0" algn="l" rtl="0" fontAlgn="base">
                        <a:buNone/>
                      </a:pPr>
                      <a:r>
                        <a:rPr lang="en-US" sz="1100" b="0" i="0">
                          <a:solidFill>
                            <a:srgbClr val="000000"/>
                          </a:solidFill>
                          <a:effectLst/>
                          <a:latin typeface="Cambria" panose="02040503050406030204" pitchFamily="18" charset="0"/>
                        </a:rPr>
                        <a:t>3.95</a:t>
                      </a:r>
                      <a:r>
                        <a:rPr lang="en-GB" sz="1100" b="0" i="0">
                          <a:solidFill>
                            <a:srgbClr val="000000"/>
                          </a:solidFill>
                          <a:effectLst/>
                          <a:latin typeface="Cambria" panose="02040503050406030204" pitchFamily="18" charset="0"/>
                        </a:rPr>
                        <a:t> </a:t>
                      </a:r>
                      <a:endParaRPr lang="en-GB" sz="900" b="0" i="0">
                        <a:solidFill>
                          <a:srgbClr val="000000"/>
                        </a:solidFill>
                        <a:effectLst/>
                        <a:latin typeface="Segoe UI" panose="020B0502040204020203" pitchFamily="34" charset="0"/>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tc>
                  <a:txBody>
                    <a:bodyPr/>
                    <a:lstStyle/>
                    <a:p>
                      <a:pPr marL="0" marR="0" indent="0" algn="l" rtl="0" fontAlgn="base">
                        <a:buNone/>
                      </a:pPr>
                      <a:r>
                        <a:rPr lang="en-US" sz="1100" b="0" i="0">
                          <a:solidFill>
                            <a:srgbClr val="000000"/>
                          </a:solidFill>
                          <a:effectLst/>
                          <a:latin typeface="Cambria" panose="02040503050406030204" pitchFamily="18" charset="0"/>
                        </a:rPr>
                        <a:t>3.98</a:t>
                      </a:r>
                      <a:r>
                        <a:rPr lang="en-GB" sz="1100" b="0" i="0">
                          <a:solidFill>
                            <a:srgbClr val="000000"/>
                          </a:solidFill>
                          <a:effectLst/>
                          <a:latin typeface="Cambria" panose="02040503050406030204" pitchFamily="18" charset="0"/>
                        </a:rPr>
                        <a:t> </a:t>
                      </a:r>
                      <a:endParaRPr lang="en-GB" sz="900" b="0" i="0">
                        <a:solidFill>
                          <a:srgbClr val="000000"/>
                        </a:solidFill>
                        <a:effectLst/>
                        <a:latin typeface="Segoe UI" panose="020B0502040204020203" pitchFamily="34" charset="0"/>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tc>
                  <a:txBody>
                    <a:bodyPr/>
                    <a:lstStyle/>
                    <a:p>
                      <a:pPr marL="0" marR="0" indent="0" algn="l" rtl="0" fontAlgn="base">
                        <a:buNone/>
                      </a:pPr>
                      <a:r>
                        <a:rPr lang="en-US" sz="1100" b="0" i="0">
                          <a:solidFill>
                            <a:srgbClr val="000000"/>
                          </a:solidFill>
                          <a:effectLst/>
                          <a:latin typeface="Cambria" panose="02040503050406030204" pitchFamily="18" charset="0"/>
                        </a:rPr>
                        <a:t>2.47</a:t>
                      </a:r>
                      <a:r>
                        <a:rPr lang="en-GB" sz="1100" b="0" i="0">
                          <a:solidFill>
                            <a:srgbClr val="000000"/>
                          </a:solidFill>
                          <a:effectLst/>
                          <a:latin typeface="Cambria" panose="02040503050406030204" pitchFamily="18" charset="0"/>
                        </a:rPr>
                        <a:t> </a:t>
                      </a:r>
                      <a:endParaRPr lang="en-GB" sz="900" b="0" i="0">
                        <a:solidFill>
                          <a:srgbClr val="000000"/>
                        </a:solidFill>
                        <a:effectLst/>
                        <a:latin typeface="Segoe UI" panose="020B0502040204020203" pitchFamily="34" charset="0"/>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extLst>
                  <a:ext uri="{0D108BD9-81ED-4DB2-BD59-A6C34878D82A}">
                    <a16:rowId xmlns:a16="http://schemas.microsoft.com/office/drawing/2014/main" val="1931321865"/>
                  </a:ext>
                </a:extLst>
              </a:tr>
              <a:tr h="323850">
                <a:tc>
                  <a:txBody>
                    <a:bodyPr/>
                    <a:lstStyle/>
                    <a:p>
                      <a:pPr marL="0" marR="0" indent="0" algn="l" rtl="0" fontAlgn="base">
                        <a:buNone/>
                      </a:pPr>
                      <a:r>
                        <a:rPr lang="en-US" sz="1100" b="0" i="0">
                          <a:solidFill>
                            <a:srgbClr val="000000"/>
                          </a:solidFill>
                          <a:effectLst/>
                          <a:latin typeface="Cambria" panose="02040503050406030204" pitchFamily="18" charset="0"/>
                        </a:rPr>
                        <a:t>8</a:t>
                      </a:r>
                      <a:r>
                        <a:rPr lang="en-GB" sz="1100" b="0" i="0">
                          <a:solidFill>
                            <a:srgbClr val="000000"/>
                          </a:solidFill>
                          <a:effectLst/>
                          <a:latin typeface="Cambria" panose="02040503050406030204" pitchFamily="18" charset="0"/>
                        </a:rPr>
                        <a:t> </a:t>
                      </a:r>
                      <a:endParaRPr lang="en-GB" sz="900" b="0" i="0">
                        <a:solidFill>
                          <a:srgbClr val="000000"/>
                        </a:solidFill>
                        <a:effectLst/>
                        <a:latin typeface="Segoe UI" panose="020B0502040204020203" pitchFamily="34" charset="0"/>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tc>
                  <a:txBody>
                    <a:bodyPr/>
                    <a:lstStyle/>
                    <a:p>
                      <a:pPr marL="0" marR="0" indent="0" algn="l" rtl="0" fontAlgn="base">
                        <a:buNone/>
                      </a:pPr>
                      <a:r>
                        <a:rPr lang="en-US" sz="1100" b="0" i="0">
                          <a:solidFill>
                            <a:srgbClr val="000000"/>
                          </a:solidFill>
                          <a:effectLst/>
                          <a:latin typeface="Cambria" panose="02040503050406030204" pitchFamily="18" charset="0"/>
                        </a:rPr>
                        <a:t>0.26</a:t>
                      </a:r>
                      <a:r>
                        <a:rPr lang="en-GB" sz="1100" b="0" i="0">
                          <a:solidFill>
                            <a:srgbClr val="000000"/>
                          </a:solidFill>
                          <a:effectLst/>
                          <a:latin typeface="Cambria" panose="02040503050406030204" pitchFamily="18" charset="0"/>
                        </a:rPr>
                        <a:t> </a:t>
                      </a:r>
                      <a:endParaRPr lang="en-GB" sz="900" b="0" i="0">
                        <a:solidFill>
                          <a:srgbClr val="000000"/>
                        </a:solidFill>
                        <a:effectLst/>
                        <a:latin typeface="Segoe UI" panose="020B0502040204020203" pitchFamily="34" charset="0"/>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tc>
                  <a:txBody>
                    <a:bodyPr/>
                    <a:lstStyle/>
                    <a:p>
                      <a:pPr marL="0" marR="0" indent="0" algn="l" rtl="0" fontAlgn="base">
                        <a:buNone/>
                      </a:pPr>
                      <a:r>
                        <a:rPr lang="en-US" sz="1100" b="0" i="0">
                          <a:solidFill>
                            <a:srgbClr val="000000"/>
                          </a:solidFill>
                          <a:effectLst/>
                          <a:latin typeface="Cambria" panose="02040503050406030204" pitchFamily="18" charset="0"/>
                        </a:rPr>
                        <a:t>Very Good</a:t>
                      </a:r>
                      <a:r>
                        <a:rPr lang="en-GB" sz="1100" b="0" i="0">
                          <a:solidFill>
                            <a:srgbClr val="000000"/>
                          </a:solidFill>
                          <a:effectLst/>
                          <a:latin typeface="Cambria" panose="02040503050406030204" pitchFamily="18" charset="0"/>
                        </a:rPr>
                        <a:t> </a:t>
                      </a:r>
                      <a:endParaRPr lang="en-GB" sz="900" b="0" i="0">
                        <a:solidFill>
                          <a:srgbClr val="000000"/>
                        </a:solidFill>
                        <a:effectLst/>
                        <a:latin typeface="Segoe UI" panose="020B0502040204020203" pitchFamily="34" charset="0"/>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tc>
                  <a:txBody>
                    <a:bodyPr/>
                    <a:lstStyle/>
                    <a:p>
                      <a:pPr marL="0" marR="0" indent="0" algn="l" rtl="0" fontAlgn="base">
                        <a:buNone/>
                      </a:pPr>
                      <a:r>
                        <a:rPr lang="en-US" sz="1100" b="0" i="0">
                          <a:solidFill>
                            <a:srgbClr val="000000"/>
                          </a:solidFill>
                          <a:effectLst/>
                          <a:latin typeface="Cambria" panose="02040503050406030204" pitchFamily="18" charset="0"/>
                        </a:rPr>
                        <a:t>H</a:t>
                      </a:r>
                      <a:r>
                        <a:rPr lang="en-GB" sz="1100" b="0" i="0">
                          <a:solidFill>
                            <a:srgbClr val="000000"/>
                          </a:solidFill>
                          <a:effectLst/>
                          <a:latin typeface="Cambria" panose="02040503050406030204" pitchFamily="18" charset="0"/>
                        </a:rPr>
                        <a:t> </a:t>
                      </a:r>
                      <a:endParaRPr lang="en-GB" sz="900" b="0" i="0">
                        <a:solidFill>
                          <a:srgbClr val="000000"/>
                        </a:solidFill>
                        <a:effectLst/>
                        <a:latin typeface="Segoe UI" panose="020B0502040204020203" pitchFamily="34" charset="0"/>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tc>
                  <a:txBody>
                    <a:bodyPr/>
                    <a:lstStyle/>
                    <a:p>
                      <a:pPr marL="0" marR="0" indent="0" algn="l" rtl="0" fontAlgn="base">
                        <a:buNone/>
                      </a:pPr>
                      <a:r>
                        <a:rPr lang="en-US" sz="1100" b="0" i="0">
                          <a:solidFill>
                            <a:srgbClr val="000000"/>
                          </a:solidFill>
                          <a:effectLst/>
                          <a:latin typeface="Cambria" panose="02040503050406030204" pitchFamily="18" charset="0"/>
                        </a:rPr>
                        <a:t>SI1</a:t>
                      </a:r>
                      <a:r>
                        <a:rPr lang="en-GB" sz="1100" b="0" i="0">
                          <a:solidFill>
                            <a:srgbClr val="000000"/>
                          </a:solidFill>
                          <a:effectLst/>
                          <a:latin typeface="Cambria" panose="02040503050406030204" pitchFamily="18" charset="0"/>
                        </a:rPr>
                        <a:t> </a:t>
                      </a:r>
                      <a:endParaRPr lang="en-GB" sz="900" b="0" i="0">
                        <a:solidFill>
                          <a:srgbClr val="000000"/>
                        </a:solidFill>
                        <a:effectLst/>
                        <a:latin typeface="Segoe UI" panose="020B0502040204020203" pitchFamily="34" charset="0"/>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tc>
                  <a:txBody>
                    <a:bodyPr/>
                    <a:lstStyle/>
                    <a:p>
                      <a:pPr marL="0" marR="0" indent="0" algn="l" rtl="0" fontAlgn="base">
                        <a:buNone/>
                      </a:pPr>
                      <a:r>
                        <a:rPr lang="en-US" sz="1100" b="0" i="0">
                          <a:solidFill>
                            <a:srgbClr val="000000"/>
                          </a:solidFill>
                          <a:effectLst/>
                          <a:latin typeface="Cambria" panose="02040503050406030204" pitchFamily="18" charset="0"/>
                        </a:rPr>
                        <a:t>61.9</a:t>
                      </a:r>
                      <a:r>
                        <a:rPr lang="en-GB" sz="1100" b="0" i="0">
                          <a:solidFill>
                            <a:srgbClr val="000000"/>
                          </a:solidFill>
                          <a:effectLst/>
                          <a:latin typeface="Cambria" panose="02040503050406030204" pitchFamily="18" charset="0"/>
                        </a:rPr>
                        <a:t> </a:t>
                      </a:r>
                      <a:endParaRPr lang="en-GB" sz="900" b="0" i="0">
                        <a:solidFill>
                          <a:srgbClr val="000000"/>
                        </a:solidFill>
                        <a:effectLst/>
                        <a:latin typeface="Segoe UI" panose="020B0502040204020203" pitchFamily="34" charset="0"/>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tc>
                  <a:txBody>
                    <a:bodyPr/>
                    <a:lstStyle/>
                    <a:p>
                      <a:pPr marL="0" marR="0" indent="0" algn="l" rtl="0" fontAlgn="base">
                        <a:buNone/>
                      </a:pPr>
                      <a:r>
                        <a:rPr lang="en-US" sz="1100" b="0" i="0">
                          <a:solidFill>
                            <a:srgbClr val="000000"/>
                          </a:solidFill>
                          <a:effectLst/>
                          <a:latin typeface="Cambria" panose="02040503050406030204" pitchFamily="18" charset="0"/>
                        </a:rPr>
                        <a:t>55</a:t>
                      </a:r>
                      <a:r>
                        <a:rPr lang="en-GB" sz="1100" b="0" i="0">
                          <a:solidFill>
                            <a:srgbClr val="000000"/>
                          </a:solidFill>
                          <a:effectLst/>
                          <a:latin typeface="Cambria" panose="02040503050406030204" pitchFamily="18" charset="0"/>
                        </a:rPr>
                        <a:t> </a:t>
                      </a:r>
                      <a:endParaRPr lang="en-GB" sz="900" b="0" i="0">
                        <a:solidFill>
                          <a:srgbClr val="000000"/>
                        </a:solidFill>
                        <a:effectLst/>
                        <a:latin typeface="Segoe UI" panose="020B0502040204020203" pitchFamily="34" charset="0"/>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tc>
                  <a:txBody>
                    <a:bodyPr/>
                    <a:lstStyle/>
                    <a:p>
                      <a:pPr marL="0" marR="0" indent="0" algn="l" rtl="0" fontAlgn="base">
                        <a:buNone/>
                      </a:pPr>
                      <a:r>
                        <a:rPr lang="en-US" sz="1100" b="0" i="0">
                          <a:solidFill>
                            <a:srgbClr val="000000"/>
                          </a:solidFill>
                          <a:effectLst/>
                          <a:latin typeface="Cambria" panose="02040503050406030204" pitchFamily="18" charset="0"/>
                        </a:rPr>
                        <a:t>337</a:t>
                      </a:r>
                      <a:r>
                        <a:rPr lang="en-GB" sz="1100" b="0" i="0">
                          <a:solidFill>
                            <a:srgbClr val="000000"/>
                          </a:solidFill>
                          <a:effectLst/>
                          <a:latin typeface="Cambria" panose="02040503050406030204" pitchFamily="18" charset="0"/>
                        </a:rPr>
                        <a:t> </a:t>
                      </a:r>
                      <a:endParaRPr lang="en-GB" sz="900" b="0" i="0">
                        <a:solidFill>
                          <a:srgbClr val="000000"/>
                        </a:solidFill>
                        <a:effectLst/>
                        <a:latin typeface="Segoe UI" panose="020B0502040204020203" pitchFamily="34" charset="0"/>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tc>
                  <a:txBody>
                    <a:bodyPr/>
                    <a:lstStyle/>
                    <a:p>
                      <a:pPr marL="0" marR="0" indent="0" algn="l" rtl="0" fontAlgn="base">
                        <a:buNone/>
                      </a:pPr>
                      <a:r>
                        <a:rPr lang="en-US" sz="1100" b="0" i="0">
                          <a:solidFill>
                            <a:srgbClr val="000000"/>
                          </a:solidFill>
                          <a:effectLst/>
                          <a:latin typeface="Cambria" panose="02040503050406030204" pitchFamily="18" charset="0"/>
                        </a:rPr>
                        <a:t>4.07</a:t>
                      </a:r>
                      <a:r>
                        <a:rPr lang="en-GB" sz="1100" b="0" i="0">
                          <a:solidFill>
                            <a:srgbClr val="000000"/>
                          </a:solidFill>
                          <a:effectLst/>
                          <a:latin typeface="Cambria" panose="02040503050406030204" pitchFamily="18" charset="0"/>
                        </a:rPr>
                        <a:t> </a:t>
                      </a:r>
                      <a:endParaRPr lang="en-GB" sz="900" b="0" i="0">
                        <a:solidFill>
                          <a:srgbClr val="000000"/>
                        </a:solidFill>
                        <a:effectLst/>
                        <a:latin typeface="Segoe UI" panose="020B0502040204020203" pitchFamily="34" charset="0"/>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tc>
                  <a:txBody>
                    <a:bodyPr/>
                    <a:lstStyle/>
                    <a:p>
                      <a:pPr marL="0" marR="0" indent="0" algn="l" rtl="0" fontAlgn="base">
                        <a:buNone/>
                      </a:pPr>
                      <a:r>
                        <a:rPr lang="en-US" sz="1100" b="0" i="0">
                          <a:solidFill>
                            <a:srgbClr val="000000"/>
                          </a:solidFill>
                          <a:effectLst/>
                          <a:latin typeface="Cambria" panose="02040503050406030204" pitchFamily="18" charset="0"/>
                        </a:rPr>
                        <a:t>4.11</a:t>
                      </a:r>
                      <a:r>
                        <a:rPr lang="en-GB" sz="1100" b="0" i="0">
                          <a:solidFill>
                            <a:srgbClr val="000000"/>
                          </a:solidFill>
                          <a:effectLst/>
                          <a:latin typeface="Cambria" panose="02040503050406030204" pitchFamily="18" charset="0"/>
                        </a:rPr>
                        <a:t> </a:t>
                      </a:r>
                      <a:endParaRPr lang="en-GB" sz="900" b="0" i="0">
                        <a:solidFill>
                          <a:srgbClr val="000000"/>
                        </a:solidFill>
                        <a:effectLst/>
                        <a:latin typeface="Segoe UI" panose="020B0502040204020203" pitchFamily="34" charset="0"/>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tc>
                  <a:txBody>
                    <a:bodyPr/>
                    <a:lstStyle/>
                    <a:p>
                      <a:pPr marL="0" marR="0" indent="0" algn="l" rtl="0" fontAlgn="base">
                        <a:buNone/>
                      </a:pPr>
                      <a:r>
                        <a:rPr lang="en-US" sz="1100" b="0" i="0">
                          <a:solidFill>
                            <a:srgbClr val="000000"/>
                          </a:solidFill>
                          <a:effectLst/>
                          <a:latin typeface="Cambria" panose="02040503050406030204" pitchFamily="18" charset="0"/>
                        </a:rPr>
                        <a:t>2.53</a:t>
                      </a:r>
                      <a:r>
                        <a:rPr lang="en-GB" sz="1100" b="0" i="0">
                          <a:solidFill>
                            <a:srgbClr val="000000"/>
                          </a:solidFill>
                          <a:effectLst/>
                          <a:latin typeface="Cambria" panose="02040503050406030204" pitchFamily="18" charset="0"/>
                        </a:rPr>
                        <a:t> </a:t>
                      </a:r>
                      <a:endParaRPr lang="en-GB" sz="900" b="0" i="0">
                        <a:solidFill>
                          <a:srgbClr val="000000"/>
                        </a:solidFill>
                        <a:effectLst/>
                        <a:latin typeface="Segoe UI" panose="020B0502040204020203" pitchFamily="34" charset="0"/>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extLst>
                  <a:ext uri="{0D108BD9-81ED-4DB2-BD59-A6C34878D82A}">
                    <a16:rowId xmlns:a16="http://schemas.microsoft.com/office/drawing/2014/main" val="3281969589"/>
                  </a:ext>
                </a:extLst>
              </a:tr>
              <a:tr h="323850">
                <a:tc>
                  <a:txBody>
                    <a:bodyPr/>
                    <a:lstStyle/>
                    <a:p>
                      <a:pPr marL="0" marR="0" indent="0" algn="l" rtl="0" fontAlgn="base">
                        <a:buNone/>
                      </a:pPr>
                      <a:r>
                        <a:rPr lang="en-US" sz="1100" b="0" i="0">
                          <a:solidFill>
                            <a:srgbClr val="000000"/>
                          </a:solidFill>
                          <a:effectLst/>
                          <a:latin typeface="Cambria" panose="02040503050406030204" pitchFamily="18" charset="0"/>
                        </a:rPr>
                        <a:t>9</a:t>
                      </a:r>
                      <a:r>
                        <a:rPr lang="en-GB" sz="1100" b="0" i="0">
                          <a:solidFill>
                            <a:srgbClr val="000000"/>
                          </a:solidFill>
                          <a:effectLst/>
                          <a:latin typeface="Cambria" panose="02040503050406030204" pitchFamily="18" charset="0"/>
                        </a:rPr>
                        <a:t> </a:t>
                      </a:r>
                      <a:endParaRPr lang="en-GB" sz="900" b="0" i="0">
                        <a:solidFill>
                          <a:srgbClr val="000000"/>
                        </a:solidFill>
                        <a:effectLst/>
                        <a:latin typeface="Segoe UI" panose="020B0502040204020203" pitchFamily="34" charset="0"/>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tc>
                  <a:txBody>
                    <a:bodyPr/>
                    <a:lstStyle/>
                    <a:p>
                      <a:pPr marL="0" marR="0" indent="0" algn="l" rtl="0" fontAlgn="base">
                        <a:buNone/>
                      </a:pPr>
                      <a:r>
                        <a:rPr lang="en-US" sz="1100" b="0" i="0">
                          <a:solidFill>
                            <a:srgbClr val="000000"/>
                          </a:solidFill>
                          <a:effectLst/>
                          <a:latin typeface="Cambria" panose="02040503050406030204" pitchFamily="18" charset="0"/>
                        </a:rPr>
                        <a:t>0.22</a:t>
                      </a:r>
                      <a:r>
                        <a:rPr lang="en-GB" sz="1100" b="0" i="0">
                          <a:solidFill>
                            <a:srgbClr val="000000"/>
                          </a:solidFill>
                          <a:effectLst/>
                          <a:latin typeface="Cambria" panose="02040503050406030204" pitchFamily="18" charset="0"/>
                        </a:rPr>
                        <a:t> </a:t>
                      </a:r>
                      <a:endParaRPr lang="en-GB" sz="900" b="0" i="0">
                        <a:solidFill>
                          <a:srgbClr val="000000"/>
                        </a:solidFill>
                        <a:effectLst/>
                        <a:latin typeface="Segoe UI" panose="020B0502040204020203" pitchFamily="34" charset="0"/>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tc>
                  <a:txBody>
                    <a:bodyPr/>
                    <a:lstStyle/>
                    <a:p>
                      <a:pPr marL="0" marR="0" indent="0" algn="l" rtl="0" fontAlgn="base">
                        <a:buNone/>
                      </a:pPr>
                      <a:r>
                        <a:rPr lang="en-US" sz="1100" b="0" i="0">
                          <a:solidFill>
                            <a:srgbClr val="000000"/>
                          </a:solidFill>
                          <a:effectLst/>
                          <a:latin typeface="Cambria" panose="02040503050406030204" pitchFamily="18" charset="0"/>
                        </a:rPr>
                        <a:t>Fair</a:t>
                      </a:r>
                      <a:r>
                        <a:rPr lang="en-GB" sz="1100" b="0" i="0">
                          <a:solidFill>
                            <a:srgbClr val="000000"/>
                          </a:solidFill>
                          <a:effectLst/>
                          <a:latin typeface="Cambria" panose="02040503050406030204" pitchFamily="18" charset="0"/>
                        </a:rPr>
                        <a:t> </a:t>
                      </a:r>
                      <a:endParaRPr lang="en-GB" sz="900" b="0" i="0">
                        <a:solidFill>
                          <a:srgbClr val="000000"/>
                        </a:solidFill>
                        <a:effectLst/>
                        <a:latin typeface="Segoe UI" panose="020B0502040204020203" pitchFamily="34" charset="0"/>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tc>
                  <a:txBody>
                    <a:bodyPr/>
                    <a:lstStyle/>
                    <a:p>
                      <a:pPr marL="0" marR="0" indent="0" algn="l" rtl="0" fontAlgn="base">
                        <a:buNone/>
                      </a:pPr>
                      <a:r>
                        <a:rPr lang="en-US" sz="1100" b="0" i="0">
                          <a:solidFill>
                            <a:srgbClr val="000000"/>
                          </a:solidFill>
                          <a:effectLst/>
                          <a:latin typeface="Cambria" panose="02040503050406030204" pitchFamily="18" charset="0"/>
                        </a:rPr>
                        <a:t>E</a:t>
                      </a:r>
                      <a:r>
                        <a:rPr lang="en-GB" sz="1100" b="0" i="0">
                          <a:solidFill>
                            <a:srgbClr val="000000"/>
                          </a:solidFill>
                          <a:effectLst/>
                          <a:latin typeface="Cambria" panose="02040503050406030204" pitchFamily="18" charset="0"/>
                        </a:rPr>
                        <a:t> </a:t>
                      </a:r>
                      <a:endParaRPr lang="en-GB" sz="900" b="0" i="0">
                        <a:solidFill>
                          <a:srgbClr val="000000"/>
                        </a:solidFill>
                        <a:effectLst/>
                        <a:latin typeface="Segoe UI" panose="020B0502040204020203" pitchFamily="34" charset="0"/>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tc>
                  <a:txBody>
                    <a:bodyPr/>
                    <a:lstStyle/>
                    <a:p>
                      <a:pPr marL="0" marR="0" indent="0" algn="l" rtl="0" fontAlgn="base">
                        <a:buNone/>
                      </a:pPr>
                      <a:r>
                        <a:rPr lang="en-US" sz="1100" b="0" i="0">
                          <a:solidFill>
                            <a:srgbClr val="000000"/>
                          </a:solidFill>
                          <a:effectLst/>
                          <a:latin typeface="Cambria" panose="02040503050406030204" pitchFamily="18" charset="0"/>
                        </a:rPr>
                        <a:t>VS2</a:t>
                      </a:r>
                      <a:r>
                        <a:rPr lang="en-GB" sz="1100" b="0" i="0">
                          <a:solidFill>
                            <a:srgbClr val="000000"/>
                          </a:solidFill>
                          <a:effectLst/>
                          <a:latin typeface="Cambria" panose="02040503050406030204" pitchFamily="18" charset="0"/>
                        </a:rPr>
                        <a:t> </a:t>
                      </a:r>
                      <a:endParaRPr lang="en-GB" sz="900" b="0" i="0">
                        <a:solidFill>
                          <a:srgbClr val="000000"/>
                        </a:solidFill>
                        <a:effectLst/>
                        <a:latin typeface="Segoe UI" panose="020B0502040204020203" pitchFamily="34" charset="0"/>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tc>
                  <a:txBody>
                    <a:bodyPr/>
                    <a:lstStyle/>
                    <a:p>
                      <a:pPr marL="0" marR="0" indent="0" algn="l" rtl="0" fontAlgn="base">
                        <a:buNone/>
                      </a:pPr>
                      <a:r>
                        <a:rPr lang="en-US" sz="1100" b="0" i="0">
                          <a:solidFill>
                            <a:srgbClr val="000000"/>
                          </a:solidFill>
                          <a:effectLst/>
                          <a:latin typeface="Cambria" panose="02040503050406030204" pitchFamily="18" charset="0"/>
                        </a:rPr>
                        <a:t>65.1</a:t>
                      </a:r>
                      <a:r>
                        <a:rPr lang="en-GB" sz="1100" b="0" i="0">
                          <a:solidFill>
                            <a:srgbClr val="000000"/>
                          </a:solidFill>
                          <a:effectLst/>
                          <a:latin typeface="Cambria" panose="02040503050406030204" pitchFamily="18" charset="0"/>
                        </a:rPr>
                        <a:t> </a:t>
                      </a:r>
                      <a:endParaRPr lang="en-GB" sz="900" b="0" i="0">
                        <a:solidFill>
                          <a:srgbClr val="000000"/>
                        </a:solidFill>
                        <a:effectLst/>
                        <a:latin typeface="Segoe UI" panose="020B0502040204020203" pitchFamily="34" charset="0"/>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tc>
                  <a:txBody>
                    <a:bodyPr/>
                    <a:lstStyle/>
                    <a:p>
                      <a:pPr marL="0" marR="0" indent="0" algn="l" rtl="0" fontAlgn="base">
                        <a:buNone/>
                      </a:pPr>
                      <a:r>
                        <a:rPr lang="en-US" sz="1100" b="0" i="0">
                          <a:solidFill>
                            <a:srgbClr val="000000"/>
                          </a:solidFill>
                          <a:effectLst/>
                          <a:latin typeface="Cambria" panose="02040503050406030204" pitchFamily="18" charset="0"/>
                        </a:rPr>
                        <a:t>61</a:t>
                      </a:r>
                      <a:r>
                        <a:rPr lang="en-GB" sz="1100" b="0" i="0">
                          <a:solidFill>
                            <a:srgbClr val="000000"/>
                          </a:solidFill>
                          <a:effectLst/>
                          <a:latin typeface="Cambria" panose="02040503050406030204" pitchFamily="18" charset="0"/>
                        </a:rPr>
                        <a:t> </a:t>
                      </a:r>
                      <a:endParaRPr lang="en-GB" sz="900" b="0" i="0">
                        <a:solidFill>
                          <a:srgbClr val="000000"/>
                        </a:solidFill>
                        <a:effectLst/>
                        <a:latin typeface="Segoe UI" panose="020B0502040204020203" pitchFamily="34" charset="0"/>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tc>
                  <a:txBody>
                    <a:bodyPr/>
                    <a:lstStyle/>
                    <a:p>
                      <a:pPr marL="0" marR="0" indent="0" algn="l" rtl="0" fontAlgn="base">
                        <a:buNone/>
                      </a:pPr>
                      <a:r>
                        <a:rPr lang="en-US" sz="1100" b="0" i="0">
                          <a:solidFill>
                            <a:srgbClr val="000000"/>
                          </a:solidFill>
                          <a:effectLst/>
                          <a:latin typeface="Cambria" panose="02040503050406030204" pitchFamily="18" charset="0"/>
                        </a:rPr>
                        <a:t>337</a:t>
                      </a:r>
                      <a:r>
                        <a:rPr lang="en-GB" sz="1100" b="0" i="0">
                          <a:solidFill>
                            <a:srgbClr val="000000"/>
                          </a:solidFill>
                          <a:effectLst/>
                          <a:latin typeface="Cambria" panose="02040503050406030204" pitchFamily="18" charset="0"/>
                        </a:rPr>
                        <a:t> </a:t>
                      </a:r>
                      <a:endParaRPr lang="en-GB" sz="900" b="0" i="0">
                        <a:solidFill>
                          <a:srgbClr val="000000"/>
                        </a:solidFill>
                        <a:effectLst/>
                        <a:latin typeface="Segoe UI" panose="020B0502040204020203" pitchFamily="34" charset="0"/>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tc>
                  <a:txBody>
                    <a:bodyPr/>
                    <a:lstStyle/>
                    <a:p>
                      <a:pPr marL="0" marR="0" indent="0" algn="l" rtl="0" fontAlgn="base">
                        <a:buNone/>
                      </a:pPr>
                      <a:r>
                        <a:rPr lang="en-US" sz="1100" b="0" i="0">
                          <a:solidFill>
                            <a:srgbClr val="000000"/>
                          </a:solidFill>
                          <a:effectLst/>
                          <a:latin typeface="Cambria" panose="02040503050406030204" pitchFamily="18" charset="0"/>
                        </a:rPr>
                        <a:t>3.87</a:t>
                      </a:r>
                      <a:r>
                        <a:rPr lang="en-GB" sz="1100" b="0" i="0">
                          <a:solidFill>
                            <a:srgbClr val="000000"/>
                          </a:solidFill>
                          <a:effectLst/>
                          <a:latin typeface="Cambria" panose="02040503050406030204" pitchFamily="18" charset="0"/>
                        </a:rPr>
                        <a:t> </a:t>
                      </a:r>
                      <a:endParaRPr lang="en-GB" sz="900" b="0" i="0">
                        <a:solidFill>
                          <a:srgbClr val="000000"/>
                        </a:solidFill>
                        <a:effectLst/>
                        <a:latin typeface="Segoe UI" panose="020B0502040204020203" pitchFamily="34" charset="0"/>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tc>
                  <a:txBody>
                    <a:bodyPr/>
                    <a:lstStyle/>
                    <a:p>
                      <a:pPr marL="0" marR="0" indent="0" algn="l" rtl="0" fontAlgn="base">
                        <a:buNone/>
                      </a:pPr>
                      <a:r>
                        <a:rPr lang="en-US" sz="1100" b="0" i="0">
                          <a:solidFill>
                            <a:srgbClr val="000000"/>
                          </a:solidFill>
                          <a:effectLst/>
                          <a:latin typeface="Cambria" panose="02040503050406030204" pitchFamily="18" charset="0"/>
                        </a:rPr>
                        <a:t>3.78</a:t>
                      </a:r>
                      <a:r>
                        <a:rPr lang="en-GB" sz="1100" b="0" i="0">
                          <a:solidFill>
                            <a:srgbClr val="000000"/>
                          </a:solidFill>
                          <a:effectLst/>
                          <a:latin typeface="Cambria" panose="02040503050406030204" pitchFamily="18" charset="0"/>
                        </a:rPr>
                        <a:t> </a:t>
                      </a:r>
                      <a:endParaRPr lang="en-GB" sz="900" b="0" i="0">
                        <a:solidFill>
                          <a:srgbClr val="000000"/>
                        </a:solidFill>
                        <a:effectLst/>
                        <a:latin typeface="Segoe UI" panose="020B0502040204020203" pitchFamily="34" charset="0"/>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tc>
                  <a:txBody>
                    <a:bodyPr/>
                    <a:lstStyle/>
                    <a:p>
                      <a:pPr marL="0" marR="0" indent="0" algn="l" rtl="0" fontAlgn="base">
                        <a:buNone/>
                      </a:pPr>
                      <a:r>
                        <a:rPr lang="en-US" sz="1100" b="0" i="0">
                          <a:solidFill>
                            <a:srgbClr val="000000"/>
                          </a:solidFill>
                          <a:effectLst/>
                          <a:latin typeface="Cambria" panose="02040503050406030204" pitchFamily="18" charset="0"/>
                        </a:rPr>
                        <a:t>2.49</a:t>
                      </a:r>
                      <a:r>
                        <a:rPr lang="en-GB" sz="1100" b="0" i="0">
                          <a:solidFill>
                            <a:srgbClr val="000000"/>
                          </a:solidFill>
                          <a:effectLst/>
                          <a:latin typeface="Cambria" panose="02040503050406030204" pitchFamily="18" charset="0"/>
                        </a:rPr>
                        <a:t> </a:t>
                      </a:r>
                      <a:endParaRPr lang="en-GB" sz="900" b="0" i="0">
                        <a:solidFill>
                          <a:srgbClr val="000000"/>
                        </a:solidFill>
                        <a:effectLst/>
                        <a:latin typeface="Segoe UI" panose="020B0502040204020203" pitchFamily="34" charset="0"/>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extLst>
                  <a:ext uri="{0D108BD9-81ED-4DB2-BD59-A6C34878D82A}">
                    <a16:rowId xmlns:a16="http://schemas.microsoft.com/office/drawing/2014/main" val="3576543992"/>
                  </a:ext>
                </a:extLst>
              </a:tr>
              <a:tr h="323850">
                <a:tc>
                  <a:txBody>
                    <a:bodyPr/>
                    <a:lstStyle/>
                    <a:p>
                      <a:pPr marL="0" marR="0" indent="0" algn="l" rtl="0" fontAlgn="base">
                        <a:buNone/>
                      </a:pPr>
                      <a:r>
                        <a:rPr lang="en-US" sz="1100" b="0" i="0">
                          <a:solidFill>
                            <a:srgbClr val="000000"/>
                          </a:solidFill>
                          <a:effectLst/>
                          <a:latin typeface="Cambria" panose="02040503050406030204" pitchFamily="18" charset="0"/>
                        </a:rPr>
                        <a:t>10</a:t>
                      </a:r>
                      <a:r>
                        <a:rPr lang="en-GB" sz="1100" b="0" i="0">
                          <a:solidFill>
                            <a:srgbClr val="000000"/>
                          </a:solidFill>
                          <a:effectLst/>
                          <a:latin typeface="Cambria" panose="02040503050406030204" pitchFamily="18" charset="0"/>
                        </a:rPr>
                        <a:t> </a:t>
                      </a:r>
                      <a:endParaRPr lang="en-GB" sz="900" b="0" i="0">
                        <a:solidFill>
                          <a:srgbClr val="000000"/>
                        </a:solidFill>
                        <a:effectLst/>
                        <a:latin typeface="Segoe UI" panose="020B0502040204020203" pitchFamily="34" charset="0"/>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tc>
                  <a:txBody>
                    <a:bodyPr/>
                    <a:lstStyle/>
                    <a:p>
                      <a:pPr marL="0" marR="0" indent="0" algn="l" rtl="0" fontAlgn="base">
                        <a:buNone/>
                      </a:pPr>
                      <a:r>
                        <a:rPr lang="en-US" sz="1100" b="0" i="0">
                          <a:solidFill>
                            <a:srgbClr val="000000"/>
                          </a:solidFill>
                          <a:effectLst/>
                          <a:latin typeface="Cambria" panose="02040503050406030204" pitchFamily="18" charset="0"/>
                        </a:rPr>
                        <a:t>0.23</a:t>
                      </a:r>
                      <a:r>
                        <a:rPr lang="en-GB" sz="1100" b="0" i="0">
                          <a:solidFill>
                            <a:srgbClr val="000000"/>
                          </a:solidFill>
                          <a:effectLst/>
                          <a:latin typeface="Cambria" panose="02040503050406030204" pitchFamily="18" charset="0"/>
                        </a:rPr>
                        <a:t> </a:t>
                      </a:r>
                      <a:endParaRPr lang="en-GB" sz="900" b="0" i="0">
                        <a:solidFill>
                          <a:srgbClr val="000000"/>
                        </a:solidFill>
                        <a:effectLst/>
                        <a:latin typeface="Segoe UI" panose="020B0502040204020203" pitchFamily="34" charset="0"/>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tc>
                  <a:txBody>
                    <a:bodyPr/>
                    <a:lstStyle/>
                    <a:p>
                      <a:pPr marL="0" marR="0" indent="0" algn="l" rtl="0" fontAlgn="base">
                        <a:buNone/>
                      </a:pPr>
                      <a:r>
                        <a:rPr lang="en-US" sz="1100" b="0" i="0">
                          <a:solidFill>
                            <a:srgbClr val="000000"/>
                          </a:solidFill>
                          <a:effectLst/>
                          <a:latin typeface="Cambria" panose="02040503050406030204" pitchFamily="18" charset="0"/>
                        </a:rPr>
                        <a:t>Very Good</a:t>
                      </a:r>
                      <a:r>
                        <a:rPr lang="en-GB" sz="1100" b="0" i="0">
                          <a:solidFill>
                            <a:srgbClr val="000000"/>
                          </a:solidFill>
                          <a:effectLst/>
                          <a:latin typeface="Cambria" panose="02040503050406030204" pitchFamily="18" charset="0"/>
                        </a:rPr>
                        <a:t> </a:t>
                      </a:r>
                      <a:endParaRPr lang="en-GB" sz="900" b="0" i="0">
                        <a:solidFill>
                          <a:srgbClr val="000000"/>
                        </a:solidFill>
                        <a:effectLst/>
                        <a:latin typeface="Segoe UI" panose="020B0502040204020203" pitchFamily="34" charset="0"/>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tc>
                  <a:txBody>
                    <a:bodyPr/>
                    <a:lstStyle/>
                    <a:p>
                      <a:pPr marL="0" marR="0" indent="0" algn="l" rtl="0" fontAlgn="base">
                        <a:buNone/>
                      </a:pPr>
                      <a:r>
                        <a:rPr lang="en-US" sz="1100" b="0" i="0">
                          <a:solidFill>
                            <a:srgbClr val="000000"/>
                          </a:solidFill>
                          <a:effectLst/>
                          <a:latin typeface="Cambria" panose="02040503050406030204" pitchFamily="18" charset="0"/>
                        </a:rPr>
                        <a:t>H</a:t>
                      </a:r>
                      <a:r>
                        <a:rPr lang="en-GB" sz="1100" b="0" i="0">
                          <a:solidFill>
                            <a:srgbClr val="000000"/>
                          </a:solidFill>
                          <a:effectLst/>
                          <a:latin typeface="Cambria" panose="02040503050406030204" pitchFamily="18" charset="0"/>
                        </a:rPr>
                        <a:t> </a:t>
                      </a:r>
                      <a:endParaRPr lang="en-GB" sz="900" b="0" i="0">
                        <a:solidFill>
                          <a:srgbClr val="000000"/>
                        </a:solidFill>
                        <a:effectLst/>
                        <a:latin typeface="Segoe UI" panose="020B0502040204020203" pitchFamily="34" charset="0"/>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tc>
                  <a:txBody>
                    <a:bodyPr/>
                    <a:lstStyle/>
                    <a:p>
                      <a:pPr marL="0" marR="0" indent="0" algn="l" rtl="0" fontAlgn="base">
                        <a:buNone/>
                      </a:pPr>
                      <a:r>
                        <a:rPr lang="en-US" sz="1100" b="0" i="0">
                          <a:solidFill>
                            <a:srgbClr val="000000"/>
                          </a:solidFill>
                          <a:effectLst/>
                          <a:latin typeface="Cambria" panose="02040503050406030204" pitchFamily="18" charset="0"/>
                        </a:rPr>
                        <a:t>VS1</a:t>
                      </a:r>
                      <a:r>
                        <a:rPr lang="en-GB" sz="1100" b="0" i="0">
                          <a:solidFill>
                            <a:srgbClr val="000000"/>
                          </a:solidFill>
                          <a:effectLst/>
                          <a:latin typeface="Cambria" panose="02040503050406030204" pitchFamily="18" charset="0"/>
                        </a:rPr>
                        <a:t> </a:t>
                      </a:r>
                      <a:endParaRPr lang="en-GB" sz="900" b="0" i="0">
                        <a:solidFill>
                          <a:srgbClr val="000000"/>
                        </a:solidFill>
                        <a:effectLst/>
                        <a:latin typeface="Segoe UI" panose="020B0502040204020203" pitchFamily="34" charset="0"/>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tc>
                  <a:txBody>
                    <a:bodyPr/>
                    <a:lstStyle/>
                    <a:p>
                      <a:pPr marL="0" marR="0" indent="0" algn="l" rtl="0" fontAlgn="base">
                        <a:buNone/>
                      </a:pPr>
                      <a:r>
                        <a:rPr lang="en-US" sz="1100" b="0" i="0">
                          <a:solidFill>
                            <a:srgbClr val="000000"/>
                          </a:solidFill>
                          <a:effectLst/>
                          <a:latin typeface="Cambria" panose="02040503050406030204" pitchFamily="18" charset="0"/>
                        </a:rPr>
                        <a:t>59.4</a:t>
                      </a:r>
                      <a:r>
                        <a:rPr lang="en-GB" sz="1100" b="0" i="0">
                          <a:solidFill>
                            <a:srgbClr val="000000"/>
                          </a:solidFill>
                          <a:effectLst/>
                          <a:latin typeface="Cambria" panose="02040503050406030204" pitchFamily="18" charset="0"/>
                        </a:rPr>
                        <a:t> </a:t>
                      </a:r>
                      <a:endParaRPr lang="en-GB" sz="900" b="0" i="0">
                        <a:solidFill>
                          <a:srgbClr val="000000"/>
                        </a:solidFill>
                        <a:effectLst/>
                        <a:latin typeface="Segoe UI" panose="020B0502040204020203" pitchFamily="34" charset="0"/>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tc>
                  <a:txBody>
                    <a:bodyPr/>
                    <a:lstStyle/>
                    <a:p>
                      <a:pPr marL="0" marR="0" indent="0" algn="l" rtl="0" fontAlgn="base">
                        <a:buNone/>
                      </a:pPr>
                      <a:r>
                        <a:rPr lang="en-US" sz="1100" b="0" i="0">
                          <a:solidFill>
                            <a:srgbClr val="000000"/>
                          </a:solidFill>
                          <a:effectLst/>
                          <a:latin typeface="Cambria" panose="02040503050406030204" pitchFamily="18" charset="0"/>
                        </a:rPr>
                        <a:t>61</a:t>
                      </a:r>
                      <a:r>
                        <a:rPr lang="en-GB" sz="1100" b="0" i="0">
                          <a:solidFill>
                            <a:srgbClr val="000000"/>
                          </a:solidFill>
                          <a:effectLst/>
                          <a:latin typeface="Cambria" panose="02040503050406030204" pitchFamily="18" charset="0"/>
                        </a:rPr>
                        <a:t> </a:t>
                      </a:r>
                      <a:endParaRPr lang="en-GB" sz="900" b="0" i="0">
                        <a:solidFill>
                          <a:srgbClr val="000000"/>
                        </a:solidFill>
                        <a:effectLst/>
                        <a:latin typeface="Segoe UI" panose="020B0502040204020203" pitchFamily="34" charset="0"/>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tc>
                  <a:txBody>
                    <a:bodyPr/>
                    <a:lstStyle/>
                    <a:p>
                      <a:pPr marL="0" marR="0" indent="0" algn="l" rtl="0" fontAlgn="base">
                        <a:buNone/>
                      </a:pPr>
                      <a:r>
                        <a:rPr lang="en-US" sz="1100" b="0" i="0">
                          <a:solidFill>
                            <a:srgbClr val="000000"/>
                          </a:solidFill>
                          <a:effectLst/>
                          <a:latin typeface="Cambria" panose="02040503050406030204" pitchFamily="18" charset="0"/>
                        </a:rPr>
                        <a:t>338</a:t>
                      </a:r>
                      <a:r>
                        <a:rPr lang="en-GB" sz="1100" b="0" i="0">
                          <a:solidFill>
                            <a:srgbClr val="000000"/>
                          </a:solidFill>
                          <a:effectLst/>
                          <a:latin typeface="Cambria" panose="02040503050406030204" pitchFamily="18" charset="0"/>
                        </a:rPr>
                        <a:t> </a:t>
                      </a:r>
                      <a:endParaRPr lang="en-GB" sz="900" b="0" i="0">
                        <a:solidFill>
                          <a:srgbClr val="000000"/>
                        </a:solidFill>
                        <a:effectLst/>
                        <a:latin typeface="Segoe UI" panose="020B0502040204020203" pitchFamily="34" charset="0"/>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tc>
                  <a:txBody>
                    <a:bodyPr/>
                    <a:lstStyle/>
                    <a:p>
                      <a:pPr marL="0" marR="0" indent="0" algn="l" rtl="0" fontAlgn="base">
                        <a:buNone/>
                      </a:pPr>
                      <a:r>
                        <a:rPr lang="en-US" sz="1100" b="0" i="0">
                          <a:solidFill>
                            <a:srgbClr val="000000"/>
                          </a:solidFill>
                          <a:effectLst/>
                          <a:latin typeface="Cambria" panose="02040503050406030204" pitchFamily="18" charset="0"/>
                        </a:rPr>
                        <a:t>4.0</a:t>
                      </a:r>
                      <a:r>
                        <a:rPr lang="en-GB" sz="1100" b="0" i="0">
                          <a:solidFill>
                            <a:srgbClr val="000000"/>
                          </a:solidFill>
                          <a:effectLst/>
                          <a:latin typeface="Cambria" panose="02040503050406030204" pitchFamily="18" charset="0"/>
                        </a:rPr>
                        <a:t> </a:t>
                      </a:r>
                      <a:endParaRPr lang="en-GB" sz="900" b="0" i="0">
                        <a:solidFill>
                          <a:srgbClr val="000000"/>
                        </a:solidFill>
                        <a:effectLst/>
                        <a:latin typeface="Segoe UI" panose="020B0502040204020203" pitchFamily="34" charset="0"/>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tc>
                  <a:txBody>
                    <a:bodyPr/>
                    <a:lstStyle/>
                    <a:p>
                      <a:pPr marL="0" marR="0" indent="0" algn="l" rtl="0" fontAlgn="base">
                        <a:buNone/>
                      </a:pPr>
                      <a:r>
                        <a:rPr lang="en-US" sz="1100" b="0" i="0">
                          <a:solidFill>
                            <a:srgbClr val="000000"/>
                          </a:solidFill>
                          <a:effectLst/>
                          <a:latin typeface="Cambria" panose="02040503050406030204" pitchFamily="18" charset="0"/>
                        </a:rPr>
                        <a:t>4.05</a:t>
                      </a:r>
                      <a:r>
                        <a:rPr lang="en-GB" sz="1100" b="0" i="0">
                          <a:solidFill>
                            <a:srgbClr val="000000"/>
                          </a:solidFill>
                          <a:effectLst/>
                          <a:latin typeface="Cambria" panose="02040503050406030204" pitchFamily="18" charset="0"/>
                        </a:rPr>
                        <a:t> </a:t>
                      </a:r>
                      <a:endParaRPr lang="en-GB" sz="900" b="0" i="0">
                        <a:solidFill>
                          <a:srgbClr val="000000"/>
                        </a:solidFill>
                        <a:effectLst/>
                        <a:latin typeface="Segoe UI" panose="020B0502040204020203" pitchFamily="34" charset="0"/>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tc>
                  <a:txBody>
                    <a:bodyPr/>
                    <a:lstStyle/>
                    <a:p>
                      <a:pPr marL="0" marR="0" indent="0" algn="l" rtl="0" fontAlgn="base">
                        <a:buNone/>
                      </a:pPr>
                      <a:r>
                        <a:rPr lang="en-US" sz="1100" b="0" i="0">
                          <a:solidFill>
                            <a:srgbClr val="000000"/>
                          </a:solidFill>
                          <a:effectLst/>
                          <a:latin typeface="Cambria" panose="02040503050406030204" pitchFamily="18" charset="0"/>
                        </a:rPr>
                        <a:t>2.39</a:t>
                      </a:r>
                      <a:r>
                        <a:rPr lang="en-GB" sz="1100" b="0" i="0">
                          <a:solidFill>
                            <a:srgbClr val="000000"/>
                          </a:solidFill>
                          <a:effectLst/>
                          <a:latin typeface="Cambria" panose="02040503050406030204" pitchFamily="18" charset="0"/>
                        </a:rPr>
                        <a:t> </a:t>
                      </a:r>
                      <a:endParaRPr lang="en-GB" sz="900" b="0" i="0">
                        <a:solidFill>
                          <a:srgbClr val="000000"/>
                        </a:solidFill>
                        <a:effectLst/>
                        <a:latin typeface="Segoe UI" panose="020B0502040204020203" pitchFamily="34" charset="0"/>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extLst>
                  <a:ext uri="{0D108BD9-81ED-4DB2-BD59-A6C34878D82A}">
                    <a16:rowId xmlns:a16="http://schemas.microsoft.com/office/drawing/2014/main" val="3506112119"/>
                  </a:ext>
                </a:extLst>
              </a:tr>
            </a:tbl>
          </a:graphicData>
        </a:graphic>
      </p:graphicFrame>
    </p:spTree>
    <p:extLst>
      <p:ext uri="{BB962C8B-B14F-4D97-AF65-F5344CB8AC3E}">
        <p14:creationId xmlns:p14="http://schemas.microsoft.com/office/powerpoint/2010/main" val="15662912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a:extLst>
            <a:ext uri="{FF2B5EF4-FFF2-40B4-BE49-F238E27FC236}">
              <a16:creationId xmlns:a16="http://schemas.microsoft.com/office/drawing/2014/main" id="{87972BF2-DA0D-D10F-0173-65EA1655D4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B73FC6-1288-2B8D-A4D7-9ECCAAAEDCC0}"/>
              </a:ext>
            </a:extLst>
          </p:cNvPr>
          <p:cNvSpPr>
            <a:spLocks noGrp="1"/>
          </p:cNvSpPr>
          <p:nvPr>
            <p:ph type="title"/>
          </p:nvPr>
        </p:nvSpPr>
        <p:spPr>
          <a:xfrm>
            <a:off x="430831" y="697233"/>
            <a:ext cx="4439556" cy="2209571"/>
          </a:xfrm>
        </p:spPr>
        <p:txBody>
          <a:bodyPr anchor="ctr"/>
          <a:lstStyle/>
          <a:p>
            <a:r>
              <a:rPr lang="en-US" dirty="0"/>
              <a:t>key eda insights</a:t>
            </a:r>
          </a:p>
        </p:txBody>
      </p:sp>
      <p:sp>
        <p:nvSpPr>
          <p:cNvPr id="7" name="Slide Number Placeholder 6">
            <a:extLst>
              <a:ext uri="{FF2B5EF4-FFF2-40B4-BE49-F238E27FC236}">
                <a16:creationId xmlns:a16="http://schemas.microsoft.com/office/drawing/2014/main" id="{5B5053D0-841E-B0E0-5282-864F9D7B7A24}"/>
              </a:ext>
            </a:extLst>
          </p:cNvPr>
          <p:cNvSpPr>
            <a:spLocks noGrp="1"/>
          </p:cNvSpPr>
          <p:nvPr>
            <p:ph type="sldNum" sz="quarter" idx="12"/>
          </p:nvPr>
        </p:nvSpPr>
        <p:spPr/>
        <p:txBody>
          <a:bodyPr/>
          <a:lstStyle/>
          <a:p>
            <a:fld id="{CC057153-B650-4DEB-B370-79DDCFDCE934}" type="slidenum">
              <a:rPr lang="en-US" smtClean="0"/>
              <a:t>5</a:t>
            </a:fld>
            <a:endParaRPr lang="en-US" dirty="0"/>
          </a:p>
        </p:txBody>
      </p:sp>
      <p:sp>
        <p:nvSpPr>
          <p:cNvPr id="4" name="Footer Placeholder 4">
            <a:extLst>
              <a:ext uri="{FF2B5EF4-FFF2-40B4-BE49-F238E27FC236}">
                <a16:creationId xmlns:a16="http://schemas.microsoft.com/office/drawing/2014/main" id="{4023C0C8-6FA4-A793-81D6-CA117E56EA29}"/>
              </a:ext>
            </a:extLst>
          </p:cNvPr>
          <p:cNvSpPr txBox="1">
            <a:spLocks/>
          </p:cNvSpPr>
          <p:nvPr/>
        </p:nvSpPr>
        <p:spPr>
          <a:xfrm rot="16200000">
            <a:off x="-2067304" y="2064540"/>
            <a:ext cx="4564376" cy="429768"/>
          </a:xfrm>
          <a:prstGeom prst="rect">
            <a:avLst/>
          </a:prstGeom>
        </p:spPr>
        <p:txBody>
          <a:bodyPr vert="horz" lIns="91440" tIns="45720" rIns="91440" bIns="45720" rtlCol="0" anchor="ctr"/>
          <a:lstStyle>
            <a:defPPr>
              <a:defRPr lang="en-US"/>
            </a:defPPr>
            <a:lvl1pPr marL="0" algn="r" defTabSz="914400" rtl="0" eaLnBrk="1" latinLnBrk="0" hangingPunct="1">
              <a:defRPr sz="800" b="0" i="0" kern="1200">
                <a:solidFill>
                  <a:schemeClr val="tx1"/>
                </a:solidFill>
                <a:latin typeface="+mn-lt"/>
                <a:ea typeface="Batang" panose="02030600000101010101" pitchFamily="18" charset="-127"/>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ea typeface="Batang"/>
              </a:rPr>
              <a:t>Diamonds Predictor Application</a:t>
            </a:r>
          </a:p>
        </p:txBody>
      </p:sp>
      <p:sp>
        <p:nvSpPr>
          <p:cNvPr id="12" name="Title 1">
            <a:extLst>
              <a:ext uri="{FF2B5EF4-FFF2-40B4-BE49-F238E27FC236}">
                <a16:creationId xmlns:a16="http://schemas.microsoft.com/office/drawing/2014/main" id="{23C917A8-6D08-8EB5-84CE-363E3F8EA666}"/>
              </a:ext>
            </a:extLst>
          </p:cNvPr>
          <p:cNvSpPr txBox="1">
            <a:spLocks/>
          </p:cNvSpPr>
          <p:nvPr/>
        </p:nvSpPr>
        <p:spPr>
          <a:xfrm>
            <a:off x="437535" y="2837046"/>
            <a:ext cx="4436591" cy="282937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7200" b="0" i="0" kern="1200" cap="all" baseline="0">
                <a:solidFill>
                  <a:schemeClr val="bg1"/>
                </a:solidFill>
                <a:latin typeface="+mj-lt"/>
                <a:ea typeface="+mj-ea"/>
                <a:cs typeface="+mj-cs"/>
              </a:defRPr>
            </a:lvl1pPr>
          </a:lstStyle>
          <a:p>
            <a:pPr marL="285750" indent="-285750">
              <a:lnSpc>
                <a:spcPct val="150000"/>
              </a:lnSpc>
              <a:buFont typeface="Arial"/>
              <a:buChar char="•"/>
            </a:pPr>
            <a:r>
              <a:rPr lang="en-US" sz="1600" cap="none" dirty="0">
                <a:solidFill>
                  <a:schemeClr val="tx1"/>
                </a:solidFill>
                <a:latin typeface="+mn-lt"/>
                <a:ea typeface="+mn-lt"/>
                <a:cs typeface="+mn-lt"/>
              </a:rPr>
              <a:t>Strong correlation between carat and price</a:t>
            </a:r>
          </a:p>
          <a:p>
            <a:pPr marL="285750" indent="-285750">
              <a:lnSpc>
                <a:spcPct val="150000"/>
              </a:lnSpc>
              <a:buFont typeface="Arial"/>
              <a:buChar char="•"/>
            </a:pPr>
            <a:r>
              <a:rPr lang="en-US" sz="1600" cap="none" dirty="0">
                <a:solidFill>
                  <a:schemeClr val="tx1"/>
                </a:solidFill>
                <a:latin typeface="+mn-lt"/>
                <a:ea typeface="+mn-lt"/>
                <a:cs typeface="+mn-lt"/>
              </a:rPr>
              <a:t>No missing values</a:t>
            </a:r>
          </a:p>
          <a:p>
            <a:pPr marL="285750" indent="-285750">
              <a:lnSpc>
                <a:spcPct val="150000"/>
              </a:lnSpc>
              <a:buFont typeface="Arial"/>
              <a:buChar char="•"/>
            </a:pPr>
            <a:r>
              <a:rPr lang="en-US" sz="1600" cap="none" dirty="0">
                <a:solidFill>
                  <a:schemeClr val="tx1"/>
                </a:solidFill>
                <a:latin typeface="+mn-lt"/>
                <a:ea typeface="+mn-lt"/>
                <a:cs typeface="+mn-lt"/>
              </a:rPr>
              <a:t>Outliers removed</a:t>
            </a:r>
          </a:p>
          <a:p>
            <a:pPr marL="285750" indent="-285750">
              <a:lnSpc>
                <a:spcPct val="150000"/>
              </a:lnSpc>
              <a:buFont typeface="Arial"/>
              <a:buChar char="•"/>
            </a:pPr>
            <a:r>
              <a:rPr lang="en-US" sz="1600" cap="none" dirty="0">
                <a:solidFill>
                  <a:schemeClr val="tx1"/>
                </a:solidFill>
                <a:latin typeface="+mn-lt"/>
                <a:ea typeface="+mn-lt"/>
                <a:cs typeface="+mn-lt"/>
              </a:rPr>
              <a:t>Clear patterns between cut, color, clarity and price</a:t>
            </a:r>
          </a:p>
          <a:p>
            <a:pPr marL="285750" indent="-285750">
              <a:lnSpc>
                <a:spcPct val="150000"/>
              </a:lnSpc>
              <a:buFont typeface="Arial"/>
              <a:buChar char="•"/>
            </a:pPr>
            <a:r>
              <a:rPr lang="en-US" sz="1600" cap="none" dirty="0">
                <a:solidFill>
                  <a:schemeClr val="tx1"/>
                </a:solidFill>
                <a:latin typeface="+mn-lt"/>
                <a:ea typeface="+mn-lt"/>
                <a:cs typeface="+mn-lt"/>
              </a:rPr>
              <a:t>Sweetviz automated report generated</a:t>
            </a:r>
          </a:p>
          <a:p>
            <a:endParaRPr lang="en-US" sz="1600" dirty="0"/>
          </a:p>
        </p:txBody>
      </p:sp>
      <p:pic>
        <p:nvPicPr>
          <p:cNvPr id="15" name="Content Placeholder 14">
            <a:extLst>
              <a:ext uri="{FF2B5EF4-FFF2-40B4-BE49-F238E27FC236}">
                <a16:creationId xmlns:a16="http://schemas.microsoft.com/office/drawing/2014/main" id="{AC7573E2-9B9B-A722-4F86-6F65A808AC17}"/>
              </a:ext>
            </a:extLst>
          </p:cNvPr>
          <p:cNvPicPr>
            <a:picLocks noGrp="1" noChangeAspect="1"/>
          </p:cNvPicPr>
          <p:nvPr>
            <p:ph sz="quarter" idx="13"/>
          </p:nvPr>
        </p:nvPicPr>
        <p:blipFill>
          <a:blip r:embed="rId3"/>
          <a:stretch>
            <a:fillRect/>
          </a:stretch>
        </p:blipFill>
        <p:spPr>
          <a:xfrm>
            <a:off x="5557350" y="769803"/>
            <a:ext cx="5964394" cy="5308372"/>
          </a:xfrm>
          <a:prstGeom prst="rect">
            <a:avLst/>
          </a:prstGeom>
        </p:spPr>
      </p:pic>
      <p:sp>
        <p:nvSpPr>
          <p:cNvPr id="3" name="Title 1">
            <a:extLst>
              <a:ext uri="{FF2B5EF4-FFF2-40B4-BE49-F238E27FC236}">
                <a16:creationId xmlns:a16="http://schemas.microsoft.com/office/drawing/2014/main" id="{A47C1F28-C8DA-EEE8-F5AA-AE2CC43E7F9C}"/>
              </a:ext>
            </a:extLst>
          </p:cNvPr>
          <p:cNvSpPr txBox="1">
            <a:spLocks/>
          </p:cNvSpPr>
          <p:nvPr/>
        </p:nvSpPr>
        <p:spPr>
          <a:xfrm>
            <a:off x="6096000" y="6220364"/>
            <a:ext cx="4436591" cy="544297"/>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7200" b="0" i="0" kern="1200" cap="all" baseline="0">
                <a:solidFill>
                  <a:schemeClr val="bg1"/>
                </a:solidFill>
                <a:latin typeface="+mj-lt"/>
                <a:ea typeface="+mj-ea"/>
                <a:cs typeface="+mj-cs"/>
              </a:defRPr>
            </a:lvl1pPr>
          </a:lstStyle>
          <a:p>
            <a:endParaRPr lang="en-US" sz="1600" dirty="0"/>
          </a:p>
        </p:txBody>
      </p:sp>
      <p:sp>
        <p:nvSpPr>
          <p:cNvPr id="6" name="TextBox 5">
            <a:extLst>
              <a:ext uri="{FF2B5EF4-FFF2-40B4-BE49-F238E27FC236}">
                <a16:creationId xmlns:a16="http://schemas.microsoft.com/office/drawing/2014/main" id="{C2DCEC20-F382-2FB2-DD3C-A99967E901E5}"/>
              </a:ext>
            </a:extLst>
          </p:cNvPr>
          <p:cNvSpPr txBox="1"/>
          <p:nvPr/>
        </p:nvSpPr>
        <p:spPr>
          <a:xfrm>
            <a:off x="4870388" y="6169346"/>
            <a:ext cx="7321610" cy="338554"/>
          </a:xfrm>
          <a:prstGeom prst="rect">
            <a:avLst/>
          </a:prstGeom>
          <a:noFill/>
        </p:spPr>
        <p:txBody>
          <a:bodyPr wrap="square">
            <a:spAutoFit/>
          </a:bodyPr>
          <a:lstStyle/>
          <a:p>
            <a:pPr algn="ctr"/>
            <a:r>
              <a:rPr lang="en-US" sz="1600" dirty="0"/>
              <a:t>High correlation means the model can learn strong predictive patterns</a:t>
            </a:r>
          </a:p>
        </p:txBody>
      </p:sp>
    </p:spTree>
    <p:extLst>
      <p:ext uri="{BB962C8B-B14F-4D97-AF65-F5344CB8AC3E}">
        <p14:creationId xmlns:p14="http://schemas.microsoft.com/office/powerpoint/2010/main" val="10960975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45782E-E94C-F7FF-5DDC-7C1DFF856F9E}"/>
              </a:ext>
            </a:extLst>
          </p:cNvPr>
          <p:cNvSpPr>
            <a:spLocks noGrp="1"/>
          </p:cNvSpPr>
          <p:nvPr>
            <p:ph type="title"/>
          </p:nvPr>
        </p:nvSpPr>
        <p:spPr>
          <a:xfrm>
            <a:off x="598328" y="4870038"/>
            <a:ext cx="4364200" cy="1113476"/>
          </a:xfrm>
        </p:spPr>
        <p:txBody>
          <a:bodyPr/>
          <a:lstStyle/>
          <a:p>
            <a:r>
              <a:rPr lang="en-US">
                <a:ea typeface="+mj-lt"/>
                <a:cs typeface="+mj-lt"/>
              </a:rPr>
              <a:t>Preprocessing Pipeline</a:t>
            </a:r>
            <a:endParaRPr lang="en-US"/>
          </a:p>
        </p:txBody>
      </p:sp>
      <p:sp>
        <p:nvSpPr>
          <p:cNvPr id="6" name="Slide Number Placeholder 5">
            <a:extLst>
              <a:ext uri="{FF2B5EF4-FFF2-40B4-BE49-F238E27FC236}">
                <a16:creationId xmlns:a16="http://schemas.microsoft.com/office/drawing/2014/main" id="{0A48C2CB-6E2E-DF1B-8A65-092437051456}"/>
              </a:ext>
            </a:extLst>
          </p:cNvPr>
          <p:cNvSpPr>
            <a:spLocks noGrp="1"/>
          </p:cNvSpPr>
          <p:nvPr>
            <p:ph type="sldNum" sz="quarter" idx="12"/>
          </p:nvPr>
        </p:nvSpPr>
        <p:spPr/>
        <p:txBody>
          <a:bodyPr/>
          <a:lstStyle/>
          <a:p>
            <a:fld id="{CC057153-B650-4DEB-B370-79DDCFDCE934}" type="slidenum">
              <a:rPr lang="en-US" smtClean="0"/>
              <a:t>6</a:t>
            </a:fld>
            <a:endParaRPr lang="en-US" dirty="0"/>
          </a:p>
        </p:txBody>
      </p:sp>
      <p:pic>
        <p:nvPicPr>
          <p:cNvPr id="8" name="Picture Placeholder 7" descr="A shadow of a plant on a wall">
            <a:extLst>
              <a:ext uri="{FF2B5EF4-FFF2-40B4-BE49-F238E27FC236}">
                <a16:creationId xmlns:a16="http://schemas.microsoft.com/office/drawing/2014/main" id="{C966E8A7-13DF-B17F-9AC5-30759C47C1A2}"/>
              </a:ext>
            </a:extLst>
          </p:cNvPr>
          <p:cNvPicPr>
            <a:picLocks noGrp="1" noChangeAspect="1"/>
          </p:cNvPicPr>
          <p:nvPr>
            <p:ph type="pic" sz="quarter" idx="13"/>
          </p:nvPr>
        </p:nvPicPr>
        <p:blipFill rotWithShape="1">
          <a:blip r:embed="rId3" cstate="screen">
            <a:extLst>
              <a:ext uri="{28A0092B-C50C-407E-A947-70E740481C1C}">
                <a14:useLocalDpi xmlns:a14="http://schemas.microsoft.com/office/drawing/2010/main"/>
              </a:ext>
            </a:extLst>
          </a:blip>
          <a:srcRect/>
          <a:stretch/>
        </p:blipFill>
        <p:spPr>
          <a:xfrm>
            <a:off x="598327" y="0"/>
            <a:ext cx="11593671" cy="4314867"/>
          </a:xfrm>
        </p:spPr>
      </p:pic>
      <p:sp>
        <p:nvSpPr>
          <p:cNvPr id="3" name="Content Placeholder 2">
            <a:extLst>
              <a:ext uri="{FF2B5EF4-FFF2-40B4-BE49-F238E27FC236}">
                <a16:creationId xmlns:a16="http://schemas.microsoft.com/office/drawing/2014/main" id="{E1115141-87C9-23DF-ECBC-B828494C9F1E}"/>
              </a:ext>
            </a:extLst>
          </p:cNvPr>
          <p:cNvSpPr>
            <a:spLocks noGrp="1"/>
          </p:cNvSpPr>
          <p:nvPr>
            <p:ph sz="quarter" idx="14"/>
          </p:nvPr>
        </p:nvSpPr>
        <p:spPr>
          <a:xfrm>
            <a:off x="5233126" y="4318495"/>
            <a:ext cx="6208724" cy="1113477"/>
          </a:xfrm>
        </p:spPr>
        <p:txBody>
          <a:bodyPr vert="horz" lIns="91440" tIns="45720" rIns="91440" bIns="45720" rtlCol="0" anchor="t">
            <a:noAutofit/>
          </a:bodyPr>
          <a:lstStyle/>
          <a:p>
            <a:pPr marL="285750" indent="-285750">
              <a:lnSpc>
                <a:spcPct val="150000"/>
              </a:lnSpc>
              <a:buFont typeface="Arial"/>
              <a:buChar char="•"/>
            </a:pPr>
            <a:r>
              <a:rPr lang="en-US" dirty="0">
                <a:ea typeface="+mn-lt"/>
                <a:cs typeface="+mn-lt"/>
              </a:rPr>
              <a:t>Removed duplicates</a:t>
            </a:r>
            <a:endParaRPr lang="en-US" dirty="0"/>
          </a:p>
          <a:p>
            <a:pPr marL="285750" indent="-285750">
              <a:lnSpc>
                <a:spcPct val="150000"/>
              </a:lnSpc>
              <a:buFont typeface="Arial"/>
              <a:buChar char="•"/>
            </a:pPr>
            <a:r>
              <a:rPr lang="en-US" dirty="0">
                <a:ea typeface="+mn-lt"/>
                <a:cs typeface="+mn-lt"/>
              </a:rPr>
              <a:t>Removed invalid rows</a:t>
            </a:r>
            <a:endParaRPr lang="en-US" dirty="0"/>
          </a:p>
          <a:p>
            <a:pPr marL="285750" indent="-285750">
              <a:lnSpc>
                <a:spcPct val="150000"/>
              </a:lnSpc>
              <a:buFont typeface="Arial"/>
              <a:buChar char="•"/>
            </a:pPr>
            <a:r>
              <a:rPr lang="en-US" dirty="0">
                <a:ea typeface="+mn-lt"/>
                <a:cs typeface="+mn-lt"/>
              </a:rPr>
              <a:t>One‑Hot Encoding – </a:t>
            </a:r>
            <a:r>
              <a:rPr lang="en-US" i="1" dirty="0">
                <a:ea typeface="+mn-lt"/>
                <a:cs typeface="+mn-lt"/>
              </a:rPr>
              <a:t>Text categories need numeric encoding</a:t>
            </a:r>
            <a:endParaRPr lang="en-US" dirty="0"/>
          </a:p>
          <a:p>
            <a:pPr marL="285750" indent="-285750">
              <a:lnSpc>
                <a:spcPct val="150000"/>
              </a:lnSpc>
              <a:buFont typeface="Arial"/>
              <a:buChar char="•"/>
            </a:pPr>
            <a:r>
              <a:rPr lang="en-US" dirty="0">
                <a:ea typeface="+mn-lt"/>
                <a:cs typeface="+mn-lt"/>
              </a:rPr>
              <a:t>Standard Scaling – </a:t>
            </a:r>
            <a:r>
              <a:rPr lang="en-US" i="1" dirty="0">
                <a:ea typeface="+mn-lt"/>
                <a:cs typeface="+mn-lt"/>
              </a:rPr>
              <a:t>To prevent large values dominating training. </a:t>
            </a:r>
            <a:endParaRPr lang="en-US" dirty="0"/>
          </a:p>
          <a:p>
            <a:pPr marL="285750" indent="-285750">
              <a:lnSpc>
                <a:spcPct val="150000"/>
              </a:lnSpc>
              <a:buFont typeface="Arial"/>
              <a:buChar char="•"/>
            </a:pPr>
            <a:r>
              <a:rPr lang="en-US" dirty="0">
                <a:ea typeface="+mn-lt"/>
                <a:cs typeface="+mn-lt"/>
              </a:rPr>
              <a:t>Train/Test split</a:t>
            </a:r>
            <a:endParaRPr lang="en-US" dirty="0"/>
          </a:p>
          <a:p>
            <a:pPr marL="0" indent="0">
              <a:buNone/>
            </a:pPr>
            <a:endParaRPr lang="en-US" dirty="0"/>
          </a:p>
        </p:txBody>
      </p:sp>
      <p:sp>
        <p:nvSpPr>
          <p:cNvPr id="7" name="Footer Placeholder 4">
            <a:extLst>
              <a:ext uri="{FF2B5EF4-FFF2-40B4-BE49-F238E27FC236}">
                <a16:creationId xmlns:a16="http://schemas.microsoft.com/office/drawing/2014/main" id="{B5695A98-CBDD-2C59-EDC8-F9A16D0F16F9}"/>
              </a:ext>
            </a:extLst>
          </p:cNvPr>
          <p:cNvSpPr txBox="1">
            <a:spLocks/>
          </p:cNvSpPr>
          <p:nvPr/>
        </p:nvSpPr>
        <p:spPr>
          <a:xfrm rot="16200000">
            <a:off x="-2067304" y="2064540"/>
            <a:ext cx="4564376" cy="429768"/>
          </a:xfrm>
          <a:prstGeom prst="rect">
            <a:avLst/>
          </a:prstGeom>
        </p:spPr>
        <p:txBody>
          <a:bodyPr vert="horz" lIns="91440" tIns="45720" rIns="91440" bIns="45720" rtlCol="0" anchor="ctr"/>
          <a:lstStyle>
            <a:defPPr>
              <a:defRPr lang="en-US"/>
            </a:defPPr>
            <a:lvl1pPr marL="0" algn="r" defTabSz="914400" rtl="0" eaLnBrk="1" latinLnBrk="0" hangingPunct="1">
              <a:defRPr sz="800" b="0" i="0" kern="1200">
                <a:solidFill>
                  <a:schemeClr val="tx1"/>
                </a:solidFill>
                <a:latin typeface="+mn-lt"/>
                <a:ea typeface="Batang" panose="02030600000101010101" pitchFamily="18" charset="-127"/>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ea typeface="Batang"/>
              </a:rPr>
              <a:t>Diamonds Predictor Application</a:t>
            </a:r>
          </a:p>
        </p:txBody>
      </p:sp>
    </p:spTree>
    <p:extLst>
      <p:ext uri="{BB962C8B-B14F-4D97-AF65-F5344CB8AC3E}">
        <p14:creationId xmlns:p14="http://schemas.microsoft.com/office/powerpoint/2010/main" val="5990296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4C32F8-E21D-68DC-2A6B-6A44F01175C0}"/>
              </a:ext>
            </a:extLst>
          </p:cNvPr>
          <p:cNvSpPr>
            <a:spLocks noGrp="1"/>
          </p:cNvSpPr>
          <p:nvPr>
            <p:ph type="title"/>
          </p:nvPr>
        </p:nvSpPr>
        <p:spPr/>
        <p:txBody>
          <a:bodyPr>
            <a:normAutofit fontScale="90000"/>
          </a:bodyPr>
          <a:lstStyle/>
          <a:p>
            <a:r>
              <a:rPr lang="en-US">
                <a:ea typeface="+mj-lt"/>
                <a:cs typeface="+mj-lt"/>
              </a:rPr>
              <a:t>ANN Regression Model (Price Prediction)</a:t>
            </a:r>
            <a:endParaRPr lang="en-US"/>
          </a:p>
        </p:txBody>
      </p:sp>
      <p:sp>
        <p:nvSpPr>
          <p:cNvPr id="3" name="Text Placeholder 2">
            <a:extLst>
              <a:ext uri="{FF2B5EF4-FFF2-40B4-BE49-F238E27FC236}">
                <a16:creationId xmlns:a16="http://schemas.microsoft.com/office/drawing/2014/main" id="{E435B5EE-EC32-8941-B9F3-74604A298061}"/>
              </a:ext>
            </a:extLst>
          </p:cNvPr>
          <p:cNvSpPr>
            <a:spLocks noGrp="1"/>
          </p:cNvSpPr>
          <p:nvPr>
            <p:ph type="body" sz="quarter" idx="13"/>
          </p:nvPr>
        </p:nvSpPr>
        <p:spPr/>
        <p:txBody>
          <a:bodyPr vert="horz" lIns="91440" tIns="45720" rIns="91440" bIns="45720" rtlCol="0" anchor="t">
            <a:normAutofit lnSpcReduction="10000"/>
          </a:bodyPr>
          <a:lstStyle/>
          <a:p>
            <a:pPr>
              <a:buNone/>
            </a:pPr>
            <a:r>
              <a:rPr lang="en-US" b="1" dirty="0">
                <a:ea typeface="+mn-lt"/>
                <a:cs typeface="+mn-lt"/>
              </a:rPr>
              <a:t>Architecture:</a:t>
            </a:r>
          </a:p>
          <a:p>
            <a:pPr>
              <a:buFont typeface="Arial"/>
              <a:buChar char="•"/>
            </a:pPr>
            <a:r>
              <a:rPr lang="en-US" dirty="0">
                <a:ea typeface="+mn-lt"/>
                <a:cs typeface="+mn-lt"/>
              </a:rPr>
              <a:t>Dense(64, relu)</a:t>
            </a:r>
          </a:p>
          <a:p>
            <a:pPr>
              <a:buFont typeface="Arial"/>
              <a:buChar char="•"/>
            </a:pPr>
            <a:r>
              <a:rPr lang="en-US" dirty="0">
                <a:ea typeface="+mn-lt"/>
                <a:cs typeface="+mn-lt"/>
              </a:rPr>
              <a:t>Dense(32, relu)</a:t>
            </a:r>
          </a:p>
          <a:p>
            <a:pPr>
              <a:buFont typeface="Arial"/>
              <a:buChar char="•"/>
            </a:pPr>
            <a:r>
              <a:rPr lang="en-US" dirty="0">
                <a:ea typeface="+mn-lt"/>
                <a:cs typeface="+mn-lt"/>
              </a:rPr>
              <a:t>Dense(1, linear)</a:t>
            </a:r>
          </a:p>
          <a:p>
            <a:pPr marL="0" indent="0">
              <a:buNone/>
            </a:pPr>
            <a:endParaRPr lang="en-US" dirty="0">
              <a:ea typeface="+mn-lt"/>
              <a:cs typeface="+mn-lt"/>
            </a:endParaRPr>
          </a:p>
          <a:p>
            <a:pPr marL="0" indent="0">
              <a:buNone/>
            </a:pPr>
            <a:r>
              <a:rPr lang="en-US" b="1" dirty="0">
                <a:ea typeface="+mn-lt"/>
                <a:cs typeface="+mn-lt"/>
              </a:rPr>
              <a:t>Metrics: </a:t>
            </a:r>
          </a:p>
          <a:p>
            <a:pPr>
              <a:buFont typeface="Arial"/>
              <a:buChar char="•"/>
            </a:pPr>
            <a:r>
              <a:rPr lang="en-US" dirty="0">
                <a:ea typeface="+mn-lt"/>
                <a:cs typeface="+mn-lt"/>
              </a:rPr>
              <a:t>MAE = Mean Absolute Error </a:t>
            </a:r>
          </a:p>
          <a:p>
            <a:pPr>
              <a:buFont typeface="Arial"/>
              <a:buChar char="•"/>
            </a:pPr>
            <a:r>
              <a:rPr lang="en-US" dirty="0">
                <a:ea typeface="+mn-lt"/>
                <a:cs typeface="+mn-lt"/>
              </a:rPr>
              <a:t>MSE = Mean Squared Error </a:t>
            </a:r>
          </a:p>
          <a:p>
            <a:pPr>
              <a:buFont typeface="Arial"/>
              <a:buChar char="•"/>
            </a:pPr>
            <a:r>
              <a:rPr lang="en-US" dirty="0">
                <a:ea typeface="+mn-lt"/>
                <a:cs typeface="+mn-lt"/>
              </a:rPr>
              <a:t>RMSE = Root Mean Squared Error </a:t>
            </a:r>
          </a:p>
          <a:p>
            <a:pPr>
              <a:buFont typeface="Arial"/>
              <a:buChar char="•"/>
            </a:pPr>
            <a:r>
              <a:rPr lang="en-US" dirty="0">
                <a:ea typeface="+mn-lt"/>
                <a:cs typeface="+mn-lt"/>
              </a:rPr>
              <a:t>R² = Coefficient of Determination (R-Squared)</a:t>
            </a:r>
          </a:p>
          <a:p>
            <a:pPr marL="0" indent="0">
              <a:buNone/>
            </a:pPr>
            <a:endParaRPr lang="en-US" dirty="0"/>
          </a:p>
          <a:p>
            <a:pPr marL="0" indent="0">
              <a:buNone/>
            </a:pPr>
            <a:endParaRPr lang="en-US" dirty="0"/>
          </a:p>
        </p:txBody>
      </p:sp>
      <p:sp>
        <p:nvSpPr>
          <p:cNvPr id="7" name="Slide Number Placeholder 6">
            <a:extLst>
              <a:ext uri="{FF2B5EF4-FFF2-40B4-BE49-F238E27FC236}">
                <a16:creationId xmlns:a16="http://schemas.microsoft.com/office/drawing/2014/main" id="{C40C3E63-211A-BA72-7F7D-8870F352C3CA}"/>
              </a:ext>
            </a:extLst>
          </p:cNvPr>
          <p:cNvSpPr>
            <a:spLocks noGrp="1"/>
          </p:cNvSpPr>
          <p:nvPr>
            <p:ph type="sldNum" sz="quarter" idx="12"/>
          </p:nvPr>
        </p:nvSpPr>
        <p:spPr/>
        <p:txBody>
          <a:bodyPr/>
          <a:lstStyle/>
          <a:p>
            <a:fld id="{CC057153-B650-4DEB-B370-79DDCFDCE934}" type="slidenum">
              <a:rPr lang="en-US" smtClean="0"/>
              <a:t>7</a:t>
            </a:fld>
            <a:endParaRPr lang="en-US" dirty="0"/>
          </a:p>
        </p:txBody>
      </p:sp>
      <p:sp>
        <p:nvSpPr>
          <p:cNvPr id="8" name="Footer Placeholder 4">
            <a:extLst>
              <a:ext uri="{FF2B5EF4-FFF2-40B4-BE49-F238E27FC236}">
                <a16:creationId xmlns:a16="http://schemas.microsoft.com/office/drawing/2014/main" id="{E55DB905-0BCB-8F60-15DF-81994E665322}"/>
              </a:ext>
            </a:extLst>
          </p:cNvPr>
          <p:cNvSpPr txBox="1">
            <a:spLocks/>
          </p:cNvSpPr>
          <p:nvPr/>
        </p:nvSpPr>
        <p:spPr>
          <a:xfrm rot="16200000">
            <a:off x="-2067304" y="2064540"/>
            <a:ext cx="4564376" cy="429768"/>
          </a:xfrm>
          <a:prstGeom prst="rect">
            <a:avLst/>
          </a:prstGeom>
        </p:spPr>
        <p:txBody>
          <a:bodyPr vert="horz" lIns="91440" tIns="45720" rIns="91440" bIns="45720" rtlCol="0" anchor="ctr"/>
          <a:lstStyle>
            <a:defPPr>
              <a:defRPr lang="en-US"/>
            </a:defPPr>
            <a:lvl1pPr marL="0" algn="r" defTabSz="914400" rtl="0" eaLnBrk="1" latinLnBrk="0" hangingPunct="1">
              <a:defRPr sz="800" b="0" i="0" kern="1200">
                <a:solidFill>
                  <a:schemeClr val="tx1"/>
                </a:solidFill>
                <a:latin typeface="+mn-lt"/>
                <a:ea typeface="Batang" panose="02030600000101010101" pitchFamily="18" charset="-127"/>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ea typeface="Batang"/>
              </a:rPr>
              <a:t>Diamonds Predictor Application</a:t>
            </a:r>
          </a:p>
        </p:txBody>
      </p:sp>
      <p:pic>
        <p:nvPicPr>
          <p:cNvPr id="9" name="Picture 8">
            <a:extLst>
              <a:ext uri="{FF2B5EF4-FFF2-40B4-BE49-F238E27FC236}">
                <a16:creationId xmlns:a16="http://schemas.microsoft.com/office/drawing/2014/main" id="{AD9201FA-2B43-725A-3954-91B99A06CBD6}"/>
              </a:ext>
            </a:extLst>
          </p:cNvPr>
          <p:cNvPicPr>
            <a:picLocks noChangeAspect="1"/>
          </p:cNvPicPr>
          <p:nvPr/>
        </p:nvPicPr>
        <p:blipFill>
          <a:blip r:embed="rId3"/>
          <a:stretch>
            <a:fillRect/>
          </a:stretch>
        </p:blipFill>
        <p:spPr>
          <a:xfrm>
            <a:off x="6096679" y="2129745"/>
            <a:ext cx="5913212" cy="3803197"/>
          </a:xfrm>
          <a:prstGeom prst="rect">
            <a:avLst/>
          </a:prstGeom>
        </p:spPr>
      </p:pic>
    </p:spTree>
    <p:extLst>
      <p:ext uri="{BB962C8B-B14F-4D97-AF65-F5344CB8AC3E}">
        <p14:creationId xmlns:p14="http://schemas.microsoft.com/office/powerpoint/2010/main" val="21687357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a:extLst>
            <a:ext uri="{FF2B5EF4-FFF2-40B4-BE49-F238E27FC236}">
              <a16:creationId xmlns:a16="http://schemas.microsoft.com/office/drawing/2014/main" id="{A18913DE-F140-3A2A-D9B6-319DE239F3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B246E7-9AF6-7D73-A5B5-500DEFE9FBF3}"/>
              </a:ext>
            </a:extLst>
          </p:cNvPr>
          <p:cNvSpPr>
            <a:spLocks noGrp="1"/>
          </p:cNvSpPr>
          <p:nvPr>
            <p:ph type="title"/>
          </p:nvPr>
        </p:nvSpPr>
        <p:spPr>
          <a:xfrm>
            <a:off x="429209" y="1001715"/>
            <a:ext cx="11762791" cy="1127756"/>
          </a:xfrm>
        </p:spPr>
        <p:txBody>
          <a:bodyPr>
            <a:normAutofit/>
          </a:bodyPr>
          <a:lstStyle/>
          <a:p>
            <a:r>
              <a:rPr lang="en-US" sz="3500" dirty="0">
                <a:ea typeface="+mj-lt"/>
                <a:cs typeface="+mj-lt"/>
              </a:rPr>
              <a:t>ANN classification Model (clarity Prediction)</a:t>
            </a:r>
            <a:endParaRPr lang="en-US" sz="3500" dirty="0"/>
          </a:p>
        </p:txBody>
      </p:sp>
      <p:sp>
        <p:nvSpPr>
          <p:cNvPr id="3" name="Text Placeholder 2">
            <a:extLst>
              <a:ext uri="{FF2B5EF4-FFF2-40B4-BE49-F238E27FC236}">
                <a16:creationId xmlns:a16="http://schemas.microsoft.com/office/drawing/2014/main" id="{2D11BAFB-1FD6-093A-BA4D-E7FF64B63F86}"/>
              </a:ext>
            </a:extLst>
          </p:cNvPr>
          <p:cNvSpPr>
            <a:spLocks noGrp="1"/>
          </p:cNvSpPr>
          <p:nvPr>
            <p:ph type="body" sz="quarter" idx="13"/>
          </p:nvPr>
        </p:nvSpPr>
        <p:spPr/>
        <p:txBody>
          <a:bodyPr vert="horz" lIns="91440" tIns="45720" rIns="91440" bIns="45720" rtlCol="0" anchor="t">
            <a:normAutofit/>
          </a:bodyPr>
          <a:lstStyle/>
          <a:p>
            <a:pPr>
              <a:buNone/>
            </a:pPr>
            <a:r>
              <a:rPr lang="en-US" b="1" dirty="0">
                <a:ea typeface="+mn-lt"/>
                <a:cs typeface="+mn-lt"/>
              </a:rPr>
              <a:t>Architecture:</a:t>
            </a:r>
          </a:p>
          <a:p>
            <a:pPr>
              <a:buFont typeface="Arial"/>
              <a:buChar char="•"/>
            </a:pPr>
            <a:r>
              <a:rPr lang="en-US" dirty="0">
                <a:ea typeface="+mn-lt"/>
                <a:cs typeface="+mn-lt"/>
              </a:rPr>
              <a:t>Dense(64, relu)</a:t>
            </a:r>
          </a:p>
          <a:p>
            <a:pPr>
              <a:buFont typeface="Arial"/>
              <a:buChar char="•"/>
            </a:pPr>
            <a:r>
              <a:rPr lang="en-US" dirty="0">
                <a:ea typeface="+mn-lt"/>
                <a:cs typeface="+mn-lt"/>
              </a:rPr>
              <a:t>Dense(32, relu)</a:t>
            </a:r>
          </a:p>
          <a:p>
            <a:pPr>
              <a:buFont typeface="Arial"/>
              <a:buChar char="•"/>
            </a:pPr>
            <a:r>
              <a:rPr lang="en-US" dirty="0">
                <a:ea typeface="+mn-lt"/>
                <a:cs typeface="+mn-lt"/>
              </a:rPr>
              <a:t>Dense(8, softmax)</a:t>
            </a:r>
          </a:p>
          <a:p>
            <a:pPr marL="0" indent="0">
              <a:buNone/>
            </a:pPr>
            <a:r>
              <a:rPr lang="en-US" b="1" dirty="0">
                <a:ea typeface="+mn-lt"/>
                <a:cs typeface="+mn-lt"/>
              </a:rPr>
              <a:t>Metrics: </a:t>
            </a:r>
          </a:p>
          <a:p>
            <a:pPr>
              <a:buFont typeface="Arial"/>
              <a:buChar char="•"/>
            </a:pPr>
            <a:r>
              <a:rPr lang="en-US" dirty="0">
                <a:ea typeface="+mn-lt"/>
                <a:cs typeface="+mn-lt"/>
              </a:rPr>
              <a:t>Accuracy</a:t>
            </a:r>
          </a:p>
          <a:p>
            <a:pPr>
              <a:buFont typeface="Arial"/>
              <a:buChar char="•"/>
            </a:pPr>
            <a:r>
              <a:rPr lang="en-US" dirty="0">
                <a:ea typeface="+mn-lt"/>
                <a:cs typeface="+mn-lt"/>
              </a:rPr>
              <a:t>Precision</a:t>
            </a:r>
          </a:p>
          <a:p>
            <a:pPr>
              <a:buFont typeface="Arial"/>
              <a:buChar char="•"/>
            </a:pPr>
            <a:r>
              <a:rPr lang="en-US" dirty="0">
                <a:ea typeface="+mn-lt"/>
                <a:cs typeface="+mn-lt"/>
              </a:rPr>
              <a:t>Recall</a:t>
            </a:r>
          </a:p>
          <a:p>
            <a:pPr>
              <a:buFont typeface="Arial"/>
              <a:buChar char="•"/>
            </a:pPr>
            <a:r>
              <a:rPr lang="en-US" dirty="0">
                <a:ea typeface="+mn-lt"/>
                <a:cs typeface="+mn-lt"/>
              </a:rPr>
              <a:t>F1‑Score</a:t>
            </a:r>
            <a:endParaRPr lang="en-US" dirty="0"/>
          </a:p>
          <a:p>
            <a:pPr marL="0" indent="0">
              <a:buNone/>
            </a:pPr>
            <a:endParaRPr lang="en-US" dirty="0"/>
          </a:p>
          <a:p>
            <a:pPr marL="0" indent="0">
              <a:buNone/>
            </a:pPr>
            <a:endParaRPr lang="en-US" dirty="0"/>
          </a:p>
        </p:txBody>
      </p:sp>
      <p:sp>
        <p:nvSpPr>
          <p:cNvPr id="7" name="Slide Number Placeholder 6">
            <a:extLst>
              <a:ext uri="{FF2B5EF4-FFF2-40B4-BE49-F238E27FC236}">
                <a16:creationId xmlns:a16="http://schemas.microsoft.com/office/drawing/2014/main" id="{551C0779-93A8-7A72-FA5B-2F2CFBFBA033}"/>
              </a:ext>
            </a:extLst>
          </p:cNvPr>
          <p:cNvSpPr>
            <a:spLocks noGrp="1"/>
          </p:cNvSpPr>
          <p:nvPr>
            <p:ph type="sldNum" sz="quarter" idx="12"/>
          </p:nvPr>
        </p:nvSpPr>
        <p:spPr/>
        <p:txBody>
          <a:bodyPr/>
          <a:lstStyle/>
          <a:p>
            <a:fld id="{CC057153-B650-4DEB-B370-79DDCFDCE934}" type="slidenum">
              <a:rPr lang="en-US" smtClean="0"/>
              <a:t>8</a:t>
            </a:fld>
            <a:endParaRPr lang="en-US" dirty="0"/>
          </a:p>
        </p:txBody>
      </p:sp>
      <p:sp>
        <p:nvSpPr>
          <p:cNvPr id="8" name="Footer Placeholder 4">
            <a:extLst>
              <a:ext uri="{FF2B5EF4-FFF2-40B4-BE49-F238E27FC236}">
                <a16:creationId xmlns:a16="http://schemas.microsoft.com/office/drawing/2014/main" id="{1C7365A8-5D4B-327E-2E07-E37BC0A6CD40}"/>
              </a:ext>
            </a:extLst>
          </p:cNvPr>
          <p:cNvSpPr txBox="1">
            <a:spLocks/>
          </p:cNvSpPr>
          <p:nvPr/>
        </p:nvSpPr>
        <p:spPr>
          <a:xfrm rot="16200000">
            <a:off x="-2067304" y="2064540"/>
            <a:ext cx="4564376" cy="429768"/>
          </a:xfrm>
          <a:prstGeom prst="rect">
            <a:avLst/>
          </a:prstGeom>
        </p:spPr>
        <p:txBody>
          <a:bodyPr vert="horz" lIns="91440" tIns="45720" rIns="91440" bIns="45720" rtlCol="0" anchor="ctr"/>
          <a:lstStyle>
            <a:defPPr>
              <a:defRPr lang="en-US"/>
            </a:defPPr>
            <a:lvl1pPr marL="0" algn="r" defTabSz="914400" rtl="0" eaLnBrk="1" latinLnBrk="0" hangingPunct="1">
              <a:defRPr sz="800" b="0" i="0" kern="1200">
                <a:solidFill>
                  <a:schemeClr val="tx1"/>
                </a:solidFill>
                <a:latin typeface="+mn-lt"/>
                <a:ea typeface="Batang" panose="02030600000101010101" pitchFamily="18" charset="-127"/>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ea typeface="Batang"/>
              </a:rPr>
              <a:t>Diamonds Predictor Application</a:t>
            </a:r>
          </a:p>
        </p:txBody>
      </p:sp>
      <p:pic>
        <p:nvPicPr>
          <p:cNvPr id="9" name="Picture 8">
            <a:extLst>
              <a:ext uri="{FF2B5EF4-FFF2-40B4-BE49-F238E27FC236}">
                <a16:creationId xmlns:a16="http://schemas.microsoft.com/office/drawing/2014/main" id="{33DB7011-76A9-E487-F803-B5FBD82900B0}"/>
              </a:ext>
            </a:extLst>
          </p:cNvPr>
          <p:cNvPicPr>
            <a:picLocks noChangeAspect="1"/>
          </p:cNvPicPr>
          <p:nvPr/>
        </p:nvPicPr>
        <p:blipFill>
          <a:blip r:embed="rId3"/>
          <a:stretch>
            <a:fillRect/>
          </a:stretch>
        </p:blipFill>
        <p:spPr>
          <a:xfrm>
            <a:off x="4064000" y="2286001"/>
            <a:ext cx="7721600" cy="3585029"/>
          </a:xfrm>
          <a:prstGeom prst="rect">
            <a:avLst/>
          </a:prstGeom>
        </p:spPr>
      </p:pic>
    </p:spTree>
    <p:extLst>
      <p:ext uri="{BB962C8B-B14F-4D97-AF65-F5344CB8AC3E}">
        <p14:creationId xmlns:p14="http://schemas.microsoft.com/office/powerpoint/2010/main" val="9570121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a:extLst>
            <a:ext uri="{FF2B5EF4-FFF2-40B4-BE49-F238E27FC236}">
              <a16:creationId xmlns:a16="http://schemas.microsoft.com/office/drawing/2014/main" id="{0848481A-6684-C0D9-C6EE-1A1CE43E95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B121CD-9A5E-BBF7-755F-E3EDF28F556D}"/>
              </a:ext>
            </a:extLst>
          </p:cNvPr>
          <p:cNvSpPr>
            <a:spLocks noGrp="1"/>
          </p:cNvSpPr>
          <p:nvPr>
            <p:ph type="title"/>
          </p:nvPr>
        </p:nvSpPr>
        <p:spPr>
          <a:xfrm>
            <a:off x="634030" y="1001715"/>
            <a:ext cx="10648162" cy="1127756"/>
          </a:xfrm>
        </p:spPr>
        <p:txBody>
          <a:bodyPr>
            <a:normAutofit/>
          </a:bodyPr>
          <a:lstStyle/>
          <a:p>
            <a:r>
              <a:rPr lang="en-US">
                <a:ea typeface="+mj-lt"/>
                <a:cs typeface="+mj-lt"/>
              </a:rPr>
              <a:t>Customer Segmentation (Clustering)</a:t>
            </a:r>
            <a:endParaRPr lang="en-US"/>
          </a:p>
        </p:txBody>
      </p:sp>
      <p:sp>
        <p:nvSpPr>
          <p:cNvPr id="3" name="Text Placeholder 2">
            <a:extLst>
              <a:ext uri="{FF2B5EF4-FFF2-40B4-BE49-F238E27FC236}">
                <a16:creationId xmlns:a16="http://schemas.microsoft.com/office/drawing/2014/main" id="{96DE7F4F-8324-0D03-4D23-F93BB1EE2C29}"/>
              </a:ext>
            </a:extLst>
          </p:cNvPr>
          <p:cNvSpPr>
            <a:spLocks noGrp="1"/>
          </p:cNvSpPr>
          <p:nvPr>
            <p:ph type="body" sz="quarter" idx="13"/>
          </p:nvPr>
        </p:nvSpPr>
        <p:spPr>
          <a:xfrm>
            <a:off x="634030" y="2129474"/>
            <a:ext cx="5266090" cy="4435918"/>
          </a:xfrm>
        </p:spPr>
        <p:txBody>
          <a:bodyPr vert="horz" lIns="91440" tIns="45720" rIns="91440" bIns="45720" rtlCol="0" anchor="t">
            <a:normAutofit fontScale="92500" lnSpcReduction="10000"/>
          </a:bodyPr>
          <a:lstStyle/>
          <a:p>
            <a:pPr>
              <a:buNone/>
            </a:pPr>
            <a:r>
              <a:rPr lang="en-US" b="1" dirty="0">
                <a:ea typeface="+mn-lt"/>
                <a:cs typeface="+mn-lt"/>
              </a:rPr>
              <a:t>Method:</a:t>
            </a:r>
            <a:r>
              <a:rPr lang="en-US" dirty="0">
                <a:ea typeface="+mn-lt"/>
                <a:cs typeface="+mn-lt"/>
              </a:rPr>
              <a:t> KMeans </a:t>
            </a:r>
          </a:p>
          <a:p>
            <a:pPr>
              <a:lnSpc>
                <a:spcPct val="110000"/>
              </a:lnSpc>
              <a:buNone/>
            </a:pPr>
            <a:r>
              <a:rPr lang="en-US" sz="1400" i="1" dirty="0"/>
              <a:t>KMeans is fast, simple, and works well with scaled numeric data</a:t>
            </a:r>
          </a:p>
          <a:p>
            <a:pPr>
              <a:lnSpc>
                <a:spcPct val="110000"/>
              </a:lnSpc>
              <a:buNone/>
            </a:pPr>
            <a:endParaRPr lang="en-US" sz="1400" i="1" dirty="0"/>
          </a:p>
          <a:p>
            <a:pPr>
              <a:buNone/>
            </a:pPr>
            <a:r>
              <a:rPr lang="en-US" b="1" dirty="0">
                <a:ea typeface="+mn-lt"/>
                <a:cs typeface="+mn-lt"/>
              </a:rPr>
              <a:t>Evaluation:</a:t>
            </a:r>
            <a:r>
              <a:rPr lang="en-US" dirty="0">
                <a:ea typeface="+mn-lt"/>
                <a:cs typeface="+mn-lt"/>
              </a:rPr>
              <a:t> Silhouette Score </a:t>
            </a:r>
          </a:p>
          <a:p>
            <a:pPr>
              <a:lnSpc>
                <a:spcPct val="100000"/>
              </a:lnSpc>
              <a:buNone/>
            </a:pPr>
            <a:r>
              <a:rPr lang="en-US" sz="1400" i="1" dirty="0"/>
              <a:t>Silhouette Score measures how well clusters are separated.</a:t>
            </a:r>
          </a:p>
          <a:p>
            <a:pPr>
              <a:lnSpc>
                <a:spcPct val="100000"/>
              </a:lnSpc>
              <a:buNone/>
            </a:pPr>
            <a:r>
              <a:rPr lang="en-US" sz="1400" i="1" dirty="0"/>
              <a:t>Higher score = better clustering</a:t>
            </a:r>
          </a:p>
          <a:p>
            <a:pPr>
              <a:lnSpc>
                <a:spcPct val="100000"/>
              </a:lnSpc>
              <a:buNone/>
            </a:pPr>
            <a:endParaRPr lang="en-US" sz="1400" i="1" dirty="0">
              <a:ea typeface="+mn-lt"/>
              <a:cs typeface="+mn-lt"/>
            </a:endParaRPr>
          </a:p>
          <a:p>
            <a:pPr>
              <a:buNone/>
            </a:pPr>
            <a:r>
              <a:rPr lang="en-US" b="1" dirty="0">
                <a:ea typeface="+mn-lt"/>
                <a:cs typeface="+mn-lt"/>
              </a:rPr>
              <a:t>Clusters:</a:t>
            </a:r>
            <a:endParaRPr lang="en-US" dirty="0"/>
          </a:p>
          <a:p>
            <a:pPr>
              <a:buFont typeface="Arial"/>
              <a:buChar char="•"/>
            </a:pPr>
            <a:r>
              <a:rPr lang="en-US" dirty="0">
                <a:ea typeface="+mn-lt"/>
                <a:cs typeface="+mn-lt"/>
              </a:rPr>
              <a:t>High‑carat, high‑price</a:t>
            </a:r>
            <a:endParaRPr lang="en-US" dirty="0"/>
          </a:p>
          <a:p>
            <a:pPr>
              <a:buFont typeface="Arial"/>
              <a:buChar char="•"/>
            </a:pPr>
            <a:r>
              <a:rPr lang="en-US" dirty="0">
                <a:ea typeface="+mn-lt"/>
                <a:cs typeface="+mn-lt"/>
              </a:rPr>
              <a:t>Mid‑range</a:t>
            </a:r>
            <a:endParaRPr lang="en-US" dirty="0"/>
          </a:p>
          <a:p>
            <a:pPr>
              <a:buFont typeface="Arial"/>
              <a:buChar char="•"/>
            </a:pPr>
            <a:r>
              <a:rPr lang="en-US" dirty="0">
                <a:ea typeface="+mn-lt"/>
                <a:cs typeface="+mn-lt"/>
              </a:rPr>
              <a:t>Small, low‑price</a:t>
            </a:r>
            <a:endParaRPr lang="en-US" dirty="0"/>
          </a:p>
          <a:p>
            <a:pPr>
              <a:buFont typeface="Arial"/>
              <a:buChar char="•"/>
            </a:pPr>
            <a:r>
              <a:rPr lang="en-US" dirty="0">
                <a:ea typeface="+mn-lt"/>
                <a:cs typeface="+mn-lt"/>
              </a:rPr>
              <a:t>Unusual proportions</a:t>
            </a:r>
            <a:endParaRPr lang="en-US" dirty="0"/>
          </a:p>
          <a:p>
            <a:pPr>
              <a:buNone/>
            </a:pPr>
            <a:endParaRPr lang="en-US" b="1" dirty="0"/>
          </a:p>
          <a:p>
            <a:pPr marL="0" indent="0">
              <a:buNone/>
            </a:pPr>
            <a:endParaRPr lang="en-US" dirty="0"/>
          </a:p>
          <a:p>
            <a:pPr marL="0" indent="0">
              <a:buNone/>
            </a:pPr>
            <a:endParaRPr lang="en-US" dirty="0"/>
          </a:p>
        </p:txBody>
      </p:sp>
      <p:sp>
        <p:nvSpPr>
          <p:cNvPr id="7" name="Slide Number Placeholder 6">
            <a:extLst>
              <a:ext uri="{FF2B5EF4-FFF2-40B4-BE49-F238E27FC236}">
                <a16:creationId xmlns:a16="http://schemas.microsoft.com/office/drawing/2014/main" id="{8496A163-34CE-14EA-7F3B-1C0001FC0410}"/>
              </a:ext>
            </a:extLst>
          </p:cNvPr>
          <p:cNvSpPr>
            <a:spLocks noGrp="1"/>
          </p:cNvSpPr>
          <p:nvPr>
            <p:ph type="sldNum" sz="quarter" idx="12"/>
          </p:nvPr>
        </p:nvSpPr>
        <p:spPr/>
        <p:txBody>
          <a:bodyPr/>
          <a:lstStyle/>
          <a:p>
            <a:fld id="{CC057153-B650-4DEB-B370-79DDCFDCE934}" type="slidenum">
              <a:rPr lang="en-US" smtClean="0"/>
              <a:t>9</a:t>
            </a:fld>
            <a:endParaRPr lang="en-US" dirty="0"/>
          </a:p>
        </p:txBody>
      </p:sp>
      <p:sp>
        <p:nvSpPr>
          <p:cNvPr id="8" name="Footer Placeholder 4">
            <a:extLst>
              <a:ext uri="{FF2B5EF4-FFF2-40B4-BE49-F238E27FC236}">
                <a16:creationId xmlns:a16="http://schemas.microsoft.com/office/drawing/2014/main" id="{5CD223E9-7BF9-4842-98DE-2F4E3F3825ED}"/>
              </a:ext>
            </a:extLst>
          </p:cNvPr>
          <p:cNvSpPr txBox="1">
            <a:spLocks/>
          </p:cNvSpPr>
          <p:nvPr/>
        </p:nvSpPr>
        <p:spPr>
          <a:xfrm rot="16200000">
            <a:off x="-2067304" y="2064540"/>
            <a:ext cx="4564376" cy="429768"/>
          </a:xfrm>
          <a:prstGeom prst="rect">
            <a:avLst/>
          </a:prstGeom>
        </p:spPr>
        <p:txBody>
          <a:bodyPr vert="horz" lIns="91440" tIns="45720" rIns="91440" bIns="45720" rtlCol="0" anchor="ctr"/>
          <a:lstStyle>
            <a:defPPr>
              <a:defRPr lang="en-US"/>
            </a:defPPr>
            <a:lvl1pPr marL="0" algn="r" defTabSz="914400" rtl="0" eaLnBrk="1" latinLnBrk="0" hangingPunct="1">
              <a:defRPr sz="800" b="0" i="0" kern="1200">
                <a:solidFill>
                  <a:schemeClr val="tx1"/>
                </a:solidFill>
                <a:latin typeface="+mn-lt"/>
                <a:ea typeface="Batang" panose="02030600000101010101" pitchFamily="18" charset="-127"/>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ea typeface="Batang"/>
              </a:rPr>
              <a:t>Diamonds Predictor Application</a:t>
            </a:r>
          </a:p>
        </p:txBody>
      </p:sp>
      <p:pic>
        <p:nvPicPr>
          <p:cNvPr id="9" name="Picture 8">
            <a:extLst>
              <a:ext uri="{FF2B5EF4-FFF2-40B4-BE49-F238E27FC236}">
                <a16:creationId xmlns:a16="http://schemas.microsoft.com/office/drawing/2014/main" id="{E7CABB23-1657-AA6F-7C9A-76F547573260}"/>
              </a:ext>
            </a:extLst>
          </p:cNvPr>
          <p:cNvPicPr>
            <a:picLocks noChangeAspect="1"/>
          </p:cNvPicPr>
          <p:nvPr/>
        </p:nvPicPr>
        <p:blipFill>
          <a:blip r:embed="rId3"/>
          <a:stretch>
            <a:fillRect/>
          </a:stretch>
        </p:blipFill>
        <p:spPr>
          <a:xfrm>
            <a:off x="5449245" y="2124982"/>
            <a:ext cx="6542676" cy="4367531"/>
          </a:xfrm>
          <a:prstGeom prst="rect">
            <a:avLst/>
          </a:prstGeom>
        </p:spPr>
      </p:pic>
    </p:spTree>
    <p:extLst>
      <p:ext uri="{BB962C8B-B14F-4D97-AF65-F5344CB8AC3E}">
        <p14:creationId xmlns:p14="http://schemas.microsoft.com/office/powerpoint/2010/main" val="11192107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A360D7-F74C-CD9E-C576-1CB8FFE8778E}"/>
              </a:ext>
            </a:extLst>
          </p:cNvPr>
          <p:cNvSpPr>
            <a:spLocks noGrp="1"/>
          </p:cNvSpPr>
          <p:nvPr>
            <p:ph type="ctrTitle"/>
          </p:nvPr>
        </p:nvSpPr>
        <p:spPr>
          <a:xfrm>
            <a:off x="633478" y="638132"/>
            <a:ext cx="10924476" cy="2147207"/>
          </a:xfrm>
        </p:spPr>
        <p:txBody>
          <a:bodyPr/>
          <a:lstStyle/>
          <a:p>
            <a:r>
              <a:rPr lang="en-US"/>
              <a:t>Ai assistant</a:t>
            </a:r>
          </a:p>
        </p:txBody>
      </p:sp>
      <p:sp>
        <p:nvSpPr>
          <p:cNvPr id="4" name="Title 1">
            <a:extLst>
              <a:ext uri="{FF2B5EF4-FFF2-40B4-BE49-F238E27FC236}">
                <a16:creationId xmlns:a16="http://schemas.microsoft.com/office/drawing/2014/main" id="{08A86C91-B0FE-2742-6409-792B49CDCEA5}"/>
              </a:ext>
            </a:extLst>
          </p:cNvPr>
          <p:cNvSpPr txBox="1">
            <a:spLocks/>
          </p:cNvSpPr>
          <p:nvPr/>
        </p:nvSpPr>
        <p:spPr>
          <a:xfrm>
            <a:off x="633478" y="2953160"/>
            <a:ext cx="10924476" cy="1406977"/>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7200" b="0" i="0" kern="1200" cap="all" baseline="0">
                <a:solidFill>
                  <a:schemeClr val="bg1"/>
                </a:solidFill>
                <a:latin typeface="+mj-lt"/>
                <a:ea typeface="+mj-ea"/>
                <a:cs typeface="+mj-cs"/>
              </a:defRPr>
            </a:lvl1pPr>
          </a:lstStyle>
          <a:p>
            <a:pPr marL="285750" indent="-285750">
              <a:lnSpc>
                <a:spcPct val="150000"/>
              </a:lnSpc>
              <a:buFont typeface="Arial"/>
              <a:buChar char="•"/>
            </a:pPr>
            <a:r>
              <a:rPr lang="en-US" sz="1600" cap="none">
                <a:ea typeface="+mj-lt"/>
                <a:cs typeface="+mj-lt"/>
              </a:rPr>
              <a:t>Natural language search </a:t>
            </a:r>
            <a:endParaRPr lang="en-US" cap="none"/>
          </a:p>
          <a:p>
            <a:pPr marL="285750" indent="-285750">
              <a:lnSpc>
                <a:spcPct val="150000"/>
              </a:lnSpc>
              <a:buFont typeface="Arial"/>
              <a:buChar char="•"/>
            </a:pPr>
            <a:r>
              <a:rPr lang="en-US" sz="1600" cap="none">
                <a:ea typeface="+mj-lt"/>
                <a:cs typeface="+mj-lt"/>
              </a:rPr>
              <a:t>Explains results </a:t>
            </a:r>
          </a:p>
          <a:p>
            <a:pPr marL="285750" indent="-285750">
              <a:lnSpc>
                <a:spcPct val="150000"/>
              </a:lnSpc>
              <a:buFont typeface="Arial"/>
              <a:buChar char="•"/>
            </a:pPr>
            <a:r>
              <a:rPr lang="en-US" sz="1600" cap="none">
                <a:ea typeface="+mj-lt"/>
                <a:cs typeface="+mj-lt"/>
              </a:rPr>
              <a:t>Finds diamonds based on user intent</a:t>
            </a:r>
            <a:endParaRPr lang="en-US" sz="1600" cap="none"/>
          </a:p>
        </p:txBody>
      </p:sp>
      <p:sp>
        <p:nvSpPr>
          <p:cNvPr id="6" name="Footer Placeholder 4">
            <a:extLst>
              <a:ext uri="{FF2B5EF4-FFF2-40B4-BE49-F238E27FC236}">
                <a16:creationId xmlns:a16="http://schemas.microsoft.com/office/drawing/2014/main" id="{0EAE2E68-B485-B9FF-5739-5B390D73532E}"/>
              </a:ext>
            </a:extLst>
          </p:cNvPr>
          <p:cNvSpPr txBox="1">
            <a:spLocks/>
          </p:cNvSpPr>
          <p:nvPr/>
        </p:nvSpPr>
        <p:spPr>
          <a:xfrm rot="16200000">
            <a:off x="-2067304" y="2064540"/>
            <a:ext cx="4564376" cy="429768"/>
          </a:xfrm>
          <a:prstGeom prst="rect">
            <a:avLst/>
          </a:prstGeom>
        </p:spPr>
        <p:txBody>
          <a:bodyPr vert="horz" lIns="91440" tIns="45720" rIns="91440" bIns="45720" rtlCol="0" anchor="ctr"/>
          <a:lstStyle>
            <a:defPPr>
              <a:defRPr lang="en-US"/>
            </a:defPPr>
            <a:lvl1pPr marL="0" algn="r" defTabSz="914400" rtl="0" eaLnBrk="1" latinLnBrk="0" hangingPunct="1">
              <a:defRPr sz="800" b="0" i="0" kern="1200">
                <a:solidFill>
                  <a:schemeClr val="tx1"/>
                </a:solidFill>
                <a:latin typeface="+mn-lt"/>
                <a:ea typeface="Batang" panose="02030600000101010101" pitchFamily="18" charset="-127"/>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bg1"/>
                </a:solidFill>
                <a:ea typeface="Batang"/>
              </a:rPr>
              <a:t>Diamonds Predictor Application</a:t>
            </a:r>
          </a:p>
        </p:txBody>
      </p:sp>
      <p:pic>
        <p:nvPicPr>
          <p:cNvPr id="7" name="Picture 6" descr="A chair and table on a balcony">
            <a:extLst>
              <a:ext uri="{FF2B5EF4-FFF2-40B4-BE49-F238E27FC236}">
                <a16:creationId xmlns:a16="http://schemas.microsoft.com/office/drawing/2014/main" id="{BAC1349E-40AC-AE24-1E2C-E02C54386313}"/>
              </a:ext>
            </a:extLst>
          </p:cNvPr>
          <p:cNvPicPr>
            <a:picLocks noChangeAspect="1"/>
          </p:cNvPicPr>
          <p:nvPr/>
        </p:nvPicPr>
        <p:blipFill>
          <a:blip r:embed="rId3"/>
          <a:srcRect r="-169"/>
          <a:stretch>
            <a:fillRect/>
          </a:stretch>
        </p:blipFill>
        <p:spPr>
          <a:xfrm>
            <a:off x="7874227" y="0"/>
            <a:ext cx="4303055" cy="6858000"/>
          </a:xfrm>
          <a:prstGeom prst="rect">
            <a:avLst/>
          </a:prstGeom>
        </p:spPr>
      </p:pic>
    </p:spTree>
    <p:extLst>
      <p:ext uri="{BB962C8B-B14F-4D97-AF65-F5344CB8AC3E}">
        <p14:creationId xmlns:p14="http://schemas.microsoft.com/office/powerpoint/2010/main" val="18583877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E72092-1D93-1C42-71C9-4C3CD1035FA3}"/>
              </a:ext>
            </a:extLst>
          </p:cNvPr>
          <p:cNvSpPr>
            <a:spLocks noGrp="1"/>
          </p:cNvSpPr>
          <p:nvPr>
            <p:ph type="title"/>
          </p:nvPr>
        </p:nvSpPr>
        <p:spPr>
          <a:xfrm>
            <a:off x="634030" y="1001714"/>
            <a:ext cx="6954277" cy="726631"/>
          </a:xfrm>
        </p:spPr>
        <p:txBody>
          <a:bodyPr/>
          <a:lstStyle/>
          <a:p>
            <a:r>
              <a:rPr lang="en-US" dirty="0">
                <a:ea typeface="+mj-lt"/>
                <a:cs typeface="+mj-lt"/>
              </a:rPr>
              <a:t>Gradio Web Application</a:t>
            </a:r>
            <a:endParaRPr lang="en-US" dirty="0"/>
          </a:p>
        </p:txBody>
      </p:sp>
      <p:sp>
        <p:nvSpPr>
          <p:cNvPr id="6" name="Slide Number Placeholder 5">
            <a:extLst>
              <a:ext uri="{FF2B5EF4-FFF2-40B4-BE49-F238E27FC236}">
                <a16:creationId xmlns:a16="http://schemas.microsoft.com/office/drawing/2014/main" id="{A6B74622-7DE0-8F9D-5C52-82D39E218EE1}"/>
              </a:ext>
            </a:extLst>
          </p:cNvPr>
          <p:cNvSpPr>
            <a:spLocks noGrp="1"/>
          </p:cNvSpPr>
          <p:nvPr>
            <p:ph type="sldNum" sz="quarter" idx="12"/>
          </p:nvPr>
        </p:nvSpPr>
        <p:spPr/>
        <p:txBody>
          <a:bodyPr/>
          <a:lstStyle/>
          <a:p>
            <a:fld id="{CC057153-B650-4DEB-B370-79DDCFDCE934}" type="slidenum">
              <a:rPr lang="en-US" smtClean="0"/>
              <a:t>11</a:t>
            </a:fld>
            <a:endParaRPr lang="en-US" dirty="0"/>
          </a:p>
        </p:txBody>
      </p:sp>
      <p:sp>
        <p:nvSpPr>
          <p:cNvPr id="4" name="Footer Placeholder 4">
            <a:extLst>
              <a:ext uri="{FF2B5EF4-FFF2-40B4-BE49-F238E27FC236}">
                <a16:creationId xmlns:a16="http://schemas.microsoft.com/office/drawing/2014/main" id="{80C3E9A2-7C77-6213-4FAB-61F4FD8A2E93}"/>
              </a:ext>
            </a:extLst>
          </p:cNvPr>
          <p:cNvSpPr txBox="1">
            <a:spLocks/>
          </p:cNvSpPr>
          <p:nvPr/>
        </p:nvSpPr>
        <p:spPr>
          <a:xfrm rot="16200000">
            <a:off x="-2067304" y="2064540"/>
            <a:ext cx="4564376" cy="429768"/>
          </a:xfrm>
          <a:prstGeom prst="rect">
            <a:avLst/>
          </a:prstGeom>
        </p:spPr>
        <p:txBody>
          <a:bodyPr vert="horz" lIns="91440" tIns="45720" rIns="91440" bIns="45720" rtlCol="0" anchor="ctr"/>
          <a:lstStyle>
            <a:defPPr>
              <a:defRPr lang="en-US"/>
            </a:defPPr>
            <a:lvl1pPr marL="0" algn="r" defTabSz="914400" rtl="0" eaLnBrk="1" latinLnBrk="0" hangingPunct="1">
              <a:defRPr sz="800" b="0" i="0" kern="1200">
                <a:solidFill>
                  <a:schemeClr val="tx1"/>
                </a:solidFill>
                <a:latin typeface="+mn-lt"/>
                <a:ea typeface="Batang" panose="02030600000101010101" pitchFamily="18" charset="-127"/>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ea typeface="Batang"/>
              </a:rPr>
              <a:t>Diamonds Predictor Application</a:t>
            </a:r>
          </a:p>
        </p:txBody>
      </p:sp>
      <p:sp>
        <p:nvSpPr>
          <p:cNvPr id="3" name="Content Placeholder 4">
            <a:extLst>
              <a:ext uri="{FF2B5EF4-FFF2-40B4-BE49-F238E27FC236}">
                <a16:creationId xmlns:a16="http://schemas.microsoft.com/office/drawing/2014/main" id="{FC5F8BB3-7F29-177C-0517-DAB31D503393}"/>
              </a:ext>
            </a:extLst>
          </p:cNvPr>
          <p:cNvSpPr txBox="1">
            <a:spLocks/>
          </p:cNvSpPr>
          <p:nvPr/>
        </p:nvSpPr>
        <p:spPr>
          <a:xfrm>
            <a:off x="634031" y="2496190"/>
            <a:ext cx="6595448" cy="3726809"/>
          </a:xfrm>
          <a:prstGeom prst="rect">
            <a:avLst/>
          </a:prstGeom>
        </p:spPr>
        <p:txBody>
          <a:bodyPr vert="horz" lIns="91440" tIns="45720" rIns="91440" bIns="45720" rtlCol="0" anchor="t">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600" b="0" i="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600" b="0" i="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b="0" i="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600" b="0" i="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6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a:ea typeface="+mn-lt"/>
                <a:cs typeface="+mn-lt"/>
              </a:rPr>
              <a:t>Tabs:</a:t>
            </a:r>
            <a:endParaRPr lang="en-US" b="1" dirty="0"/>
          </a:p>
          <a:p>
            <a:pPr marL="285750" indent="-285750">
              <a:buFont typeface="Arial"/>
              <a:buChar char="•"/>
            </a:pPr>
            <a:r>
              <a:rPr lang="en-US" dirty="0">
                <a:ea typeface="+mn-lt"/>
                <a:cs typeface="+mn-lt"/>
              </a:rPr>
              <a:t>Price Prediction</a:t>
            </a:r>
            <a:endParaRPr lang="en-US" dirty="0"/>
          </a:p>
          <a:p>
            <a:pPr marL="285750" indent="-285750">
              <a:buFont typeface="Arial"/>
              <a:buChar char="•"/>
            </a:pPr>
            <a:r>
              <a:rPr lang="en-US" dirty="0">
                <a:ea typeface="+mn-lt"/>
                <a:cs typeface="+mn-lt"/>
              </a:rPr>
              <a:t>Clarity Prediction</a:t>
            </a:r>
            <a:endParaRPr lang="en-US" dirty="0"/>
          </a:p>
          <a:p>
            <a:pPr marL="285750" indent="-285750">
              <a:buFont typeface="Arial"/>
              <a:buChar char="•"/>
            </a:pPr>
            <a:r>
              <a:rPr lang="en-US" dirty="0">
                <a:ea typeface="+mn-lt"/>
                <a:cs typeface="+mn-lt"/>
              </a:rPr>
              <a:t>AI Assistant</a:t>
            </a:r>
            <a:endParaRPr lang="en-US" dirty="0"/>
          </a:p>
          <a:p>
            <a:pPr marL="0" indent="0">
              <a:buFont typeface="Arial" panose="020B0604020202020204" pitchFamily="34" charset="0"/>
              <a:buNone/>
            </a:pPr>
            <a:endParaRPr lang="en-US" b="1" dirty="0"/>
          </a:p>
        </p:txBody>
      </p:sp>
      <p:pic>
        <p:nvPicPr>
          <p:cNvPr id="7" name="Picture 6">
            <a:extLst>
              <a:ext uri="{FF2B5EF4-FFF2-40B4-BE49-F238E27FC236}">
                <a16:creationId xmlns:a16="http://schemas.microsoft.com/office/drawing/2014/main" id="{A663F28C-3B8C-56A8-AF6B-5E8F29D5BEFB}"/>
              </a:ext>
            </a:extLst>
          </p:cNvPr>
          <p:cNvPicPr>
            <a:picLocks noChangeAspect="1"/>
          </p:cNvPicPr>
          <p:nvPr/>
        </p:nvPicPr>
        <p:blipFill>
          <a:blip r:embed="rId3"/>
          <a:stretch>
            <a:fillRect/>
          </a:stretch>
        </p:blipFill>
        <p:spPr>
          <a:xfrm>
            <a:off x="4603693" y="1759675"/>
            <a:ext cx="7296866" cy="4852416"/>
          </a:xfrm>
          <a:prstGeom prst="rect">
            <a:avLst/>
          </a:prstGeom>
        </p:spPr>
      </p:pic>
    </p:spTree>
    <p:extLst>
      <p:ext uri="{BB962C8B-B14F-4D97-AF65-F5344CB8AC3E}">
        <p14:creationId xmlns:p14="http://schemas.microsoft.com/office/powerpoint/2010/main" val="11350434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a:extLst>
            <a:ext uri="{FF2B5EF4-FFF2-40B4-BE49-F238E27FC236}">
              <a16:creationId xmlns:a16="http://schemas.microsoft.com/office/drawing/2014/main" id="{21C934B4-77E0-387F-5DB4-3906151249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328115-DC2E-BC4A-4E9F-DFECB075204D}"/>
              </a:ext>
            </a:extLst>
          </p:cNvPr>
          <p:cNvSpPr>
            <a:spLocks noGrp="1"/>
          </p:cNvSpPr>
          <p:nvPr>
            <p:ph type="title"/>
          </p:nvPr>
        </p:nvSpPr>
        <p:spPr/>
        <p:txBody>
          <a:bodyPr/>
          <a:lstStyle/>
          <a:p>
            <a:r>
              <a:rPr lang="en-US">
                <a:ea typeface="+mj-lt"/>
                <a:cs typeface="+mj-lt"/>
              </a:rPr>
              <a:t>Model Comparison Summary</a:t>
            </a:r>
          </a:p>
        </p:txBody>
      </p:sp>
      <p:sp>
        <p:nvSpPr>
          <p:cNvPr id="6" name="Slide Number Placeholder 5">
            <a:extLst>
              <a:ext uri="{FF2B5EF4-FFF2-40B4-BE49-F238E27FC236}">
                <a16:creationId xmlns:a16="http://schemas.microsoft.com/office/drawing/2014/main" id="{E06AA4A9-AA6C-8136-B31B-8CB416D4DC7C}"/>
              </a:ext>
            </a:extLst>
          </p:cNvPr>
          <p:cNvSpPr>
            <a:spLocks noGrp="1"/>
          </p:cNvSpPr>
          <p:nvPr>
            <p:ph type="sldNum" sz="quarter" idx="12"/>
          </p:nvPr>
        </p:nvSpPr>
        <p:spPr/>
        <p:txBody>
          <a:bodyPr/>
          <a:lstStyle/>
          <a:p>
            <a:fld id="{CC057153-B650-4DEB-B370-79DDCFDCE934}" type="slidenum">
              <a:rPr lang="en-US" smtClean="0"/>
              <a:t>12</a:t>
            </a:fld>
            <a:endParaRPr lang="en-US" dirty="0"/>
          </a:p>
        </p:txBody>
      </p:sp>
      <p:sp>
        <p:nvSpPr>
          <p:cNvPr id="4" name="Footer Placeholder 4">
            <a:extLst>
              <a:ext uri="{FF2B5EF4-FFF2-40B4-BE49-F238E27FC236}">
                <a16:creationId xmlns:a16="http://schemas.microsoft.com/office/drawing/2014/main" id="{FBF1ED02-CDEE-392C-37EE-30A9AC6489BB}"/>
              </a:ext>
            </a:extLst>
          </p:cNvPr>
          <p:cNvSpPr txBox="1">
            <a:spLocks/>
          </p:cNvSpPr>
          <p:nvPr/>
        </p:nvSpPr>
        <p:spPr>
          <a:xfrm rot="16200000">
            <a:off x="-2067304" y="2064540"/>
            <a:ext cx="4564376" cy="429768"/>
          </a:xfrm>
          <a:prstGeom prst="rect">
            <a:avLst/>
          </a:prstGeom>
        </p:spPr>
        <p:txBody>
          <a:bodyPr vert="horz" lIns="91440" tIns="45720" rIns="91440" bIns="45720" rtlCol="0" anchor="ctr"/>
          <a:lstStyle>
            <a:defPPr>
              <a:defRPr lang="en-US"/>
            </a:defPPr>
            <a:lvl1pPr marL="0" algn="r" defTabSz="914400" rtl="0" eaLnBrk="1" latinLnBrk="0" hangingPunct="1">
              <a:defRPr sz="800" b="0" i="0" kern="1200">
                <a:solidFill>
                  <a:schemeClr val="tx1"/>
                </a:solidFill>
                <a:latin typeface="+mn-lt"/>
                <a:ea typeface="Batang" panose="02030600000101010101" pitchFamily="18" charset="-127"/>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ea typeface="Batang"/>
              </a:rPr>
              <a:t>Diamonds Predictor Application</a:t>
            </a:r>
          </a:p>
        </p:txBody>
      </p:sp>
      <p:sp>
        <p:nvSpPr>
          <p:cNvPr id="9" name="Content Placeholder 8">
            <a:extLst>
              <a:ext uri="{FF2B5EF4-FFF2-40B4-BE49-F238E27FC236}">
                <a16:creationId xmlns:a16="http://schemas.microsoft.com/office/drawing/2014/main" id="{26492EBA-7F3B-40A6-3B21-35CAA817D2ED}"/>
              </a:ext>
            </a:extLst>
          </p:cNvPr>
          <p:cNvSpPr>
            <a:spLocks noGrp="1"/>
          </p:cNvSpPr>
          <p:nvPr>
            <p:ph idx="1"/>
          </p:nvPr>
        </p:nvSpPr>
        <p:spPr/>
        <p:txBody>
          <a:bodyPr vert="horz" lIns="91440" tIns="45720" rIns="91440" bIns="45720" rtlCol="0" anchor="t">
            <a:normAutofit/>
          </a:bodyPr>
          <a:lstStyle/>
          <a:p>
            <a:pPr>
              <a:lnSpc>
                <a:spcPct val="150000"/>
              </a:lnSpc>
            </a:pPr>
            <a:r>
              <a:rPr lang="en-GB">
                <a:ea typeface="+mn-lt"/>
                <a:cs typeface="+mn-lt"/>
              </a:rPr>
              <a:t>The regression model predicts price accurately. </a:t>
            </a:r>
            <a:endParaRPr lang="en-US">
              <a:ea typeface="+mn-lt"/>
              <a:cs typeface="+mn-lt"/>
            </a:endParaRPr>
          </a:p>
          <a:p>
            <a:pPr>
              <a:lnSpc>
                <a:spcPct val="150000"/>
              </a:lnSpc>
            </a:pPr>
            <a:r>
              <a:rPr lang="en-GB">
                <a:ea typeface="+mn-lt"/>
                <a:cs typeface="+mn-lt"/>
              </a:rPr>
              <a:t>The classification model predicts clarity reliably. </a:t>
            </a:r>
            <a:endParaRPr lang="en-US">
              <a:ea typeface="+mn-lt"/>
              <a:cs typeface="+mn-lt"/>
            </a:endParaRPr>
          </a:p>
          <a:p>
            <a:pPr>
              <a:lnSpc>
                <a:spcPct val="150000"/>
              </a:lnSpc>
            </a:pPr>
            <a:r>
              <a:rPr lang="en-GB">
                <a:ea typeface="+mn-lt"/>
                <a:cs typeface="+mn-lt"/>
              </a:rPr>
              <a:t>The clustering model segments diamonds into meaningful groups. </a:t>
            </a:r>
            <a:endParaRPr lang="en-US">
              <a:ea typeface="+mn-lt"/>
              <a:cs typeface="+mn-lt"/>
            </a:endParaRPr>
          </a:p>
          <a:p>
            <a:pPr marL="0" indent="0">
              <a:lnSpc>
                <a:spcPct val="150000"/>
              </a:lnSpc>
              <a:buNone/>
            </a:pPr>
            <a:endParaRPr lang="en-GB" dirty="0">
              <a:ea typeface="+mn-lt"/>
              <a:cs typeface="+mn-lt"/>
            </a:endParaRPr>
          </a:p>
          <a:p>
            <a:pPr marL="0" indent="0">
              <a:lnSpc>
                <a:spcPct val="150000"/>
              </a:lnSpc>
              <a:buNone/>
            </a:pPr>
            <a:r>
              <a:rPr lang="en-GB">
                <a:ea typeface="+mn-lt"/>
                <a:cs typeface="+mn-lt"/>
              </a:rPr>
              <a:t>Together, these models solve the business problem I introduced at the beginning.</a:t>
            </a:r>
            <a:endParaRPr lang="en-US"/>
          </a:p>
        </p:txBody>
      </p:sp>
    </p:spTree>
    <p:extLst>
      <p:ext uri="{BB962C8B-B14F-4D97-AF65-F5344CB8AC3E}">
        <p14:creationId xmlns:p14="http://schemas.microsoft.com/office/powerpoint/2010/main" val="34408609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a:extLst>
            <a:ext uri="{FF2B5EF4-FFF2-40B4-BE49-F238E27FC236}">
              <a16:creationId xmlns:a16="http://schemas.microsoft.com/office/drawing/2014/main" id="{073E4AA0-E8D9-6A08-79A9-AAD5C67952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C9EB82-6F2C-2B4D-4488-667079AA34FF}"/>
              </a:ext>
            </a:extLst>
          </p:cNvPr>
          <p:cNvSpPr>
            <a:spLocks noGrp="1"/>
          </p:cNvSpPr>
          <p:nvPr>
            <p:ph type="title"/>
          </p:nvPr>
        </p:nvSpPr>
        <p:spPr>
          <a:xfrm>
            <a:off x="430830" y="958171"/>
            <a:ext cx="11758505" cy="755659"/>
          </a:xfrm>
        </p:spPr>
        <p:txBody>
          <a:bodyPr/>
          <a:lstStyle/>
          <a:p>
            <a:pPr algn="ctr"/>
            <a:r>
              <a:rPr lang="en-US">
                <a:ea typeface="+mj-lt"/>
                <a:cs typeface="+mj-lt"/>
              </a:rPr>
              <a:t>Conclusion &amp; Future Work</a:t>
            </a:r>
            <a:endParaRPr lang="en-US"/>
          </a:p>
        </p:txBody>
      </p:sp>
      <p:sp>
        <p:nvSpPr>
          <p:cNvPr id="6" name="Slide Number Placeholder 5">
            <a:extLst>
              <a:ext uri="{FF2B5EF4-FFF2-40B4-BE49-F238E27FC236}">
                <a16:creationId xmlns:a16="http://schemas.microsoft.com/office/drawing/2014/main" id="{68708E90-F984-43C0-418C-E10B8FF84144}"/>
              </a:ext>
            </a:extLst>
          </p:cNvPr>
          <p:cNvSpPr>
            <a:spLocks noGrp="1"/>
          </p:cNvSpPr>
          <p:nvPr>
            <p:ph type="sldNum" sz="quarter" idx="12"/>
          </p:nvPr>
        </p:nvSpPr>
        <p:spPr/>
        <p:txBody>
          <a:bodyPr/>
          <a:lstStyle/>
          <a:p>
            <a:fld id="{CC057153-B650-4DEB-B370-79DDCFDCE934}" type="slidenum">
              <a:rPr lang="en-US" smtClean="0"/>
              <a:t>13</a:t>
            </a:fld>
            <a:endParaRPr lang="en-US" dirty="0"/>
          </a:p>
        </p:txBody>
      </p:sp>
      <p:sp>
        <p:nvSpPr>
          <p:cNvPr id="4" name="Footer Placeholder 4">
            <a:extLst>
              <a:ext uri="{FF2B5EF4-FFF2-40B4-BE49-F238E27FC236}">
                <a16:creationId xmlns:a16="http://schemas.microsoft.com/office/drawing/2014/main" id="{80DD91F1-3630-0267-69EB-E9E9280EF8AA}"/>
              </a:ext>
            </a:extLst>
          </p:cNvPr>
          <p:cNvSpPr txBox="1">
            <a:spLocks/>
          </p:cNvSpPr>
          <p:nvPr/>
        </p:nvSpPr>
        <p:spPr>
          <a:xfrm rot="16200000">
            <a:off x="-2067304" y="2064540"/>
            <a:ext cx="4564376" cy="429768"/>
          </a:xfrm>
          <a:prstGeom prst="rect">
            <a:avLst/>
          </a:prstGeom>
        </p:spPr>
        <p:txBody>
          <a:bodyPr vert="horz" lIns="91440" tIns="45720" rIns="91440" bIns="45720" rtlCol="0" anchor="ctr"/>
          <a:lstStyle>
            <a:defPPr>
              <a:defRPr lang="en-US"/>
            </a:defPPr>
            <a:lvl1pPr marL="0" algn="r" defTabSz="914400" rtl="0" eaLnBrk="1" latinLnBrk="0" hangingPunct="1">
              <a:defRPr sz="800" b="0" i="0" kern="1200">
                <a:solidFill>
                  <a:schemeClr val="tx1"/>
                </a:solidFill>
                <a:latin typeface="+mn-lt"/>
                <a:ea typeface="Batang" panose="02030600000101010101" pitchFamily="18" charset="-127"/>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ea typeface="Batang"/>
              </a:rPr>
              <a:t>Diamonds Predictor Application</a:t>
            </a:r>
          </a:p>
        </p:txBody>
      </p:sp>
      <p:sp>
        <p:nvSpPr>
          <p:cNvPr id="9" name="Content Placeholder 8">
            <a:extLst>
              <a:ext uri="{FF2B5EF4-FFF2-40B4-BE49-F238E27FC236}">
                <a16:creationId xmlns:a16="http://schemas.microsoft.com/office/drawing/2014/main" id="{F703017D-232C-9880-1453-331EA908B059}"/>
              </a:ext>
            </a:extLst>
          </p:cNvPr>
          <p:cNvSpPr>
            <a:spLocks noGrp="1"/>
          </p:cNvSpPr>
          <p:nvPr>
            <p:ph idx="1"/>
          </p:nvPr>
        </p:nvSpPr>
        <p:spPr>
          <a:xfrm>
            <a:off x="1700830" y="2129474"/>
            <a:ext cx="5241592" cy="4093525"/>
          </a:xfrm>
        </p:spPr>
        <p:txBody>
          <a:bodyPr vert="horz" lIns="91440" tIns="45720" rIns="91440" bIns="45720" rtlCol="0" anchor="t">
            <a:normAutofit/>
          </a:bodyPr>
          <a:lstStyle/>
          <a:p>
            <a:pPr marL="0" indent="0">
              <a:lnSpc>
                <a:spcPct val="150000"/>
              </a:lnSpc>
              <a:buNone/>
            </a:pPr>
            <a:r>
              <a:rPr lang="en-GB" b="1" dirty="0">
                <a:ea typeface="+mn-lt"/>
                <a:cs typeface="+mn-lt"/>
              </a:rPr>
              <a:t>Conclusion:</a:t>
            </a:r>
          </a:p>
          <a:p>
            <a:pPr>
              <a:lnSpc>
                <a:spcPct val="150000"/>
              </a:lnSpc>
            </a:pPr>
            <a:r>
              <a:rPr lang="en-GB" dirty="0">
                <a:ea typeface="+mn-lt"/>
                <a:cs typeface="+mn-lt"/>
              </a:rPr>
              <a:t>Complete ML pipeline</a:t>
            </a:r>
          </a:p>
          <a:p>
            <a:pPr>
              <a:lnSpc>
                <a:spcPct val="150000"/>
              </a:lnSpc>
            </a:pPr>
            <a:r>
              <a:rPr lang="en-GB" dirty="0">
                <a:ea typeface="+mn-lt"/>
                <a:cs typeface="+mn-lt"/>
              </a:rPr>
              <a:t>Accurate price prediction</a:t>
            </a:r>
          </a:p>
          <a:p>
            <a:pPr>
              <a:lnSpc>
                <a:spcPct val="150000"/>
              </a:lnSpc>
            </a:pPr>
            <a:r>
              <a:rPr lang="en-GB" dirty="0">
                <a:ea typeface="+mn-lt"/>
                <a:cs typeface="+mn-lt"/>
              </a:rPr>
              <a:t>Automated clarity grading</a:t>
            </a:r>
          </a:p>
          <a:p>
            <a:pPr>
              <a:lnSpc>
                <a:spcPct val="150000"/>
              </a:lnSpc>
            </a:pPr>
            <a:r>
              <a:rPr lang="en-GB" dirty="0">
                <a:ea typeface="+mn-lt"/>
                <a:cs typeface="+mn-lt"/>
              </a:rPr>
              <a:t>Customer segmentation</a:t>
            </a:r>
          </a:p>
          <a:p>
            <a:pPr>
              <a:lnSpc>
                <a:spcPct val="150000"/>
              </a:lnSpc>
            </a:pPr>
            <a:r>
              <a:rPr lang="en-GB" dirty="0">
                <a:ea typeface="+mn-lt"/>
                <a:cs typeface="+mn-lt"/>
              </a:rPr>
              <a:t>Deployed </a:t>
            </a:r>
            <a:r>
              <a:rPr lang="en-GB" dirty="0" err="1">
                <a:ea typeface="+mn-lt"/>
                <a:cs typeface="+mn-lt"/>
              </a:rPr>
              <a:t>Gradio</a:t>
            </a:r>
            <a:r>
              <a:rPr lang="en-GB" dirty="0">
                <a:ea typeface="+mn-lt"/>
                <a:cs typeface="+mn-lt"/>
              </a:rPr>
              <a:t> app</a:t>
            </a:r>
          </a:p>
          <a:p>
            <a:pPr>
              <a:lnSpc>
                <a:spcPct val="150000"/>
              </a:lnSpc>
            </a:pPr>
            <a:r>
              <a:rPr lang="en-GB" dirty="0">
                <a:ea typeface="+mn-lt"/>
                <a:cs typeface="+mn-lt"/>
              </a:rPr>
              <a:t>AI assistant</a:t>
            </a:r>
          </a:p>
          <a:p>
            <a:pPr>
              <a:lnSpc>
                <a:spcPct val="150000"/>
              </a:lnSpc>
            </a:pPr>
            <a:endParaRPr lang="en-GB" dirty="0"/>
          </a:p>
        </p:txBody>
      </p:sp>
      <p:sp>
        <p:nvSpPr>
          <p:cNvPr id="5" name="Content Placeholder 8">
            <a:extLst>
              <a:ext uri="{FF2B5EF4-FFF2-40B4-BE49-F238E27FC236}">
                <a16:creationId xmlns:a16="http://schemas.microsoft.com/office/drawing/2014/main" id="{6948F1B0-063D-7F6C-D1B0-BA9F34258AA1}"/>
              </a:ext>
            </a:extLst>
          </p:cNvPr>
          <p:cNvSpPr txBox="1">
            <a:spLocks/>
          </p:cNvSpPr>
          <p:nvPr/>
        </p:nvSpPr>
        <p:spPr>
          <a:xfrm>
            <a:off x="6947745" y="2129474"/>
            <a:ext cx="5241592" cy="4093525"/>
          </a:xfrm>
          <a:prstGeom prst="rect">
            <a:avLst/>
          </a:prstGeom>
        </p:spPr>
        <p:txBody>
          <a:bodyPr vert="horz" lIns="91440" tIns="45720" rIns="91440" bIns="45720" rtlCol="0" anchor="t">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600" b="0" i="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600" b="0" i="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b="0" i="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600" b="0" i="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6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en-GB" b="1">
                <a:ea typeface="+mn-lt"/>
                <a:cs typeface="+mn-lt"/>
              </a:rPr>
              <a:t>Future Work:</a:t>
            </a:r>
            <a:endParaRPr lang="en-GB" b="1" dirty="0">
              <a:ea typeface="+mn-lt"/>
              <a:cs typeface="+mn-lt"/>
            </a:endParaRPr>
          </a:p>
          <a:p>
            <a:pPr>
              <a:lnSpc>
                <a:spcPct val="150000"/>
              </a:lnSpc>
            </a:pPr>
            <a:r>
              <a:rPr lang="en-GB" dirty="0">
                <a:ea typeface="+mn-lt"/>
                <a:cs typeface="+mn-lt"/>
              </a:rPr>
              <a:t>Add XGBoost or CNN models</a:t>
            </a:r>
          </a:p>
          <a:p>
            <a:pPr>
              <a:lnSpc>
                <a:spcPct val="150000"/>
              </a:lnSpc>
            </a:pPr>
            <a:r>
              <a:rPr lang="en-GB" dirty="0">
                <a:ea typeface="+mn-lt"/>
                <a:cs typeface="+mn-lt"/>
              </a:rPr>
              <a:t>Deploy on HuggingFace Spaces</a:t>
            </a:r>
          </a:p>
          <a:p>
            <a:pPr>
              <a:lnSpc>
                <a:spcPct val="150000"/>
              </a:lnSpc>
            </a:pPr>
            <a:r>
              <a:rPr lang="en-GB">
                <a:ea typeface="+mn-lt"/>
                <a:cs typeface="+mn-lt"/>
              </a:rPr>
              <a:t>Add recommendation system</a:t>
            </a:r>
          </a:p>
          <a:p>
            <a:pPr>
              <a:lnSpc>
                <a:spcPct val="150000"/>
              </a:lnSpc>
            </a:pPr>
            <a:r>
              <a:rPr lang="en-GB">
                <a:ea typeface="+mn-lt"/>
                <a:cs typeface="+mn-lt"/>
              </a:rPr>
              <a:t>Add real‑time pricing API</a:t>
            </a:r>
          </a:p>
          <a:p>
            <a:endParaRPr lang="en-GB" dirty="0">
              <a:ea typeface="+mn-lt"/>
              <a:cs typeface="+mn-lt"/>
            </a:endParaRPr>
          </a:p>
          <a:p>
            <a:pPr>
              <a:lnSpc>
                <a:spcPct val="150000"/>
              </a:lnSpc>
            </a:pPr>
            <a:endParaRPr lang="en-GB" dirty="0"/>
          </a:p>
        </p:txBody>
      </p:sp>
    </p:spTree>
    <p:extLst>
      <p:ext uri="{BB962C8B-B14F-4D97-AF65-F5344CB8AC3E}">
        <p14:creationId xmlns:p14="http://schemas.microsoft.com/office/powerpoint/2010/main" val="15005604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C21CBA-BF0E-B09D-1B6D-7B68C95FAF55}"/>
              </a:ext>
            </a:extLst>
          </p:cNvPr>
          <p:cNvSpPr>
            <a:spLocks noGrp="1"/>
          </p:cNvSpPr>
          <p:nvPr>
            <p:ph type="title"/>
          </p:nvPr>
        </p:nvSpPr>
        <p:spPr/>
        <p:txBody>
          <a:bodyPr/>
          <a:lstStyle/>
          <a:p>
            <a:r>
              <a:rPr lang="en-US" dirty="0"/>
              <a:t>Q &amp; A</a:t>
            </a:r>
          </a:p>
        </p:txBody>
      </p:sp>
      <p:sp>
        <p:nvSpPr>
          <p:cNvPr id="6" name="Slide Number Placeholder 5">
            <a:extLst>
              <a:ext uri="{FF2B5EF4-FFF2-40B4-BE49-F238E27FC236}">
                <a16:creationId xmlns:a16="http://schemas.microsoft.com/office/drawing/2014/main" id="{390E8512-F192-F148-7D3C-9D173B81DA84}"/>
              </a:ext>
            </a:extLst>
          </p:cNvPr>
          <p:cNvSpPr>
            <a:spLocks noGrp="1"/>
          </p:cNvSpPr>
          <p:nvPr>
            <p:ph type="sldNum" sz="quarter" idx="12"/>
          </p:nvPr>
        </p:nvSpPr>
        <p:spPr/>
        <p:txBody>
          <a:bodyPr/>
          <a:lstStyle/>
          <a:p>
            <a:fld id="{CC057153-B650-4DEB-B370-79DDCFDCE934}" type="slidenum">
              <a:rPr lang="en-US" smtClean="0"/>
              <a:pPr/>
              <a:t>14</a:t>
            </a:fld>
            <a:endParaRPr lang="en-US" dirty="0"/>
          </a:p>
        </p:txBody>
      </p:sp>
      <p:sp>
        <p:nvSpPr>
          <p:cNvPr id="3" name="Content Placeholder 2">
            <a:extLst>
              <a:ext uri="{FF2B5EF4-FFF2-40B4-BE49-F238E27FC236}">
                <a16:creationId xmlns:a16="http://schemas.microsoft.com/office/drawing/2014/main" id="{F50FAF19-45F3-90C6-51C9-DEA3089E4D18}"/>
              </a:ext>
            </a:extLst>
          </p:cNvPr>
          <p:cNvSpPr>
            <a:spLocks noGrp="1"/>
          </p:cNvSpPr>
          <p:nvPr>
            <p:ph sz="quarter" idx="14"/>
          </p:nvPr>
        </p:nvSpPr>
        <p:spPr/>
        <p:txBody>
          <a:bodyPr/>
          <a:lstStyle/>
          <a:p>
            <a:pPr>
              <a:spcBef>
                <a:spcPts val="0"/>
              </a:spcBef>
            </a:pPr>
            <a:r>
              <a:rPr lang="en-US" dirty="0"/>
              <a:t>Let’s discuss questions </a:t>
            </a:r>
          </a:p>
          <a:p>
            <a:pPr>
              <a:spcBef>
                <a:spcPts val="0"/>
              </a:spcBef>
            </a:pPr>
            <a:r>
              <a:rPr lang="en-US" dirty="0"/>
              <a:t>as a team.</a:t>
            </a:r>
          </a:p>
        </p:txBody>
      </p:sp>
      <p:pic>
        <p:nvPicPr>
          <p:cNvPr id="8" name="Picture Placeholder 7" descr="A living room with a white sofa and a coffee table">
            <a:extLst>
              <a:ext uri="{FF2B5EF4-FFF2-40B4-BE49-F238E27FC236}">
                <a16:creationId xmlns:a16="http://schemas.microsoft.com/office/drawing/2014/main" id="{4CEF7857-464F-3B7A-9327-7E3B813EECFF}"/>
              </a:ext>
            </a:extLst>
          </p:cNvPr>
          <p:cNvPicPr>
            <a:picLocks noGrp="1" noChangeAspect="1"/>
          </p:cNvPicPr>
          <p:nvPr>
            <p:ph type="pic" sz="quarter" idx="13"/>
          </p:nvPr>
        </p:nvPicPr>
        <p:blipFill rotWithShape="1">
          <a:blip r:embed="rId3" cstate="screen">
            <a:extLst>
              <a:ext uri="{28A0092B-C50C-407E-A947-70E740481C1C}">
                <a14:useLocalDpi xmlns:a14="http://schemas.microsoft.com/office/drawing/2010/main"/>
              </a:ext>
            </a:extLst>
          </a:blip>
          <a:srcRect/>
          <a:stretch/>
        </p:blipFill>
        <p:spPr/>
      </p:pic>
    </p:spTree>
    <p:extLst>
      <p:ext uri="{BB962C8B-B14F-4D97-AF65-F5344CB8AC3E}">
        <p14:creationId xmlns:p14="http://schemas.microsoft.com/office/powerpoint/2010/main" val="3843793409"/>
      </p:ext>
    </p:extLst>
  </p:cSld>
  <p:clrMapOvr>
    <a:masterClrMapping/>
  </p:clrMapOvr>
</p:sld>
</file>

<file path=ppt/theme/theme1.xml><?xml version="1.0" encoding="utf-8"?>
<a:theme xmlns:a="http://schemas.openxmlformats.org/drawingml/2006/main" name="JapandiLinearHarmony">
  <a:themeElements>
    <a:clrScheme name="Japandi Linear Harmony">
      <a:dk1>
        <a:srgbClr val="000000"/>
      </a:dk1>
      <a:lt1>
        <a:srgbClr val="FFFFFF"/>
      </a:lt1>
      <a:dk2>
        <a:srgbClr val="2C3932"/>
      </a:dk2>
      <a:lt2>
        <a:srgbClr val="FEFDFB"/>
      </a:lt2>
      <a:accent1>
        <a:srgbClr val="ECE7DA"/>
      </a:accent1>
      <a:accent2>
        <a:srgbClr val="8A835B"/>
      </a:accent2>
      <a:accent3>
        <a:srgbClr val="D7D9CF"/>
      </a:accent3>
      <a:accent4>
        <a:srgbClr val="A39382"/>
      </a:accent4>
      <a:accent5>
        <a:srgbClr val="87A3BF"/>
      </a:accent5>
      <a:accent6>
        <a:srgbClr val="343826"/>
      </a:accent6>
      <a:hlink>
        <a:srgbClr val="169C9A"/>
      </a:hlink>
      <a:folHlink>
        <a:srgbClr val="E15C3D"/>
      </a:folHlink>
    </a:clrScheme>
    <a:fontScheme name="Custom 24">
      <a:majorFont>
        <a:latin typeface="Nunito Sans"/>
        <a:ea typeface=""/>
        <a:cs typeface=""/>
      </a:majorFont>
      <a:minorFont>
        <a:latin typeface="Nunito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Japandi linear_Marketing Presentation_win32_SD_V9" id="{57601A81-7059-40B9-B27D-CFA4D443B3D6}" vid="{9FBC8E92-EE9C-44F9-AA8A-E22EDCB5B7B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3301439-688F-4D19-B908-B48B62C56078}">
  <ds:schemaRefs>
    <ds:schemaRef ds:uri="http://schemas.microsoft.com/sharepoint/v3/contenttype/forms"/>
  </ds:schemaRefs>
</ds:datastoreItem>
</file>

<file path=customXml/itemProps2.xml><?xml version="1.0" encoding="utf-8"?>
<ds:datastoreItem xmlns:ds="http://schemas.openxmlformats.org/officeDocument/2006/customXml" ds:itemID="{D1CEDABF-7176-4A42-8EF9-E5D4DD31FF6C}">
  <ds:schemaRefs>
    <ds:schemaRef ds:uri="71af3243-3dd4-4a8d-8c0d-dd76da1f02a5"/>
    <ds:schemaRef ds:uri="http://purl.org/dc/dcmitype/"/>
    <ds:schemaRef ds:uri="16c05727-aa75-4e4a-9b5f-8a80a1165891"/>
    <ds:schemaRef ds:uri="http://purl.org/dc/elements/1.1/"/>
    <ds:schemaRef ds:uri="http://www.w3.org/XML/1998/namespace"/>
    <ds:schemaRef ds:uri="http://schemas.microsoft.com/sharepoint/v3"/>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230e9df3-be65-4c73-a93b-d1236ebd677e"/>
  </ds:schemaRefs>
</ds:datastoreItem>
</file>

<file path=customXml/itemProps3.xml><?xml version="1.0" encoding="utf-8"?>
<ds:datastoreItem xmlns:ds="http://schemas.openxmlformats.org/officeDocument/2006/customXml" ds:itemID="{9EEC3793-C1BC-496C-A03C-202DFFC513D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87867195-f2b8-4ac2-b0b6-6bb73cb33afc}" enabled="1" method="Privilege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emplate/>
  <TotalTime>37</TotalTime>
  <Words>1430</Words>
  <Application>Microsoft Office PowerPoint</Application>
  <PresentationFormat>Widescreen</PresentationFormat>
  <Paragraphs>270</Paragraphs>
  <Slides>14</Slides>
  <Notes>14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14</vt:i4>
      </vt:variant>
    </vt:vector>
  </HeadingPairs>
  <TitlesOfParts>
    <vt:vector size="23" baseType="lpstr">
      <vt:lpstr>Batang</vt:lpstr>
      <vt:lpstr>Dotum</vt:lpstr>
      <vt:lpstr>Aptos</vt:lpstr>
      <vt:lpstr>Arial</vt:lpstr>
      <vt:lpstr>Cambria</vt:lpstr>
      <vt:lpstr>Nunito Sans</vt:lpstr>
      <vt:lpstr>Segoe UI</vt:lpstr>
      <vt:lpstr>Univers Light</vt:lpstr>
      <vt:lpstr>JapandiLinearHarmony</vt:lpstr>
      <vt:lpstr>Diamonds Predictor Application </vt:lpstr>
      <vt:lpstr>What This Project Is About</vt:lpstr>
      <vt:lpstr>Business Problem</vt:lpstr>
      <vt:lpstr>Dataset OVERVIEW</vt:lpstr>
      <vt:lpstr>key eda insights</vt:lpstr>
      <vt:lpstr>Preprocessing Pipeline</vt:lpstr>
      <vt:lpstr>ANN Regression Model (Price Prediction)</vt:lpstr>
      <vt:lpstr>ANN classification Model (clarity Prediction)</vt:lpstr>
      <vt:lpstr>Customer Segmentation (Clustering)</vt:lpstr>
      <vt:lpstr>Ai assistant</vt:lpstr>
      <vt:lpstr>Gradio Web Application</vt:lpstr>
      <vt:lpstr>Model Comparison Summary</vt:lpstr>
      <vt:lpstr>Conclusion &amp; Future Work</vt:lpstr>
      <vt:lpstr>Q &amp; 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Saad Ehsan</dc:creator>
  <cp:lastModifiedBy>Saad Ehsan</cp:lastModifiedBy>
  <cp:revision>308</cp:revision>
  <dcterms:created xsi:type="dcterms:W3CDTF">2026-07-28T01:14:52Z</dcterms:created>
  <dcterms:modified xsi:type="dcterms:W3CDTF">2026-07-28T09:34:08Z</dcterms:modified>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