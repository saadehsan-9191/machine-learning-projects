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64" r:id="rId4"/>
  </p:sldMasterIdLst>
  <p:notesMasterIdLst>
    <p:notesMasterId r:id="rId19"/>
  </p:notesMasterIdLst>
  <p:handoutMasterIdLst>
    <p:handoutMasterId r:id="rId20"/>
  </p:handoutMasterIdLst>
  <p:sldIdLst>
    <p:sldId id="1497" r:id="rId5"/>
    <p:sldId id="1525" r:id="rId6"/>
    <p:sldId id="1498" r:id="rId7"/>
    <p:sldId id="1514" r:id="rId8"/>
    <p:sldId id="1523" r:id="rId9"/>
    <p:sldId id="1515" r:id="rId10"/>
    <p:sldId id="1516" r:id="rId11"/>
    <p:sldId id="1519" r:id="rId12"/>
    <p:sldId id="1520" r:id="rId13"/>
    <p:sldId id="1502" r:id="rId14"/>
    <p:sldId id="1506" r:id="rId15"/>
    <p:sldId id="1524" r:id="rId16"/>
    <p:sldId id="1521" r:id="rId17"/>
    <p:sldId id="1518"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941987A-41B7-49AC-EE6E-03F2D0BD95BA}" name="Daria Naidenov" initials="DN" userId="S::danaidenov@microsoft.com::ab38ab5f-bdf0-4774-ae5a-d2782abb2027"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03"/>
    <p:restoredTop sz="77482" autoAdjust="0"/>
  </p:normalViewPr>
  <p:slideViewPr>
    <p:cSldViewPr snapToGrid="0">
      <p:cViewPr varScale="1">
        <p:scale>
          <a:sx n="86" d="100"/>
          <a:sy n="86" d="100"/>
        </p:scale>
        <p:origin x="1878" y="78"/>
      </p:cViewPr>
      <p:guideLst/>
    </p:cSldViewPr>
  </p:slideViewPr>
  <p:notesTextViewPr>
    <p:cViewPr>
      <p:scale>
        <a:sx n="1" d="1"/>
        <a:sy n="1" d="1"/>
      </p:scale>
      <p:origin x="0" y="0"/>
    </p:cViewPr>
  </p:notesTextViewPr>
  <p:sorterViewPr>
    <p:cViewPr>
      <p:scale>
        <a:sx n="100" d="100"/>
        <a:sy n="100" d="100"/>
      </p:scale>
      <p:origin x="0" y="-1972"/>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7/28/2026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7/28/2026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Saad, and today I’m presenting my Diamonds Predictor Application. This project uses machine learning to predict diamond prices, classify diamond clarity, segment customers, and provide an AI assistant for diamond analysis. It’s a complete end‑to‑end ML project.”</a:t>
            </a:r>
          </a:p>
        </p:txBody>
      </p:sp>
      <p:sp>
        <p:nvSpPr>
          <p:cNvPr id="4" name="Slide Number Placeholder 3"/>
          <p:cNvSpPr>
            <a:spLocks noGrp="1"/>
          </p:cNvSpPr>
          <p:nvPr>
            <p:ph type="sldNum" sz="quarter" idx="5"/>
          </p:nvPr>
        </p:nvSpPr>
        <p:spPr/>
        <p:txBody>
          <a:bodyPr/>
          <a:lstStyle/>
          <a:p>
            <a:fld id="{BFDD6F49-EBB7-4CCF-97A8-E526BB28BB69}" type="slidenum">
              <a:rPr lang="en-US" smtClean="0"/>
              <a:t>1</a:t>
            </a:fld>
            <a:endParaRPr lang="en-US" dirty="0"/>
          </a:p>
        </p:txBody>
      </p:sp>
    </p:spTree>
    <p:extLst>
      <p:ext uri="{BB962C8B-B14F-4D97-AF65-F5344CB8AC3E}">
        <p14:creationId xmlns:p14="http://schemas.microsoft.com/office/powerpoint/2010/main" val="32752964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begin, let me quickly explain what this project actually is. This end‑to‑end machine learning system is built for the diamond industry. It can predict diamond prices, classify diamond clarity, segment diamonds into meaningful market groups, and even answer natural‑language questions through an AI assistant. All of this is deployed inside a Gradio web application, making the system interactive and easy for anyone to use. In the next few slides, I’ll show you how each part works.</a:t>
            </a:r>
          </a:p>
        </p:txBody>
      </p:sp>
      <p:sp>
        <p:nvSpPr>
          <p:cNvPr id="4" name="Slide Number Placeholder 3"/>
          <p:cNvSpPr>
            <a:spLocks noGrp="1"/>
          </p:cNvSpPr>
          <p:nvPr>
            <p:ph type="sldNum" sz="quarter" idx="5"/>
          </p:nvPr>
        </p:nvSpPr>
        <p:spPr/>
        <p:txBody>
          <a:bodyPr/>
          <a:lstStyle/>
          <a:p>
            <a:fld id="{BFDD6F49-EBB7-4CCF-97A8-E526BB28BB69}" type="slidenum">
              <a:rPr lang="en-US" smtClean="0"/>
              <a:t>2</a:t>
            </a:fld>
            <a:endParaRPr lang="en-US" dirty="0"/>
          </a:p>
        </p:txBody>
      </p:sp>
    </p:spTree>
    <p:extLst>
      <p:ext uri="{BB962C8B-B14F-4D97-AF65-F5344CB8AC3E}">
        <p14:creationId xmlns:p14="http://schemas.microsoft.com/office/powerpoint/2010/main" val="5138558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diamond industry faces three major challenges: First, pricing diamonds accurately is difficult because many features influence price. Second, clarity grading requires expert knowledge and is time‑consuming. Third, customers vary widely in budget and preferences, so segmentation is important. My project solves all three problems using machine learning.”</a:t>
            </a:r>
          </a:p>
        </p:txBody>
      </p:sp>
      <p:sp>
        <p:nvSpPr>
          <p:cNvPr id="4" name="Slide Number Placeholder 3"/>
          <p:cNvSpPr>
            <a:spLocks noGrp="1"/>
          </p:cNvSpPr>
          <p:nvPr>
            <p:ph type="sldNum" sz="quarter" idx="5"/>
          </p:nvPr>
        </p:nvSpPr>
        <p:spPr/>
        <p:txBody>
          <a:bodyPr/>
          <a:lstStyle/>
          <a:p>
            <a:fld id="{BFDD6F49-EBB7-4CCF-97A8-E526BB28BB69}" type="slidenum">
              <a:rPr lang="en-US" smtClean="0"/>
              <a:t>3</a:t>
            </a:fld>
            <a:endParaRPr lang="en-US" dirty="0"/>
          </a:p>
        </p:txBody>
      </p:sp>
    </p:spTree>
    <p:extLst>
      <p:ext uri="{BB962C8B-B14F-4D97-AF65-F5344CB8AC3E}">
        <p14:creationId xmlns:p14="http://schemas.microsoft.com/office/powerpoint/2010/main" val="40209297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used the Diamonds dataset from Kaggle, which contains over fifty‑three thousand rows. It includes numeric features like carat and price, and categorical features like cut, color, and clarity. This dataset is widely used in ML research and represents real diamond market data.</a:t>
            </a:r>
          </a:p>
        </p:txBody>
      </p:sp>
      <p:sp>
        <p:nvSpPr>
          <p:cNvPr id="4" name="Slide Number Placeholder 3"/>
          <p:cNvSpPr>
            <a:spLocks noGrp="1"/>
          </p:cNvSpPr>
          <p:nvPr>
            <p:ph type="sldNum" sz="quarter" idx="5"/>
          </p:nvPr>
        </p:nvSpPr>
        <p:spPr/>
        <p:txBody>
          <a:bodyPr/>
          <a:lstStyle/>
          <a:p>
            <a:fld id="{BFDD6F49-EBB7-4CCF-97A8-E526BB28BB69}" type="slidenum">
              <a:rPr lang="en-US" smtClean="0"/>
              <a:t>4</a:t>
            </a:fld>
            <a:endParaRPr lang="en-US" dirty="0"/>
          </a:p>
        </p:txBody>
      </p:sp>
    </p:spTree>
    <p:extLst>
      <p:ext uri="{BB962C8B-B14F-4D97-AF65-F5344CB8AC3E}">
        <p14:creationId xmlns:p14="http://schemas.microsoft.com/office/powerpoint/2010/main" val="31229205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AF5BD-1180-F811-2C41-CC0166536F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541563-C87F-8A4D-69BB-16DB767B6E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8E403A-97A4-7136-4940-23FAC7EA45A1}"/>
              </a:ext>
            </a:extLst>
          </p:cNvPr>
          <p:cNvSpPr>
            <a:spLocks noGrp="1"/>
          </p:cNvSpPr>
          <p:nvPr>
            <p:ph type="body" idx="1"/>
          </p:nvPr>
        </p:nvSpPr>
        <p:spPr/>
        <p:txBody>
          <a:bodyPr/>
          <a:lstStyle/>
          <a:p>
            <a:r>
              <a:rPr lang="en-US" dirty="0"/>
              <a:t>EDA showed a very strong correlation between carat and price, no missing values, and clear patterns between quality features and price. The heatmap highlights how carat, x, y, and z all strongly relate to price. Outliers were removed, and a </a:t>
            </a:r>
            <a:r>
              <a:rPr lang="en-US" dirty="0" err="1"/>
              <a:t>Sweetviz</a:t>
            </a:r>
            <a:r>
              <a:rPr lang="en-US" dirty="0"/>
              <a:t> report confirmed these insights.</a:t>
            </a:r>
          </a:p>
        </p:txBody>
      </p:sp>
      <p:sp>
        <p:nvSpPr>
          <p:cNvPr id="4" name="Slide Number Placeholder 3">
            <a:extLst>
              <a:ext uri="{FF2B5EF4-FFF2-40B4-BE49-F238E27FC236}">
                <a16:creationId xmlns:a16="http://schemas.microsoft.com/office/drawing/2014/main" id="{760BE633-8C0A-8E6E-838C-754D0ACB4B37}"/>
              </a:ext>
            </a:extLst>
          </p:cNvPr>
          <p:cNvSpPr>
            <a:spLocks noGrp="1"/>
          </p:cNvSpPr>
          <p:nvPr>
            <p:ph type="sldNum" sz="quarter" idx="5"/>
          </p:nvPr>
        </p:nvSpPr>
        <p:spPr/>
        <p:txBody>
          <a:bodyPr/>
          <a:lstStyle/>
          <a:p>
            <a:fld id="{BFDD6F49-EBB7-4CCF-97A8-E526BB28BB69}" type="slidenum">
              <a:rPr lang="en-US" smtClean="0"/>
              <a:t>5</a:t>
            </a:fld>
            <a:endParaRPr lang="en-US" dirty="0"/>
          </a:p>
        </p:txBody>
      </p:sp>
    </p:spTree>
    <p:extLst>
      <p:ext uri="{BB962C8B-B14F-4D97-AF65-F5344CB8AC3E}">
        <p14:creationId xmlns:p14="http://schemas.microsoft.com/office/powerpoint/2010/main" val="19453212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prepare the data, I removed duplicates and physically impossible rows. I encoded categorical features using One‑Hot Encoding and scaled numeric features using </a:t>
            </a:r>
            <a:r>
              <a:rPr lang="en-US" dirty="0" err="1"/>
              <a:t>StandardScaler</a:t>
            </a:r>
            <a:r>
              <a:rPr lang="en-US" dirty="0"/>
              <a:t>. Finally, I split the dataset into training and testing sets. This ensures the models learn from clean, consistent data.</a:t>
            </a:r>
          </a:p>
        </p:txBody>
      </p:sp>
      <p:sp>
        <p:nvSpPr>
          <p:cNvPr id="4" name="Slide Number Placeholder 3"/>
          <p:cNvSpPr>
            <a:spLocks noGrp="1"/>
          </p:cNvSpPr>
          <p:nvPr>
            <p:ph type="sldNum" sz="quarter" idx="5"/>
          </p:nvPr>
        </p:nvSpPr>
        <p:spPr/>
        <p:txBody>
          <a:bodyPr/>
          <a:lstStyle/>
          <a:p>
            <a:fld id="{BFDD6F49-EBB7-4CCF-97A8-E526BB28BB69}" type="slidenum">
              <a:rPr lang="en-US" smtClean="0"/>
              <a:t>6</a:t>
            </a:fld>
            <a:endParaRPr lang="en-US" dirty="0"/>
          </a:p>
        </p:txBody>
      </p:sp>
    </p:spTree>
    <p:extLst>
      <p:ext uri="{BB962C8B-B14F-4D97-AF65-F5344CB8AC3E}">
        <p14:creationId xmlns:p14="http://schemas.microsoft.com/office/powerpoint/2010/main" val="18176744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price prediction, I built an Artificial Neural Network with two hidden layers. The model was evaluated using MAE, MSE, RMSE, and R². The results showed strong predictive accuracy, meaning the model can estimate diamond prices effectively.</a:t>
            </a:r>
          </a:p>
          <a:p>
            <a:r>
              <a:rPr lang="en-US" dirty="0"/>
              <a:t>Training loss: How well the model fits the training data</a:t>
            </a:r>
          </a:p>
          <a:p>
            <a:r>
              <a:rPr lang="en-US" dirty="0"/>
              <a:t>Validation loss: How well the model performs on unseen data.</a:t>
            </a:r>
          </a:p>
          <a:p>
            <a:r>
              <a:rPr lang="en-US" dirty="0"/>
              <a:t>ReLU: Rectified Linear Unit – activation function - </a:t>
            </a:r>
          </a:p>
        </p:txBody>
      </p:sp>
      <p:sp>
        <p:nvSpPr>
          <p:cNvPr id="4" name="Slide Number Placeholder 3"/>
          <p:cNvSpPr>
            <a:spLocks noGrp="1"/>
          </p:cNvSpPr>
          <p:nvPr>
            <p:ph type="sldNum" sz="quarter" idx="5"/>
          </p:nvPr>
        </p:nvSpPr>
        <p:spPr/>
        <p:txBody>
          <a:bodyPr/>
          <a:lstStyle/>
          <a:p>
            <a:fld id="{BFDD6F49-EBB7-4CCF-97A8-E526BB28BB69}" type="slidenum">
              <a:rPr lang="en-US" smtClean="0"/>
              <a:t>7</a:t>
            </a:fld>
            <a:endParaRPr lang="en-US" dirty="0"/>
          </a:p>
        </p:txBody>
      </p:sp>
    </p:spTree>
    <p:extLst>
      <p:ext uri="{BB962C8B-B14F-4D97-AF65-F5344CB8AC3E}">
        <p14:creationId xmlns:p14="http://schemas.microsoft.com/office/powerpoint/2010/main" val="11062685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CF505-CBF7-C40C-A4CC-2AA979CE1A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ABCE19-4FA9-DB52-8AFE-5D9D34AB07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62DECE-FBFA-9C2C-F77A-33A8F609E36D}"/>
              </a:ext>
            </a:extLst>
          </p:cNvPr>
          <p:cNvSpPr>
            <a:spLocks noGrp="1"/>
          </p:cNvSpPr>
          <p:nvPr>
            <p:ph type="body" idx="1"/>
          </p:nvPr>
        </p:nvSpPr>
        <p:spPr/>
        <p:txBody>
          <a:bodyPr/>
          <a:lstStyle/>
          <a:p>
            <a:r>
              <a:rPr lang="en-US" dirty="0"/>
              <a:t>For clarity prediction, I built another ANN classifier. It predicts clarity categories such as SI1, VS2, and IF. The model achieved good accuracy and strong precision and recall across most classes. This shows the model learned clarity patterns well.</a:t>
            </a:r>
          </a:p>
          <a:p>
            <a:r>
              <a:rPr lang="en-US" dirty="0"/>
              <a:t>Softmax: output is a category not number</a:t>
            </a:r>
          </a:p>
          <a:p>
            <a:r>
              <a:rPr lang="en-US" dirty="0"/>
              <a:t>Dense 8: clarity has 8 possible outcomes </a:t>
            </a:r>
          </a:p>
        </p:txBody>
      </p:sp>
      <p:sp>
        <p:nvSpPr>
          <p:cNvPr id="4" name="Slide Number Placeholder 3">
            <a:extLst>
              <a:ext uri="{FF2B5EF4-FFF2-40B4-BE49-F238E27FC236}">
                <a16:creationId xmlns:a16="http://schemas.microsoft.com/office/drawing/2014/main" id="{74603CAA-DB33-A4EE-EB6B-3C80A053D692}"/>
              </a:ext>
            </a:extLst>
          </p:cNvPr>
          <p:cNvSpPr>
            <a:spLocks noGrp="1"/>
          </p:cNvSpPr>
          <p:nvPr>
            <p:ph type="sldNum" sz="quarter" idx="5"/>
          </p:nvPr>
        </p:nvSpPr>
        <p:spPr/>
        <p:txBody>
          <a:bodyPr/>
          <a:lstStyle/>
          <a:p>
            <a:fld id="{BFDD6F49-EBB7-4CCF-97A8-E526BB28BB69}" type="slidenum">
              <a:rPr lang="en-US" smtClean="0"/>
              <a:t>8</a:t>
            </a:fld>
            <a:endParaRPr lang="en-US" dirty="0"/>
          </a:p>
        </p:txBody>
      </p:sp>
    </p:spTree>
    <p:extLst>
      <p:ext uri="{BB962C8B-B14F-4D97-AF65-F5344CB8AC3E}">
        <p14:creationId xmlns:p14="http://schemas.microsoft.com/office/powerpoint/2010/main" val="41798899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C81E6-0FB3-5D32-46B4-B1C2DEE28B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773797-F2D5-4160-3B6E-7459C1CB38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7F8F98-0CC0-9449-8398-A76F5CB2793B}"/>
              </a:ext>
            </a:extLst>
          </p:cNvPr>
          <p:cNvSpPr>
            <a:spLocks noGrp="1"/>
          </p:cNvSpPr>
          <p:nvPr>
            <p:ph type="body" idx="1"/>
          </p:nvPr>
        </p:nvSpPr>
        <p:spPr/>
        <p:txBody>
          <a:bodyPr/>
          <a:lstStyle/>
          <a:p>
            <a:r>
              <a:rPr lang="en-US" dirty="0"/>
              <a:t>I applied KMeans clustering to segment diamonds into meaningful groups. Using scaled numeric features and price, the model produced four clear clusters. These clusters represent luxury diamonds, mid‑tier diamonds, budget diamonds, and diamonds with unusual proportions. The silhouette score confirmed good separation between clusters.</a:t>
            </a:r>
          </a:p>
          <a:p>
            <a:r>
              <a:rPr lang="en-US" dirty="0" err="1"/>
              <a:t>Silhoute</a:t>
            </a:r>
            <a:r>
              <a:rPr lang="en-US" dirty="0"/>
              <a:t> score: 0.36    </a:t>
            </a:r>
            <a:r>
              <a:rPr lang="en-US"/>
              <a:t>(range -1   - +1) </a:t>
            </a:r>
            <a:endParaRPr lang="en-US" dirty="0"/>
          </a:p>
        </p:txBody>
      </p:sp>
      <p:sp>
        <p:nvSpPr>
          <p:cNvPr id="4" name="Slide Number Placeholder 3">
            <a:extLst>
              <a:ext uri="{FF2B5EF4-FFF2-40B4-BE49-F238E27FC236}">
                <a16:creationId xmlns:a16="http://schemas.microsoft.com/office/drawing/2014/main" id="{800114D8-2859-ADCE-8250-19B4B3B07D32}"/>
              </a:ext>
            </a:extLst>
          </p:cNvPr>
          <p:cNvSpPr>
            <a:spLocks noGrp="1"/>
          </p:cNvSpPr>
          <p:nvPr>
            <p:ph type="sldNum" sz="quarter" idx="5"/>
          </p:nvPr>
        </p:nvSpPr>
        <p:spPr/>
        <p:txBody>
          <a:bodyPr/>
          <a:lstStyle/>
          <a:p>
            <a:fld id="{BFDD6F49-EBB7-4CCF-97A8-E526BB28BB69}" type="slidenum">
              <a:rPr lang="en-US" smtClean="0"/>
              <a:t>9</a:t>
            </a:fld>
            <a:endParaRPr lang="en-US" dirty="0"/>
          </a:p>
        </p:txBody>
      </p:sp>
    </p:spTree>
    <p:extLst>
      <p:ext uri="{BB962C8B-B14F-4D97-AF65-F5344CB8AC3E}">
        <p14:creationId xmlns:p14="http://schemas.microsoft.com/office/powerpoint/2010/main" val="29567651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also built an AI assistant that allows users to search the dataset using natural language. For example, users can ask for ‘expensive diamonds’ or ‘large premium diamonds.’ The assistant filters the dataset and explains the results like a human expert. This adds intelligence and usability to the system.</a:t>
            </a:r>
          </a:p>
        </p:txBody>
      </p:sp>
      <p:sp>
        <p:nvSpPr>
          <p:cNvPr id="4" name="Slide Number Placeholder 3"/>
          <p:cNvSpPr>
            <a:spLocks noGrp="1"/>
          </p:cNvSpPr>
          <p:nvPr>
            <p:ph type="sldNum" sz="quarter" idx="5"/>
          </p:nvPr>
        </p:nvSpPr>
        <p:spPr/>
        <p:txBody>
          <a:bodyPr/>
          <a:lstStyle/>
          <a:p>
            <a:fld id="{BFDD6F49-EBB7-4CCF-97A8-E526BB28BB69}" type="slidenum">
              <a:rPr lang="en-US" smtClean="0"/>
              <a:t>10</a:t>
            </a:fld>
            <a:endParaRPr lang="en-US" dirty="0"/>
          </a:p>
        </p:txBody>
      </p:sp>
    </p:spTree>
    <p:extLst>
      <p:ext uri="{BB962C8B-B14F-4D97-AF65-F5344CB8AC3E}">
        <p14:creationId xmlns:p14="http://schemas.microsoft.com/office/powerpoint/2010/main" val="37875951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the Gradio app that brings all the models together. Users can predict price, predict clarity, or ask the AI assistant questions. Gradio makes the entire system interactive and easy to use.</a:t>
            </a:r>
          </a:p>
        </p:txBody>
      </p:sp>
      <p:sp>
        <p:nvSpPr>
          <p:cNvPr id="4" name="Slide Number Placeholder 3"/>
          <p:cNvSpPr>
            <a:spLocks noGrp="1"/>
          </p:cNvSpPr>
          <p:nvPr>
            <p:ph type="sldNum" sz="quarter" idx="5"/>
          </p:nvPr>
        </p:nvSpPr>
        <p:spPr/>
        <p:txBody>
          <a:bodyPr/>
          <a:lstStyle/>
          <a:p>
            <a:fld id="{BFDD6F49-EBB7-4CCF-97A8-E526BB28BB69}" type="slidenum">
              <a:rPr lang="en-US" smtClean="0"/>
              <a:t>11</a:t>
            </a:fld>
            <a:endParaRPr lang="en-US" dirty="0"/>
          </a:p>
        </p:txBody>
      </p:sp>
    </p:spTree>
    <p:extLst>
      <p:ext uri="{BB962C8B-B14F-4D97-AF65-F5344CB8AC3E}">
        <p14:creationId xmlns:p14="http://schemas.microsoft.com/office/powerpoint/2010/main" val="40925452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Here’s the big picture: Price prediction, clarity prediction, and customer segmentation — three models working together to solve real business challenges in the diamond industry. This is what makes the Diamonds Predictor Application a complete, practical, and powerful machine learning system.</a:t>
            </a:r>
          </a:p>
        </p:txBody>
      </p:sp>
      <p:sp>
        <p:nvSpPr>
          <p:cNvPr id="4" name="Slide Number Placeholder 3"/>
          <p:cNvSpPr>
            <a:spLocks noGrp="1"/>
          </p:cNvSpPr>
          <p:nvPr>
            <p:ph type="sldNum" sz="quarter" idx="5"/>
          </p:nvPr>
        </p:nvSpPr>
        <p:spPr/>
        <p:txBody>
          <a:bodyPr/>
          <a:lstStyle/>
          <a:p>
            <a:fld id="{BFDD6F49-EBB7-4CCF-97A8-E526BB28BB69}" type="slidenum">
              <a:rPr lang="en-US" smtClean="0"/>
              <a:t>12</a:t>
            </a:fld>
            <a:endParaRPr lang="en-US" dirty="0"/>
          </a:p>
        </p:txBody>
      </p:sp>
    </p:spTree>
    <p:extLst>
      <p:ext uri="{BB962C8B-B14F-4D97-AF65-F5344CB8AC3E}">
        <p14:creationId xmlns:p14="http://schemas.microsoft.com/office/powerpoint/2010/main" val="35355187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demonstrates a full end‑to‑end machine learning solution for the diamond industry. It predicts prices, grades clarity, segments customers, and provides an AI assistant. In the future, I can improve the models using </a:t>
            </a:r>
            <a:r>
              <a:rPr lang="en-US" dirty="0" err="1"/>
              <a:t>XGBoost</a:t>
            </a:r>
            <a:r>
              <a:rPr lang="en-US" dirty="0"/>
              <a:t> or CNNs, deploy the app on HuggingFace Spaces, and add a recommendation system or real‑time pricing API. Thank you.</a:t>
            </a:r>
          </a:p>
        </p:txBody>
      </p:sp>
      <p:sp>
        <p:nvSpPr>
          <p:cNvPr id="4" name="Slide Number Placeholder 3"/>
          <p:cNvSpPr>
            <a:spLocks noGrp="1"/>
          </p:cNvSpPr>
          <p:nvPr>
            <p:ph type="sldNum" sz="quarter" idx="5"/>
          </p:nvPr>
        </p:nvSpPr>
        <p:spPr/>
        <p:txBody>
          <a:bodyPr/>
          <a:lstStyle/>
          <a:p>
            <a:fld id="{BFDD6F49-EBB7-4CCF-97A8-E526BB28BB69}" type="slidenum">
              <a:rPr lang="en-US" smtClean="0"/>
              <a:t>13</a:t>
            </a:fld>
            <a:endParaRPr lang="en-US" dirty="0"/>
          </a:p>
        </p:txBody>
      </p:sp>
    </p:spTree>
    <p:extLst>
      <p:ext uri="{BB962C8B-B14F-4D97-AF65-F5344CB8AC3E}">
        <p14:creationId xmlns:p14="http://schemas.microsoft.com/office/powerpoint/2010/main" val="24749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That concludes my presentation. I’m happy to answer any questions you have — whether technical or business‑related. Let’s discuss them together.</a:t>
            </a:r>
          </a:p>
        </p:txBody>
      </p:sp>
      <p:sp>
        <p:nvSpPr>
          <p:cNvPr id="4" name="Slide Number Placeholder 3"/>
          <p:cNvSpPr>
            <a:spLocks noGrp="1"/>
          </p:cNvSpPr>
          <p:nvPr>
            <p:ph type="sldNum" sz="quarter" idx="5"/>
          </p:nvPr>
        </p:nvSpPr>
        <p:spPr/>
        <p:txBody>
          <a:bodyPr/>
          <a:lstStyle/>
          <a:p>
            <a:fld id="{BFDD6F49-EBB7-4CCF-97A8-E526BB28BB69}" type="slidenum">
              <a:rPr lang="en-US" smtClean="0"/>
              <a:t>14</a:t>
            </a:fld>
            <a:endParaRPr lang="en-US" dirty="0"/>
          </a:p>
        </p:txBody>
      </p:sp>
    </p:spTree>
    <p:extLst>
      <p:ext uri="{BB962C8B-B14F-4D97-AF65-F5344CB8AC3E}">
        <p14:creationId xmlns:p14="http://schemas.microsoft.com/office/powerpoint/2010/main" val="285862180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98327" y="5096040"/>
            <a:ext cx="10963051" cy="761201"/>
          </a:xfrm>
        </p:spPr>
        <p:txBody>
          <a:bodyPr anchor="b">
            <a:normAutofit/>
          </a:bodyPr>
          <a:lstStyle>
            <a:lvl1pPr algn="l">
              <a:defRPr sz="40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98328" y="5972629"/>
            <a:ext cx="10963050" cy="519884"/>
          </a:xfrm>
        </p:spPr>
        <p:txBody>
          <a:bodyPr anchor="t">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4" name="Straight Connector 3">
            <a:extLst>
              <a:ext uri="{FF2B5EF4-FFF2-40B4-BE49-F238E27FC236}">
                <a16:creationId xmlns:a16="http://schemas.microsoft.com/office/drawing/2014/main" id="{E2615D95-4353-B9DA-619F-62F51763C54C}"/>
              </a:ext>
            </a:extLst>
          </p:cNvPr>
          <p:cNvCxnSpPr>
            <a:cxnSpLocks/>
          </p:cNvCxnSpPr>
          <p:nvPr/>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p>
            <a:r>
              <a:rPr lang="en-US" dirty="0"/>
              <a:t>GROWTH MARKETING PLAN</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p:txBody>
          <a:bodyPr/>
          <a:lstStyle/>
          <a:p>
            <a:fld id="{9DE1B49B-C7C7-46C5-86D1-04B289EB7888}" type="datetime1">
              <a:rPr lang="en-US" smtClean="0"/>
              <a:t>7/28/2026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98327" y="0"/>
            <a:ext cx="11593671" cy="4723939"/>
          </a:xfrm>
          <a:blipFill dpi="0" rotWithShape="1">
            <a:blip r:embed="rId2">
              <a:alphaModFix amt="60000"/>
            </a:blip>
            <a:srcRect/>
            <a:stretch>
              <a:fillRect l="-1459" r="-1"/>
            </a:stretch>
          </a:blipFill>
        </p:spPr>
        <p:txBody>
          <a:bodyPr/>
          <a:lstStyle>
            <a:lvl1pPr marL="0" indent="0">
              <a:buNone/>
              <a:defRPr/>
            </a:lvl1pPr>
          </a:lstStyle>
          <a:p>
            <a:r>
              <a:rPr lang="en-US" dirty="0"/>
              <a:t>Click icon to add picture</a:t>
            </a:r>
          </a:p>
        </p:txBody>
      </p:sp>
    </p:spTree>
    <p:extLst>
      <p:ext uri="{BB962C8B-B14F-4D97-AF65-F5344CB8AC3E}">
        <p14:creationId xmlns:p14="http://schemas.microsoft.com/office/powerpoint/2010/main" val="196848888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dirty="0"/>
              <a:t>Click to edit Master title style</a:t>
            </a:r>
          </a:p>
        </p:txBody>
      </p:sp>
      <p:cxnSp>
        <p:nvCxnSpPr>
          <p:cNvPr id="7" name="Straight Connector 6">
            <a:extLst>
              <a:ext uri="{FF2B5EF4-FFF2-40B4-BE49-F238E27FC236}">
                <a16:creationId xmlns:a16="http://schemas.microsoft.com/office/drawing/2014/main" id="{6E5A671A-CD1D-3726-5EBC-4251B0B1F630}"/>
              </a:ext>
            </a:extLst>
          </p:cNvPr>
          <p:cNvCxnSpPr/>
          <p:nvPr/>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rot="16200000">
            <a:off x="-2067304" y="224196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4170032-0FB4-49A9-8F94-A4A948FEFA19}"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9" name="Straight Connector 8">
            <a:extLst>
              <a:ext uri="{FF2B5EF4-FFF2-40B4-BE49-F238E27FC236}">
                <a16:creationId xmlns:a16="http://schemas.microsoft.com/office/drawing/2014/main" id="{652BC221-6328-07B8-5E00-E12DFAC6BF43}"/>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00751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012214" y="1001716"/>
            <a:ext cx="4545750" cy="3358242"/>
          </a:xfrm>
        </p:spPr>
        <p:txBody>
          <a:bodyPr anchor="b">
            <a:normAutofit/>
          </a:bodyPr>
          <a:lstStyle>
            <a:lvl1pPr algn="l">
              <a:defRPr sz="54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012214" y="4740957"/>
            <a:ext cx="4545749" cy="1482043"/>
          </a:xfrm>
        </p:spPr>
        <p:txBody>
          <a:bodyPr anchor="t">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8" name="Straight Connector 7">
            <a:extLst>
              <a:ext uri="{FF2B5EF4-FFF2-40B4-BE49-F238E27FC236}">
                <a16:creationId xmlns:a16="http://schemas.microsoft.com/office/drawing/2014/main" id="{4C62B492-23F8-09B4-BA81-5C910AC15279}"/>
              </a:ext>
            </a:extLst>
          </p:cNvPr>
          <p:cNvCxnSpPr>
            <a:cxnSpLocks/>
          </p:cNvCxnSpPr>
          <p:nvPr/>
        </p:nvCxnSpPr>
        <p:spPr>
          <a:xfrm>
            <a:off x="6754068" y="164150"/>
            <a:ext cx="543793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rot="16200000">
            <a:off x="-2067304" y="223145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rot="16200000">
            <a:off x="-532354" y="5260880"/>
            <a:ext cx="1494476" cy="429768"/>
          </a:xfrm>
        </p:spPr>
        <p:txBody>
          <a:bodyPr/>
          <a:lstStyle>
            <a:lvl1pPr>
              <a:defRPr>
                <a:solidFill>
                  <a:schemeClr val="tx1"/>
                </a:solidFill>
                <a:effectLst/>
              </a:defRPr>
            </a:lvl1pPr>
          </a:lstStyle>
          <a:p>
            <a:fld id="{60806314-2923-4BCD-81C6-1762557E3AD1}" type="datetime1">
              <a:rPr lang="en-US" smtClean="0"/>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98327" y="0"/>
            <a:ext cx="5986622" cy="6858000"/>
          </a:xfrm>
          <a:blipFill dpi="0" rotWithShape="1">
            <a:blip r:embed="rId2">
              <a:alphaModFix amt="60000"/>
            </a:blip>
            <a:srcRect/>
            <a:stretch>
              <a:fillRect l="-2824" r="-1"/>
            </a:stretch>
          </a:blipFill>
        </p:spPr>
        <p:txBody>
          <a:bodyPr/>
          <a:lstStyle>
            <a:lvl1pPr marL="0" indent="0">
              <a:buNone/>
              <a:defRPr/>
            </a:lvl1pPr>
          </a:lstStyle>
          <a:p>
            <a:r>
              <a:rPr lang="en-US" dirty="0"/>
              <a:t>Click icon to add picture</a:t>
            </a:r>
          </a:p>
        </p:txBody>
      </p:sp>
      <p:cxnSp>
        <p:nvCxnSpPr>
          <p:cNvPr id="9" name="Straight Connector 8">
            <a:extLst>
              <a:ext uri="{FF2B5EF4-FFF2-40B4-BE49-F238E27FC236}">
                <a16:creationId xmlns:a16="http://schemas.microsoft.com/office/drawing/2014/main" id="{5680DD37-AA75-5265-3DD3-EADFD5870C34}"/>
              </a:ext>
            </a:extLst>
          </p:cNvPr>
          <p:cNvCxnSpPr>
            <a:cxnSpLocks/>
          </p:cNvCxnSpPr>
          <p:nvPr userDrawn="1"/>
        </p:nvCxnSpPr>
        <p:spPr>
          <a:xfrm>
            <a:off x="6754068"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5FEC9D1-6B65-BD86-B34E-71F8F5629EE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15562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24832" y="1001715"/>
            <a:ext cx="4724078" cy="2980051"/>
          </a:xfrm>
        </p:spPr>
        <p:txBody>
          <a:bodyPr anchor="t">
            <a:normAutofit/>
          </a:bodyPr>
          <a:lstStyle>
            <a:lvl1pPr algn="l">
              <a:defRPr sz="40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24831" y="4362766"/>
            <a:ext cx="4724077" cy="1860234"/>
          </a:xfrm>
        </p:spPr>
        <p:txBody>
          <a:bodyPr anchor="t">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5" name="Straight Connector 4">
            <a:extLst>
              <a:ext uri="{FF2B5EF4-FFF2-40B4-BE49-F238E27FC236}">
                <a16:creationId xmlns:a16="http://schemas.microsoft.com/office/drawing/2014/main" id="{61F22791-F1DC-82EE-574A-946C4F39A8F5}"/>
              </a:ext>
            </a:extLst>
          </p:cNvPr>
          <p:cNvCxnSpPr>
            <a:cxnSpLocks/>
          </p:cNvCxnSpPr>
          <p:nvPr userDrawn="1"/>
        </p:nvCxnSpPr>
        <p:spPr>
          <a:xfrm>
            <a:off x="429209" y="164150"/>
            <a:ext cx="514041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rot="16200000">
            <a:off x="-2067733" y="2231455"/>
            <a:ext cx="4564378" cy="429768"/>
          </a:xfrm>
        </p:spPr>
        <p:txBody>
          <a:bodyPr/>
          <a:lstStyle/>
          <a:p>
            <a:r>
              <a:rPr lang="en-US" dirty="0"/>
              <a:t>GROWTH MARKETING PLAN</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rot="16200000">
            <a:off x="-537354" y="5265452"/>
            <a:ext cx="1494475" cy="420624"/>
          </a:xfrm>
        </p:spPr>
        <p:txBody>
          <a:bodyPr/>
          <a:lstStyle/>
          <a:p>
            <a:fld id="{D1BD44EB-637E-42FE-BCB7-7CFC0B1C3376}" type="datetime1">
              <a:rPr lang="en-US" smtClean="0"/>
              <a:t>7/28/2026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429" y="6492875"/>
            <a:ext cx="429207" cy="365125"/>
          </a:xfrm>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765246" y="0"/>
            <a:ext cx="6426753" cy="6858000"/>
          </a:xfrm>
          <a:blipFill dpi="0" rotWithShape="1">
            <a:blip r:embed="rId2">
              <a:alphaModFix amt="60000"/>
            </a:blip>
            <a:srcRect/>
            <a:stretch>
              <a:fillRect l="-2631"/>
            </a:stretch>
          </a:blipFill>
        </p:spPr>
        <p:txBody>
          <a:bodyPr/>
          <a:lstStyle>
            <a:lvl1pPr marL="0" indent="0">
              <a:buNone/>
              <a:defRPr/>
            </a:lvl1pPr>
          </a:lstStyle>
          <a:p>
            <a:r>
              <a:rPr lang="en-US" dirty="0"/>
              <a:t>Click icon to add picture</a:t>
            </a:r>
          </a:p>
        </p:txBody>
      </p:sp>
      <p:cxnSp>
        <p:nvCxnSpPr>
          <p:cNvPr id="10" name="Straight Connector 9">
            <a:extLst>
              <a:ext uri="{FF2B5EF4-FFF2-40B4-BE49-F238E27FC236}">
                <a16:creationId xmlns:a16="http://schemas.microsoft.com/office/drawing/2014/main" id="{EDC9DC64-28F1-DE35-BA93-42BE9EDD8B26}"/>
              </a:ext>
            </a:extLst>
          </p:cNvPr>
          <p:cNvCxnSpPr>
            <a:cxnSpLocks/>
          </p:cNvCxnSpPr>
          <p:nvPr userDrawn="1"/>
        </p:nvCxnSpPr>
        <p:spPr>
          <a:xfrm>
            <a:off x="556962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A3CE87-786A-4910-E740-1852BBC75C53}"/>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21592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30" y="1001715"/>
            <a:ext cx="7538423" cy="3457299"/>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31" y="4728526"/>
            <a:ext cx="6595444" cy="1494473"/>
          </a:xfrm>
        </p:spPr>
        <p:txBody>
          <a:bodyPr anchor="b">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8" name="Straight Connector 7">
            <a:extLst>
              <a:ext uri="{FF2B5EF4-FFF2-40B4-BE49-F238E27FC236}">
                <a16:creationId xmlns:a16="http://schemas.microsoft.com/office/drawing/2014/main" id="{D8D58296-262D-E3A1-3EDA-108D59ADDEB9}"/>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5425F719-9770-4838-A1BF-8640CFA44CC3}" type="datetime1">
              <a:rPr lang="en-US" smtClean="0"/>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5FC82B15-2BAA-B79D-562D-AB6EE143DF7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253083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30" y="1001715"/>
            <a:ext cx="8095015" cy="3361051"/>
          </a:xfrm>
        </p:spPr>
        <p:txBody>
          <a:bodyPr anchor="b">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30" y="4728524"/>
            <a:ext cx="7538424" cy="1127761"/>
          </a:xfrm>
        </p:spPr>
        <p:txBody>
          <a:bodyPr anchor="t">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9" name="Straight Connector 8">
            <a:extLst>
              <a:ext uri="{FF2B5EF4-FFF2-40B4-BE49-F238E27FC236}">
                <a16:creationId xmlns:a16="http://schemas.microsoft.com/office/drawing/2014/main" id="{617A912A-256D-661B-C181-034D06ED868C}"/>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AB2F92B4-CE1A-4C71-BEF0-93A2274B672B}" type="datetime1">
              <a:rPr lang="en-US" smtClean="0"/>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8" name="Straight Connector 7">
            <a:extLst>
              <a:ext uri="{FF2B5EF4-FFF2-40B4-BE49-F238E27FC236}">
                <a16:creationId xmlns:a16="http://schemas.microsoft.com/office/drawing/2014/main" id="{DCC649EA-F1C7-472F-52D7-A93BB7EC19B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731194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133602" y="1404262"/>
            <a:ext cx="7924802" cy="2577504"/>
          </a:xfrm>
        </p:spPr>
        <p:txBody>
          <a:bodyPr anchor="b">
            <a:noAutofit/>
          </a:bodyPr>
          <a:lstStyle>
            <a:lvl1pPr algn="ctr">
              <a:defRPr sz="72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519980" y="4353867"/>
            <a:ext cx="7152034" cy="1121418"/>
          </a:xfrm>
        </p:spPr>
        <p:txBody>
          <a:bodyPr>
            <a:normAutofit/>
          </a:bodyPr>
          <a:lstStyle>
            <a:lvl1pPr marL="0" indent="0" algn="ctr">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9" name="Straight Connector 8">
            <a:extLst>
              <a:ext uri="{FF2B5EF4-FFF2-40B4-BE49-F238E27FC236}">
                <a16:creationId xmlns:a16="http://schemas.microsoft.com/office/drawing/2014/main" id="{0CFC45B0-B1A3-3E44-43D7-C15E5073EEB5}"/>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4655A5E0-7ACA-4081-A937-2CF1CEC074EB}" type="datetime1">
              <a:rPr lang="en-US" smtClean="0"/>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7" name="Straight Connector 6">
            <a:extLst>
              <a:ext uri="{FF2B5EF4-FFF2-40B4-BE49-F238E27FC236}">
                <a16:creationId xmlns:a16="http://schemas.microsoft.com/office/drawing/2014/main" id="{3BEA1CDC-959E-33FA-9AF1-75DB91B6A967}"/>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091970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3478" y="1748475"/>
            <a:ext cx="10924476" cy="4730749"/>
          </a:xfrm>
        </p:spPr>
        <p:txBody>
          <a:bodyPr anchor="b">
            <a:normAutofit/>
          </a:bodyPr>
          <a:lstStyle>
            <a:lvl1pPr algn="l">
              <a:defRPr sz="7200">
                <a:solidFill>
                  <a:schemeClr val="bg1"/>
                </a:solidFill>
              </a:defRPr>
            </a:lvl1pPr>
          </a:lstStyle>
          <a:p>
            <a:r>
              <a:rPr lang="en-US" dirty="0"/>
              <a:t>Click to edit Master title style</a:t>
            </a:r>
          </a:p>
        </p:txBody>
      </p:sp>
      <p:cxnSp>
        <p:nvCxnSpPr>
          <p:cNvPr id="7" name="Straight Connector 6">
            <a:extLst>
              <a:ext uri="{FF2B5EF4-FFF2-40B4-BE49-F238E27FC236}">
                <a16:creationId xmlns:a16="http://schemas.microsoft.com/office/drawing/2014/main" id="{6A27FB5B-F1F4-96F1-0152-318F0A4000BC}"/>
              </a:ext>
            </a:extLst>
          </p:cNvPr>
          <p:cNvCxnSpPr/>
          <p:nvPr/>
        </p:nvCxnSpPr>
        <p:spPr>
          <a:xfrm>
            <a:off x="429209" y="164150"/>
            <a:ext cx="11762791"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C8626840-FA11-4374-BE46-30DF1EAD92FE}" type="datetime1">
              <a:rPr lang="en-US" smtClean="0"/>
              <a:pPr/>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61593392-0733-4701-8F74-B58075202E27}"/>
              </a:ext>
            </a:extLst>
          </p:cNvPr>
          <p:cNvCxnSpPr>
            <a:cxnSpLocks/>
          </p:cNvCxnSpPr>
          <p:nvPr userDrawn="1"/>
        </p:nvCxnSpPr>
        <p:spPr>
          <a:xfrm>
            <a:off x="429793"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6892460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34030" y="1001713"/>
            <a:ext cx="5702371" cy="4855527"/>
          </a:xfrm>
        </p:spPr>
        <p:txBody>
          <a:bodyPr anchor="ctr">
            <a:normAutofit/>
          </a:bodyPr>
          <a:lstStyle>
            <a:lvl1pPr algn="ctr">
              <a:defRPr sz="4000"/>
            </a:lvl1pPr>
          </a:lstStyle>
          <a:p>
            <a:r>
              <a:rPr lang="en-US" dirty="0"/>
              <a:t>Click to edit Master title style</a:t>
            </a:r>
          </a:p>
        </p:txBody>
      </p:sp>
      <p:cxnSp>
        <p:nvCxnSpPr>
          <p:cNvPr id="6" name="Straight Connector 5">
            <a:extLst>
              <a:ext uri="{FF2B5EF4-FFF2-40B4-BE49-F238E27FC236}">
                <a16:creationId xmlns:a16="http://schemas.microsoft.com/office/drawing/2014/main" id="{95807522-A1BC-0AAD-E7B4-C948DF50EAC6}"/>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08506C6-7398-25A3-A121-87E3BF8366E4}"/>
              </a:ext>
            </a:extLst>
          </p:cNvPr>
          <p:cNvCxnSpPr>
            <a:cxnSpLocks/>
          </p:cNvCxnSpPr>
          <p:nvPr userDrawn="1"/>
        </p:nvCxnSpPr>
        <p:spPr>
          <a:xfrm>
            <a:off x="6541227"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C4D0019-5D4E-18AB-5653-979E0D7032FB}"/>
              </a:ext>
            </a:extLst>
          </p:cNvPr>
          <p:cNvCxnSpPr>
            <a:cxnSpLocks/>
          </p:cNvCxnSpPr>
          <p:nvPr userDrawn="1"/>
        </p:nvCxnSpPr>
        <p:spPr>
          <a:xfrm>
            <a:off x="6541227" y="164150"/>
            <a:ext cx="565077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32C7AAB3-9B5A-4636-BF0B-2B99D42F5638}" type="datetime1">
              <a:rPr lang="en-US" smtClean="0"/>
              <a:t>7/28/2026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224097" y="1001713"/>
            <a:ext cx="4333859" cy="4855527"/>
          </a:xfrm>
        </p:spPr>
        <p:txBody>
          <a:bodyPr anchor="ctr">
            <a:normAutofit/>
          </a:bodyPr>
          <a:lstStyle>
            <a:lvl1pPr marL="457200" indent="-457200" algn="l">
              <a:buFont typeface="+mj-lt"/>
              <a:buAutoNum type="arabicPeriod"/>
              <a:defRPr sz="1600"/>
            </a:lvl1pPr>
            <a:lvl2pPr marL="685800" indent="-457200" algn="l">
              <a:buFont typeface="+mj-lt"/>
              <a:buAutoNum type="arabicPeriod"/>
              <a:defRPr sz="1600"/>
            </a:lvl2pPr>
            <a:lvl3pPr marL="800100" indent="-342900" algn="l">
              <a:buFont typeface="+mj-lt"/>
              <a:buAutoNum type="arabicPeriod"/>
              <a:defRPr sz="1600"/>
            </a:lvl3pPr>
            <a:lvl4pPr marL="1028700" indent="-342900" algn="l">
              <a:buFont typeface="+mj-lt"/>
              <a:buAutoNum type="arabicPeriod"/>
              <a:defRPr sz="1600"/>
            </a:lvl4pPr>
            <a:lvl5pPr marL="1257300" indent="-342900" algn="l">
              <a:buFont typeface="+mj-lt"/>
              <a:buAutoNum type="arabicPeriod"/>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14472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761419" y="1001716"/>
            <a:ext cx="4796545" cy="1503374"/>
          </a:xfrm>
        </p:spPr>
        <p:txBody>
          <a:bodyPr anchor="b">
            <a:normAutofit/>
          </a:bodyPr>
          <a:lstStyle>
            <a:lvl1pPr>
              <a:defRPr sz="4000"/>
            </a:lvl1pPr>
          </a:lstStyle>
          <a:p>
            <a:r>
              <a:rPr lang="en-US" dirty="0"/>
              <a:t>Click to edit Master title style</a:t>
            </a:r>
          </a:p>
        </p:txBody>
      </p:sp>
      <p:cxnSp>
        <p:nvCxnSpPr>
          <p:cNvPr id="9" name="Straight Connector 8">
            <a:extLst>
              <a:ext uri="{FF2B5EF4-FFF2-40B4-BE49-F238E27FC236}">
                <a16:creationId xmlns:a16="http://schemas.microsoft.com/office/drawing/2014/main" id="{1C92E087-D311-16FB-DFD8-7DFD79458D04}"/>
              </a:ext>
            </a:extLst>
          </p:cNvPr>
          <p:cNvCxnSpPr>
            <a:cxnSpLocks/>
          </p:cNvCxnSpPr>
          <p:nvPr userDrawn="1"/>
        </p:nvCxnSpPr>
        <p:spPr>
          <a:xfrm>
            <a:off x="6096000" y="164150"/>
            <a:ext cx="609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rot="16200000">
            <a:off x="-2067304" y="2231454"/>
            <a:ext cx="4564376" cy="429768"/>
          </a:xfrm>
        </p:spPr>
        <p:txBody>
          <a:bodyPr/>
          <a:lstStyle/>
          <a:p>
            <a:r>
              <a:rPr lang="en-US" dirty="0"/>
              <a:t>GROWTH MARKETING PLAN</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rot="16200000">
            <a:off x="-532353" y="5260880"/>
            <a:ext cx="1494474" cy="429768"/>
          </a:xfrm>
        </p:spPr>
        <p:txBody>
          <a:bodyPr/>
          <a:lstStyle/>
          <a:p>
            <a:fld id="{569377BB-3A7F-48AE-8949-DF715FC88965}" type="datetime1">
              <a:rPr lang="en-US" smtClean="0"/>
              <a:t>7/28/2026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Picture Placeholder 7">
            <a:extLst>
              <a:ext uri="{FF2B5EF4-FFF2-40B4-BE49-F238E27FC236}">
                <a16:creationId xmlns:a16="http://schemas.microsoft.com/office/drawing/2014/main" id="{9AC20259-235D-F9C3-3788-C1457976F5AC}"/>
              </a:ext>
            </a:extLst>
          </p:cNvPr>
          <p:cNvSpPr>
            <a:spLocks noGrp="1"/>
          </p:cNvSpPr>
          <p:nvPr>
            <p:ph type="pic" sz="quarter" idx="14"/>
          </p:nvPr>
        </p:nvSpPr>
        <p:spPr>
          <a:xfrm>
            <a:off x="598329" y="0"/>
            <a:ext cx="5331038" cy="685800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776581" y="2886088"/>
            <a:ext cx="4781383" cy="3336912"/>
          </a:xfrm>
        </p:spPr>
        <p:txBody>
          <a:bodyPr anchor="b">
            <a:normAutofit/>
          </a:bodyPr>
          <a:lstStyle>
            <a:lvl1pPr marL="0" indent="0">
              <a:buFont typeface="+mj-lt"/>
              <a:buNone/>
              <a:defRPr sz="1600"/>
            </a:lvl1pPr>
            <a:lvl2pPr marL="228600" indent="0">
              <a:buFont typeface="+mj-lt"/>
              <a:buNone/>
              <a:defRPr sz="1600"/>
            </a:lvl2pPr>
            <a:lvl3pPr marL="457200" indent="0">
              <a:buFont typeface="+mj-lt"/>
              <a:buNone/>
              <a:defRPr sz="1600"/>
            </a:lvl3pPr>
            <a:lvl4pPr marL="685800" indent="0">
              <a:buFont typeface="+mj-lt"/>
              <a:buNone/>
              <a:defRPr sz="1600"/>
            </a:lvl4pPr>
            <a:lvl5pPr marL="914400" indent="0">
              <a:buFont typeface="+mj-lt"/>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3" name="Straight Connector 12">
            <a:extLst>
              <a:ext uri="{FF2B5EF4-FFF2-40B4-BE49-F238E27FC236}">
                <a16:creationId xmlns:a16="http://schemas.microsoft.com/office/drawing/2014/main" id="{141EF905-FBC0-6AEE-DA7E-A6361F7EF6BB}"/>
              </a:ext>
            </a:extLst>
          </p:cNvPr>
          <p:cNvCxnSpPr>
            <a:cxnSpLocks/>
          </p:cNvCxnSpPr>
          <p:nvPr userDrawn="1"/>
        </p:nvCxnSpPr>
        <p:spPr>
          <a:xfrm>
            <a:off x="6099047"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EC5A10F-4276-544F-CA8D-14E3EDCA493B}"/>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25678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2496190"/>
            <a:ext cx="4714881" cy="2232336"/>
          </a:xfrm>
        </p:spPr>
        <p:txBody>
          <a:bodyPr>
            <a:normAutofit/>
          </a:bodyPr>
          <a:lstStyle>
            <a:lvl1pPr>
              <a:defRPr sz="4000"/>
            </a:lvl1pPr>
          </a:lstStyle>
          <a:p>
            <a:r>
              <a:rPr lang="en-US" dirty="0"/>
              <a:t>Click to edit Master title style</a:t>
            </a:r>
          </a:p>
        </p:txBody>
      </p:sp>
      <p:cxnSp>
        <p:nvCxnSpPr>
          <p:cNvPr id="9" name="Straight Connector 8">
            <a:extLst>
              <a:ext uri="{FF2B5EF4-FFF2-40B4-BE49-F238E27FC236}">
                <a16:creationId xmlns:a16="http://schemas.microsoft.com/office/drawing/2014/main" id="{430124F2-891B-DC7A-86AD-C038AE8A6493}"/>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39F5C65A-63EB-4D03-A77A-34D9179F227E}"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496190"/>
            <a:ext cx="4325112" cy="2232335"/>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7" name="Straight Connector 6">
            <a:extLst>
              <a:ext uri="{FF2B5EF4-FFF2-40B4-BE49-F238E27FC236}">
                <a16:creationId xmlns:a16="http://schemas.microsoft.com/office/drawing/2014/main" id="{CD1D8F17-EF76-0E40-74BF-199C61642602}"/>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073504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2133757"/>
            <a:ext cx="4328497" cy="3728831"/>
          </a:xfrm>
        </p:spPr>
        <p:txBody>
          <a:bodyPr>
            <a:normAutofit/>
          </a:bodyPr>
          <a:lstStyle>
            <a:lvl1pPr>
              <a:defRPr sz="4000"/>
            </a:lvl1pPr>
          </a:lstStyle>
          <a:p>
            <a:r>
              <a:rPr lang="en-US" dirty="0"/>
              <a:t>Click to edit Master title style</a:t>
            </a:r>
          </a:p>
        </p:txBody>
      </p:sp>
      <p:cxnSp>
        <p:nvCxnSpPr>
          <p:cNvPr id="9" name="Straight Connector 8">
            <a:extLst>
              <a:ext uri="{FF2B5EF4-FFF2-40B4-BE49-F238E27FC236}">
                <a16:creationId xmlns:a16="http://schemas.microsoft.com/office/drawing/2014/main" id="{6EB3FC25-52BF-D39B-F6D8-ACD115F19721}"/>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43B156B-F59C-4C90-B2BF-52C692BF43D0}"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348911" y="2129475"/>
            <a:ext cx="5266077" cy="3727766"/>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A9054AC9-7FE7-AA63-76C1-0BB3E059FCEA}"/>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20224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1381759"/>
            <a:ext cx="4358311" cy="4841241"/>
          </a:xfrm>
        </p:spPr>
        <p:txBody>
          <a:bodyPr>
            <a:normAutofit/>
          </a:bodyPr>
          <a:lstStyle>
            <a:lvl1pPr>
              <a:defRPr sz="4000"/>
            </a:lvl1pPr>
          </a:lstStyle>
          <a:p>
            <a:r>
              <a:rPr lang="en-US" dirty="0"/>
              <a:t>Click to edit Master title style</a:t>
            </a:r>
          </a:p>
        </p:txBody>
      </p:sp>
      <p:cxnSp>
        <p:nvCxnSpPr>
          <p:cNvPr id="9" name="Straight Connector 8">
            <a:extLst>
              <a:ext uri="{FF2B5EF4-FFF2-40B4-BE49-F238E27FC236}">
                <a16:creationId xmlns:a16="http://schemas.microsoft.com/office/drawing/2014/main" id="{1835D4DD-0247-2268-9444-EBEAF09126E2}"/>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E5D3B20-6D77-4E10-9C9F-10A32026F483}"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378726" y="1381759"/>
            <a:ext cx="5622648" cy="4841241"/>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D32B1FAB-0434-52D4-45F7-F1C56FA427F8}"/>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372932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5"/>
            <a:ext cx="4328497" cy="4855526"/>
          </a:xfrm>
        </p:spPr>
        <p:txBody>
          <a:bodyPr anchor="ctr">
            <a:normAutofit/>
          </a:bodyPr>
          <a:lstStyle>
            <a:lvl1pPr algn="ctr">
              <a:defRPr sz="4000"/>
            </a:lvl1pPr>
          </a:lstStyle>
          <a:p>
            <a:r>
              <a:rPr lang="en-US" dirty="0"/>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CBBBE18-C792-4A63-8F5A-CED2F5653C9B}"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883174" y="1001714"/>
            <a:ext cx="5118206" cy="4855527"/>
          </a:xfrm>
        </p:spPr>
        <p:txBody>
          <a:bodyPr anchor="ct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68F4B9D1-5247-53CB-C1FC-9E3459BF16C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43F8E40-0F32-5592-0885-55CEBFBDF0AB}"/>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613806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900433"/>
            <a:ext cx="3771900" cy="5221285"/>
          </a:xfrm>
        </p:spPr>
        <p:txBody>
          <a:bodyPr anchor="ctr">
            <a:normAutofit/>
          </a:bodyPr>
          <a:lstStyle>
            <a:lvl1pPr algn="ctr">
              <a:defRPr sz="4000"/>
            </a:lvl1pPr>
          </a:lstStyle>
          <a:p>
            <a:r>
              <a:rPr lang="en-US" dirty="0"/>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452B4E55-CD3E-4D87-9041-7A8452BD5273}"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348911" y="900432"/>
            <a:ext cx="6209054" cy="5221285"/>
          </a:xfrm>
        </p:spPr>
        <p:txBody>
          <a:bodyPr anchor="ct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CE7E8DAF-8174-2859-E029-6F85464CAC9F}"/>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34228395-2719-9A44-CE27-6CFD8BD848E8}"/>
              </a:ext>
            </a:extLst>
          </p:cNvPr>
          <p:cNvCxnSpPr>
            <a:cxnSpLocks/>
          </p:cNvCxnSpPr>
          <p:nvPr userDrawn="1"/>
        </p:nvCxnSpPr>
        <p:spPr>
          <a:xfrm>
            <a:off x="4883705" y="164150"/>
            <a:ext cx="730829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E83E6F6-12DD-3AC0-8C59-D6E9DEDA1456}"/>
              </a:ext>
            </a:extLst>
          </p:cNvPr>
          <p:cNvCxnSpPr>
            <a:cxnSpLocks/>
          </p:cNvCxnSpPr>
          <p:nvPr userDrawn="1"/>
        </p:nvCxnSpPr>
        <p:spPr>
          <a:xfrm>
            <a:off x="4883705"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84417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113785" y="1001715"/>
            <a:ext cx="6444179" cy="1122374"/>
          </a:xfrm>
        </p:spPr>
        <p:txBody>
          <a:bodyPr anchor="b">
            <a:noAutofit/>
          </a:bodyPr>
          <a:lstStyle>
            <a:lvl1pPr>
              <a:defRPr sz="4000"/>
            </a:lvl1pPr>
          </a:lstStyle>
          <a:p>
            <a:r>
              <a:rPr lang="en-US" dirty="0"/>
              <a:t>Click to edit Master title style</a:t>
            </a:r>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rot="16200000">
            <a:off x="-2067304" y="223145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rot="16200000">
            <a:off x="-532354" y="5260879"/>
            <a:ext cx="1494475" cy="429768"/>
          </a:xfrm>
        </p:spPr>
        <p:txBody>
          <a:bodyPr/>
          <a:lstStyle/>
          <a:p>
            <a:fld id="{B44ACCC6-A2BA-4B7B-99B4-E62BB5424C67}" type="datetime1">
              <a:rPr lang="en-US" smtClean="0"/>
              <a:t>7/28/2026</a:t>
            </a:fld>
            <a:endParaRPr lang="en-US" dirty="0"/>
          </a:p>
        </p:txBody>
      </p:sp>
      <p:cxnSp>
        <p:nvCxnSpPr>
          <p:cNvPr id="6" name="Straight Connector 5">
            <a:extLst>
              <a:ext uri="{FF2B5EF4-FFF2-40B4-BE49-F238E27FC236}">
                <a16:creationId xmlns:a16="http://schemas.microsoft.com/office/drawing/2014/main" id="{8F3207AA-DF92-4449-9316-61475F014448}"/>
              </a:ext>
            </a:extLst>
          </p:cNvPr>
          <p:cNvCxnSpPr>
            <a:cxnSpLocks/>
          </p:cNvCxnSpPr>
          <p:nvPr userDrawn="1"/>
        </p:nvCxnSpPr>
        <p:spPr>
          <a:xfrm>
            <a:off x="4918159" y="164150"/>
            <a:ext cx="727384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8" y="1"/>
            <a:ext cx="4124206" cy="6858000"/>
          </a:xfrm>
          <a:blipFill dpi="0" rotWithShape="1">
            <a:blip r:embed="rId2">
              <a:alphaModFix amt="60000"/>
            </a:blip>
            <a:srcRect/>
            <a:stretch>
              <a:fillRect l="-2278" r="-6699"/>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hasCustomPrompt="1"/>
          </p:nvPr>
        </p:nvSpPr>
        <p:spPr>
          <a:xfrm>
            <a:off x="5113785" y="2496190"/>
            <a:ext cx="6444179" cy="3726810"/>
          </a:xfrm>
        </p:spPr>
        <p:txBody>
          <a:bodyPr>
            <a:normAutofit/>
          </a:bodyPr>
          <a:lstStyle>
            <a:lvl3pPr marL="457200" indent="0">
              <a:buNone/>
              <a:defRPr sz="1600"/>
            </a:lvl3pPr>
            <a:lvl4pPr marL="685800" indent="0">
              <a:buNone/>
              <a:defRPr sz="1600"/>
            </a:lvl4pPr>
            <a:lvl5pPr marL="914400" indent="0">
              <a:buNone/>
              <a:defRPr sz="1600"/>
            </a:lvl5pPr>
          </a:lstStyle>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D34805F9-D010-6E54-928C-1EBB88CBA9D3}"/>
              </a:ext>
            </a:extLst>
          </p:cNvPr>
          <p:cNvCxnSpPr>
            <a:cxnSpLocks/>
          </p:cNvCxnSpPr>
          <p:nvPr userDrawn="1"/>
        </p:nvCxnSpPr>
        <p:spPr>
          <a:xfrm>
            <a:off x="4918159"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A487952-A86B-7C85-B4C5-3B9E9DED85AF}"/>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52905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4"/>
            <a:ext cx="5647085" cy="1122375"/>
          </a:xfrm>
        </p:spPr>
        <p:txBody>
          <a:bodyPr anchor="b">
            <a:noAutofit/>
          </a:bodyPr>
          <a:lstStyle>
            <a:lvl1pPr>
              <a:defRPr sz="4000"/>
            </a:lvl1pPr>
          </a:lstStyle>
          <a:p>
            <a:r>
              <a:rPr lang="en-US" dirty="0"/>
              <a:t>Click to edit Master title style</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rot="16200000">
            <a:off x="-2067302" y="2231454"/>
            <a:ext cx="4564376" cy="429768"/>
          </a:xfrm>
        </p:spPr>
        <p:txBody>
          <a:bodyPr/>
          <a:lstStyle/>
          <a:p>
            <a:r>
              <a:rPr lang="en-US" dirty="0"/>
              <a:t>GROWTH MARKETING PLAN</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rot="16200000">
            <a:off x="-532352" y="5260879"/>
            <a:ext cx="1494475" cy="429768"/>
          </a:xfrm>
        </p:spPr>
        <p:txBody>
          <a:bodyPr/>
          <a:lstStyle/>
          <a:p>
            <a:fld id="{341E3BD6-1BE7-4293-98B0-C8B456DEC98E}" type="datetime1">
              <a:rPr lang="en-US" smtClean="0"/>
              <a:t>7/28/2026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1" y="6492875"/>
            <a:ext cx="429207" cy="365125"/>
          </a:xfrm>
        </p:spPr>
        <p:txBody>
          <a:bodyPr/>
          <a:lstStyle/>
          <a:p>
            <a:fld id="{CC057153-B650-4DEB-B370-79DDCFDCE934}" type="slidenum">
              <a:rPr lang="en-US" smtClean="0"/>
              <a:t>‹#›</a:t>
            </a:fld>
            <a:endParaRPr lang="en-US" dirty="0"/>
          </a:p>
        </p:txBody>
      </p:sp>
      <p:cxnSp>
        <p:nvCxnSpPr>
          <p:cNvPr id="3" name="Straight Connector 2">
            <a:extLst>
              <a:ext uri="{FF2B5EF4-FFF2-40B4-BE49-F238E27FC236}">
                <a16:creationId xmlns:a16="http://schemas.microsoft.com/office/drawing/2014/main" id="{967BDF5B-E352-4558-1EFA-37F504BFE32E}"/>
              </a:ext>
            </a:extLst>
          </p:cNvPr>
          <p:cNvCxnSpPr>
            <a:cxnSpLocks/>
          </p:cNvCxnSpPr>
          <p:nvPr userDrawn="1"/>
        </p:nvCxnSpPr>
        <p:spPr>
          <a:xfrm>
            <a:off x="429208" y="164150"/>
            <a:ext cx="663111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30" y="2496190"/>
            <a:ext cx="5647085" cy="3726810"/>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224097" y="0"/>
            <a:ext cx="4967903" cy="685800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cxnSp>
        <p:nvCxnSpPr>
          <p:cNvPr id="6" name="Straight Connector 5">
            <a:extLst>
              <a:ext uri="{FF2B5EF4-FFF2-40B4-BE49-F238E27FC236}">
                <a16:creationId xmlns:a16="http://schemas.microsoft.com/office/drawing/2014/main" id="{D02BFE52-C7C3-A7E3-F6D9-EDECDF40EF56}"/>
              </a:ext>
            </a:extLst>
          </p:cNvPr>
          <p:cNvCxnSpPr>
            <a:cxnSpLocks/>
          </p:cNvCxnSpPr>
          <p:nvPr userDrawn="1"/>
        </p:nvCxnSpPr>
        <p:spPr>
          <a:xfrm>
            <a:off x="706032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1C0473F-E6DB-D181-43D0-0D5C945184BB}"/>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34341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817306" y="1001715"/>
            <a:ext cx="6740655" cy="1087887"/>
          </a:xfrm>
        </p:spPr>
        <p:txBody>
          <a:bodyPr anchor="b">
            <a:noAutofit/>
          </a:bodyPr>
          <a:lstStyle>
            <a:lvl1pPr>
              <a:defRPr sz="4000"/>
            </a:lvl1pPr>
          </a:lstStyle>
          <a:p>
            <a:r>
              <a:rPr lang="en-US" dirty="0"/>
              <a:t>Click to edit Master title style</a:t>
            </a:r>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rot="16200000">
            <a:off x="-2067304" y="2231454"/>
            <a:ext cx="4564376" cy="429768"/>
          </a:xfrm>
        </p:spPr>
        <p:txBody>
          <a:bodyPr/>
          <a:lstStyle/>
          <a:p>
            <a:r>
              <a:rPr lang="en-US" dirty="0"/>
              <a:t>GROWTH MARKETING PLAN</a:t>
            </a:r>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rot="16200000">
            <a:off x="-532354" y="5260879"/>
            <a:ext cx="1494474" cy="429768"/>
          </a:xfrm>
        </p:spPr>
        <p:txBody>
          <a:bodyPr/>
          <a:lstStyle/>
          <a:p>
            <a:fld id="{12B94328-6471-48ED-A3E9-D3E8C4DB1679}" type="datetime1">
              <a:rPr lang="en-US" smtClean="0"/>
              <a:t>7/28/2026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p:txBody>
          <a:bodyPr/>
          <a:lstStyle/>
          <a:p>
            <a:fld id="{CC057153-B650-4DEB-B370-79DDCFDCE934}" type="slidenum">
              <a:rPr lang="en-US" smtClean="0"/>
              <a:t>‹#›</a:t>
            </a:fld>
            <a:endParaRPr lang="en-US" dirty="0"/>
          </a:p>
        </p:txBody>
      </p:sp>
      <p:cxnSp>
        <p:nvCxnSpPr>
          <p:cNvPr id="10" name="Straight Connector 9">
            <a:extLst>
              <a:ext uri="{FF2B5EF4-FFF2-40B4-BE49-F238E27FC236}">
                <a16:creationId xmlns:a16="http://schemas.microsoft.com/office/drawing/2014/main" id="{5EA26726-2193-5028-87FF-55119A73A643}"/>
              </a:ext>
            </a:extLst>
          </p:cNvPr>
          <p:cNvCxnSpPr>
            <a:cxnSpLocks/>
          </p:cNvCxnSpPr>
          <p:nvPr userDrawn="1"/>
        </p:nvCxnSpPr>
        <p:spPr>
          <a:xfrm>
            <a:off x="4634939" y="164150"/>
            <a:ext cx="755706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8" y="0"/>
            <a:ext cx="3854240" cy="685800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817311" y="2496190"/>
            <a:ext cx="6740654" cy="3726810"/>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1FAA0E72-1F2C-EAE4-77B7-9FF7C88D21DD}"/>
              </a:ext>
            </a:extLst>
          </p:cNvPr>
          <p:cNvCxnSpPr>
            <a:cxnSpLocks/>
          </p:cNvCxnSpPr>
          <p:nvPr userDrawn="1"/>
        </p:nvCxnSpPr>
        <p:spPr>
          <a:xfrm>
            <a:off x="4634939"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EA80D3F-C3CE-0859-0D1F-594C0503DBAA}"/>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78514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1" y="1028130"/>
            <a:ext cx="6595448" cy="1113475"/>
          </a:xfrm>
        </p:spPr>
        <p:txBody>
          <a:bodyPr anchor="t">
            <a:noAutofit/>
          </a:bodyPr>
          <a:lstStyle>
            <a:lvl1pPr>
              <a:defRPr sz="4000"/>
            </a:lvl1pPr>
          </a:lstStyle>
          <a:p>
            <a:r>
              <a:rPr lang="en-US" dirty="0"/>
              <a:t>Click to edit Master title style</a:t>
            </a:r>
          </a:p>
        </p:txBody>
      </p:sp>
      <p:cxnSp>
        <p:nvCxnSpPr>
          <p:cNvPr id="5" name="Straight Connector 4">
            <a:extLst>
              <a:ext uri="{FF2B5EF4-FFF2-40B4-BE49-F238E27FC236}">
                <a16:creationId xmlns:a16="http://schemas.microsoft.com/office/drawing/2014/main" id="{616649CF-C20C-7376-D09A-88A289B7A347}"/>
              </a:ext>
            </a:extLst>
          </p:cNvPr>
          <p:cNvCxnSpPr>
            <a:cxnSpLocks/>
          </p:cNvCxnSpPr>
          <p:nvPr userDrawn="1"/>
        </p:nvCxnSpPr>
        <p:spPr>
          <a:xfrm>
            <a:off x="429208" y="164150"/>
            <a:ext cx="747959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rot="16200000">
            <a:off x="-2067302" y="223145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rot="16200000">
            <a:off x="-532352" y="5260879"/>
            <a:ext cx="1494475" cy="429768"/>
          </a:xfrm>
        </p:spPr>
        <p:txBody>
          <a:bodyPr/>
          <a:lstStyle/>
          <a:p>
            <a:fld id="{1368BACD-07D9-459F-AA1C-5268AE32178F}" type="datetime1">
              <a:rPr lang="en-US" smtClean="0"/>
              <a:t>7/28/2026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 y="6492240"/>
            <a:ext cx="429207" cy="365125"/>
          </a:xfrm>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31" y="2496190"/>
            <a:ext cx="6595448" cy="3726809"/>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913312" y="0"/>
            <a:ext cx="4283768" cy="6858000"/>
          </a:xfrm>
          <a:blipFill dpi="0" rotWithShape="1">
            <a:blip r:embed="rId2">
              <a:alphaModFix amt="60000"/>
            </a:blip>
            <a:srcRect/>
            <a:stretch>
              <a:fillRect l="1" t="-1" r="1" b="-4473"/>
            </a:stretch>
          </a:blipFill>
        </p:spPr>
        <p:txBody>
          <a:bodyPr/>
          <a:lstStyle>
            <a:lvl1pPr marL="0" indent="0">
              <a:buNone/>
              <a:defRPr/>
            </a:lvl1pPr>
          </a:lstStyle>
          <a:p>
            <a:r>
              <a:rPr lang="en-US" dirty="0"/>
              <a:t>Click icon to add picture</a:t>
            </a:r>
          </a:p>
        </p:txBody>
      </p:sp>
      <p:cxnSp>
        <p:nvCxnSpPr>
          <p:cNvPr id="12" name="Straight Connector 11">
            <a:extLst>
              <a:ext uri="{FF2B5EF4-FFF2-40B4-BE49-F238E27FC236}">
                <a16:creationId xmlns:a16="http://schemas.microsoft.com/office/drawing/2014/main" id="{BB030F47-B045-036A-B67B-EF84DE9E2A8D}"/>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952218E5-4B7E-010A-02DF-6951A1023B10}"/>
              </a:ext>
            </a:extLst>
          </p:cNvPr>
          <p:cNvCxnSpPr>
            <a:cxnSpLocks/>
          </p:cNvCxnSpPr>
          <p:nvPr userDrawn="1"/>
        </p:nvCxnSpPr>
        <p:spPr>
          <a:xfrm>
            <a:off x="7908800"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067055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0259" y="1001715"/>
            <a:ext cx="4717705" cy="1109672"/>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7304" y="2231454"/>
            <a:ext cx="4564376" cy="429768"/>
          </a:xfrm>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1666" y="5260191"/>
            <a:ext cx="1493097" cy="429768"/>
          </a:xfrm>
        </p:spPr>
        <p:txBody>
          <a:bodyPr/>
          <a:lstStyle>
            <a:lvl1pPr>
              <a:defRPr>
                <a:solidFill>
                  <a:schemeClr val="tx1"/>
                </a:solidFill>
                <a:effectLst/>
              </a:defRPr>
            </a:lvl1pPr>
          </a:lstStyle>
          <a:p>
            <a:fld id="{1692A769-D4A9-4BBF-AD73-A3AD41FBB7C3}"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10" name="Straight Connector 9">
            <a:extLst>
              <a:ext uri="{FF2B5EF4-FFF2-40B4-BE49-F238E27FC236}">
                <a16:creationId xmlns:a16="http://schemas.microsoft.com/office/drawing/2014/main" id="{B44E0F01-74F8-4E05-0BF9-107555BA139C}"/>
              </a:ext>
            </a:extLst>
          </p:cNvPr>
          <p:cNvCxnSpPr>
            <a:cxnSpLocks/>
          </p:cNvCxnSpPr>
          <p:nvPr userDrawn="1"/>
        </p:nvCxnSpPr>
        <p:spPr>
          <a:xfrm>
            <a:off x="6624761" y="164150"/>
            <a:ext cx="556723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8" y="0"/>
            <a:ext cx="5843502" cy="685800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07693" y="2492387"/>
            <a:ext cx="4750271" cy="3730613"/>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A85E70CC-C7D7-B9CE-493E-0579781D2D31}"/>
              </a:ext>
            </a:extLst>
          </p:cNvPr>
          <p:cNvCxnSpPr>
            <a:cxnSpLocks/>
          </p:cNvCxnSpPr>
          <p:nvPr userDrawn="1"/>
        </p:nvCxnSpPr>
        <p:spPr>
          <a:xfrm>
            <a:off x="6624761"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0E830231-922B-910E-CA0F-2B635AE5E80F}"/>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186592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2" y="1001715"/>
            <a:ext cx="4714880" cy="1125536"/>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71905" y="2231455"/>
            <a:ext cx="4564377" cy="429768"/>
          </a:xfrm>
        </p:spPr>
        <p:txBody>
          <a:bodyPr/>
          <a:lstStyle>
            <a:lvl1pPr>
              <a:defRPr>
                <a:solidFill>
                  <a:schemeClr val="tx1"/>
                </a:solidFill>
                <a:effectLst/>
              </a:defRPr>
            </a:lvl1p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6954" y="5260879"/>
            <a:ext cx="1494474" cy="429768"/>
          </a:xfrm>
        </p:spPr>
        <p:txBody>
          <a:bodyPr/>
          <a:lstStyle/>
          <a:p>
            <a:fld id="{2DF6CB4C-CEEE-488F-A556-6D160C723A2D}"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601" y="6492240"/>
            <a:ext cx="429207" cy="365760"/>
          </a:xfrm>
        </p:spPr>
        <p:txBody>
          <a:bodyPr/>
          <a:lstStyle>
            <a:lvl1pPr>
              <a:defRPr>
                <a:solidFill>
                  <a:schemeClr val="tx1"/>
                </a:solidFill>
                <a:effectLst/>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8812D87E-65D6-AA23-C2F1-6ACD679648B1}"/>
              </a:ext>
            </a:extLst>
          </p:cNvPr>
          <p:cNvCxnSpPr>
            <a:cxnSpLocks/>
          </p:cNvCxnSpPr>
          <p:nvPr userDrawn="1"/>
        </p:nvCxnSpPr>
        <p:spPr>
          <a:xfrm>
            <a:off x="431800" y="164150"/>
            <a:ext cx="528717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31" y="2493965"/>
            <a:ext cx="4714880" cy="3729035"/>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888095" y="-1"/>
            <a:ext cx="6303905" cy="6888997"/>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cxnSp>
        <p:nvCxnSpPr>
          <p:cNvPr id="10" name="Straight Connector 9">
            <a:extLst>
              <a:ext uri="{FF2B5EF4-FFF2-40B4-BE49-F238E27FC236}">
                <a16:creationId xmlns:a16="http://schemas.microsoft.com/office/drawing/2014/main" id="{5CC1A446-6BAE-22CC-E376-C7034DBFDE71}"/>
              </a:ext>
            </a:extLst>
          </p:cNvPr>
          <p:cNvCxnSpPr>
            <a:cxnSpLocks/>
          </p:cNvCxnSpPr>
          <p:nvPr userDrawn="1"/>
        </p:nvCxnSpPr>
        <p:spPr>
          <a:xfrm>
            <a:off x="5718976"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4047466-B04C-40AF-946A-45572220C733}"/>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78555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13504" y="1001715"/>
            <a:ext cx="4444457" cy="1122374"/>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7304" y="2231454"/>
            <a:ext cx="4564376" cy="429768"/>
          </a:xfrm>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2354" y="5260879"/>
            <a:ext cx="1494473" cy="429768"/>
          </a:xfrm>
        </p:spPr>
        <p:txBody>
          <a:bodyPr/>
          <a:lstStyle>
            <a:lvl1pPr>
              <a:defRPr>
                <a:solidFill>
                  <a:schemeClr val="tx1"/>
                </a:solidFill>
                <a:effectLst/>
              </a:defRPr>
            </a:lvl1pPr>
          </a:lstStyle>
          <a:p>
            <a:fld id="{4652FFD6-A518-49CA-8126-283C2A8EFE6F}"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78B378FF-8198-DC37-BA5B-473DEDD75988}"/>
              </a:ext>
            </a:extLst>
          </p:cNvPr>
          <p:cNvCxnSpPr>
            <a:cxnSpLocks/>
          </p:cNvCxnSpPr>
          <p:nvPr userDrawn="1"/>
        </p:nvCxnSpPr>
        <p:spPr>
          <a:xfrm>
            <a:off x="6934701" y="164150"/>
            <a:ext cx="525729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7" y="0"/>
            <a:ext cx="6154001" cy="6858000"/>
          </a:xfrm>
          <a:blipFill dpi="0" rotWithShape="1">
            <a:blip r:embed="rId2">
              <a:alphaModFix amt="60000"/>
            </a:blip>
            <a:srcRect/>
            <a:stretch>
              <a:fillRect l="-2748" r="-2748"/>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13505" y="2496190"/>
            <a:ext cx="4444460" cy="3726809"/>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E54E56D6-14F7-4AF8-BCF3-2B60F1174250}"/>
              </a:ext>
            </a:extLst>
          </p:cNvPr>
          <p:cNvCxnSpPr>
            <a:cxnSpLocks/>
          </p:cNvCxnSpPr>
          <p:nvPr userDrawn="1"/>
        </p:nvCxnSpPr>
        <p:spPr>
          <a:xfrm>
            <a:off x="6934701"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FD24FBA-09F1-E77D-0C3E-A914CBD5F4F2}"/>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385112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49520" y="1001715"/>
            <a:ext cx="4687174" cy="1127751"/>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4711" y="2231455"/>
            <a:ext cx="4564377" cy="429768"/>
          </a:xfrm>
        </p:spPr>
        <p:txBody>
          <a:bodyPr/>
          <a:lstStyle>
            <a:lvl1pPr>
              <a:defRPr>
                <a:solidFill>
                  <a:schemeClr val="tx1"/>
                </a:solidFill>
                <a:effectLst/>
              </a:defRPr>
            </a:lvl1p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29760" y="5260879"/>
            <a:ext cx="1494474" cy="429768"/>
          </a:xfrm>
        </p:spPr>
        <p:txBody>
          <a:bodyPr/>
          <a:lstStyle/>
          <a:p>
            <a:fld id="{BDA16E6D-ABB3-4B84-99F2-E42A2B9DF2C2}"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2593" y="6492875"/>
            <a:ext cx="429207" cy="365125"/>
          </a:xfrm>
        </p:spPr>
        <p:txBody>
          <a:bodyPr/>
          <a:lstStyle>
            <a:lvl1pPr>
              <a:defRPr>
                <a:solidFill>
                  <a:schemeClr val="tx1"/>
                </a:solidFill>
                <a:effectLst/>
              </a:defRPr>
            </a:lvl1pPr>
          </a:lstStyle>
          <a:p>
            <a:fld id="{CC057153-B650-4DEB-B370-79DDCFDCE934}" type="slidenum">
              <a:rPr lang="en-US" smtClean="0"/>
              <a:pPr/>
              <a:t>‹#›</a:t>
            </a:fld>
            <a:endParaRPr lang="en-US" dirty="0"/>
          </a:p>
        </p:txBody>
      </p:sp>
      <p:cxnSp>
        <p:nvCxnSpPr>
          <p:cNvPr id="9" name="Straight Connector 8">
            <a:extLst>
              <a:ext uri="{FF2B5EF4-FFF2-40B4-BE49-F238E27FC236}">
                <a16:creationId xmlns:a16="http://schemas.microsoft.com/office/drawing/2014/main" id="{56838F21-75ED-E44B-42EB-FC7FE5E930B5}"/>
              </a:ext>
            </a:extLst>
          </p:cNvPr>
          <p:cNvCxnSpPr>
            <a:cxnSpLocks/>
          </p:cNvCxnSpPr>
          <p:nvPr userDrawn="1"/>
        </p:nvCxnSpPr>
        <p:spPr>
          <a:xfrm>
            <a:off x="431800" y="164150"/>
            <a:ext cx="547266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30" y="2496181"/>
            <a:ext cx="4714880" cy="3726818"/>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096000" y="0"/>
            <a:ext cx="6095999" cy="6858000"/>
          </a:xfrm>
          <a:blipFill dpi="0" rotWithShape="1">
            <a:blip r:embed="rId2">
              <a:alphaModFix amt="60000"/>
            </a:blip>
            <a:srcRect/>
            <a:stretch>
              <a:fillRect l="-2925"/>
            </a:stretch>
          </a:blipFill>
        </p:spPr>
        <p:txBody>
          <a:bodyPr/>
          <a:lstStyle>
            <a:lvl1pPr marL="0" indent="0">
              <a:buNone/>
              <a:defRPr/>
            </a:lvl1pPr>
          </a:lstStyle>
          <a:p>
            <a:r>
              <a:rPr lang="en-US" dirty="0"/>
              <a:t>Click icon to add picture</a:t>
            </a:r>
          </a:p>
        </p:txBody>
      </p:sp>
      <p:cxnSp>
        <p:nvCxnSpPr>
          <p:cNvPr id="3" name="Straight Connector 2">
            <a:extLst>
              <a:ext uri="{FF2B5EF4-FFF2-40B4-BE49-F238E27FC236}">
                <a16:creationId xmlns:a16="http://schemas.microsoft.com/office/drawing/2014/main" id="{CF9AEDF6-9814-FD08-73EB-63D58BF776EA}"/>
              </a:ext>
            </a:extLst>
          </p:cNvPr>
          <p:cNvCxnSpPr>
            <a:cxnSpLocks/>
          </p:cNvCxnSpPr>
          <p:nvPr userDrawn="1"/>
        </p:nvCxnSpPr>
        <p:spPr>
          <a:xfrm>
            <a:off x="5904468"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5A8CA044-325A-12D3-37BC-BDCEBBC342C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762123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79767" y="1001715"/>
            <a:ext cx="3778198" cy="1108746"/>
          </a:xfrm>
        </p:spPr>
        <p:txBody>
          <a:bodyPr anchor="b">
            <a:noAutofit/>
          </a:bodyPr>
          <a:lstStyle>
            <a:lvl1pPr>
              <a:defRPr sz="4000"/>
            </a:lvl1pPr>
          </a:lstStyle>
          <a:p>
            <a:r>
              <a:rPr lang="en-US" dirty="0"/>
              <a:t>Click to edit Master title style</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rot="16200000">
            <a:off x="-2067301" y="223145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rot="16200000">
            <a:off x="-532352" y="5260879"/>
            <a:ext cx="1494475" cy="429768"/>
          </a:xfrm>
        </p:spPr>
        <p:txBody>
          <a:bodyPr/>
          <a:lstStyle/>
          <a:p>
            <a:fld id="{D67C4704-4F96-4DFD-9156-648F64A4FFD5}" type="datetime1">
              <a:rPr lang="en-US" smtClean="0"/>
              <a:t>7/28/2026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2" y="6492513"/>
            <a:ext cx="429207" cy="365125"/>
          </a:xfrm>
        </p:spPr>
        <p:txBody>
          <a:bodyPr/>
          <a:lstStyle/>
          <a:p>
            <a:fld id="{CC057153-B650-4DEB-B370-79DDCFDCE934}" type="slidenum">
              <a:rPr lang="en-US" smtClean="0"/>
              <a:t>‹#›</a:t>
            </a:fld>
            <a:endParaRPr lang="en-US" dirty="0"/>
          </a:p>
        </p:txBody>
      </p:sp>
      <p:cxnSp>
        <p:nvCxnSpPr>
          <p:cNvPr id="7" name="Straight Connector 6">
            <a:extLst>
              <a:ext uri="{FF2B5EF4-FFF2-40B4-BE49-F238E27FC236}">
                <a16:creationId xmlns:a16="http://schemas.microsoft.com/office/drawing/2014/main" id="{8F9841FB-35AF-1919-0953-5642770662AC}"/>
              </a:ext>
            </a:extLst>
          </p:cNvPr>
          <p:cNvCxnSpPr>
            <a:cxnSpLocks/>
          </p:cNvCxnSpPr>
          <p:nvPr userDrawn="1"/>
        </p:nvCxnSpPr>
        <p:spPr>
          <a:xfrm>
            <a:off x="7597395" y="164150"/>
            <a:ext cx="459460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9" y="0"/>
            <a:ext cx="6816696" cy="6858000"/>
          </a:xfrm>
          <a:blipFill dpi="0" rotWithShape="1">
            <a:blip r:embed="rId2">
              <a:alphaModFix amt="60000"/>
            </a:blip>
            <a:srcRect/>
            <a:stretch>
              <a:fillRect l="-2482" r="-2480"/>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779767" y="2515205"/>
            <a:ext cx="3778198" cy="3759382"/>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358AE5DC-7AFC-CD99-8A67-46A580A7DEFE}"/>
              </a:ext>
            </a:extLst>
          </p:cNvPr>
          <p:cNvCxnSpPr>
            <a:cxnSpLocks/>
          </p:cNvCxnSpPr>
          <p:nvPr userDrawn="1"/>
        </p:nvCxnSpPr>
        <p:spPr>
          <a:xfrm>
            <a:off x="7597395"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1BA6662-88AA-A191-B6D5-4B6DF99C8B16}"/>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4089461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1449" y="1001715"/>
            <a:ext cx="3401568" cy="1127760"/>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2638" y="2236683"/>
            <a:ext cx="4553921" cy="429768"/>
          </a:xfrm>
        </p:spPr>
        <p:txBody>
          <a:bodyPr/>
          <a:lstStyle>
            <a:lvl1pPr>
              <a:defRPr>
                <a:solidFill>
                  <a:schemeClr val="tx1"/>
                </a:solidFill>
                <a:effectLst/>
              </a:defRPr>
            </a:lvl1p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2354" y="5260880"/>
            <a:ext cx="1494476" cy="429768"/>
          </a:xfrm>
        </p:spPr>
        <p:txBody>
          <a:bodyPr/>
          <a:lstStyle/>
          <a:p>
            <a:fld id="{33B50C95-85D9-49F9-99D8-E6845F008D35}"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0" y="6492875"/>
            <a:ext cx="429207" cy="365125"/>
          </a:xfrm>
        </p:spPr>
        <p:txBody>
          <a:bodyPr/>
          <a:lstStyle>
            <a:lvl1pPr>
              <a:defRPr>
                <a:solidFill>
                  <a:schemeClr val="tx1"/>
                </a:solidFill>
                <a:effectLst/>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9C4DF952-8FA0-48F5-F7EF-53D541404A33}"/>
              </a:ext>
            </a:extLst>
          </p:cNvPr>
          <p:cNvCxnSpPr>
            <a:cxnSpLocks/>
          </p:cNvCxnSpPr>
          <p:nvPr userDrawn="1"/>
        </p:nvCxnSpPr>
        <p:spPr>
          <a:xfrm>
            <a:off x="431800" y="164150"/>
            <a:ext cx="38002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1448" y="2491461"/>
            <a:ext cx="3401567" cy="3731539"/>
          </a:xfrm>
        </p:spPr>
        <p:txBody>
          <a:bodyPr anchor="b">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4234499" y="0"/>
            <a:ext cx="7962582" cy="6858000"/>
          </a:xfrm>
          <a:blipFill dpi="0" rotWithShape="1">
            <a:blip r:embed="rId2">
              <a:alphaModFix amt="60000"/>
            </a:blip>
            <a:srcRect/>
            <a:stretch>
              <a:fillRect l="-5169" r="2"/>
            </a:stretch>
          </a:blipFill>
        </p:spPr>
        <p:txBody>
          <a:bodyPr/>
          <a:lstStyle>
            <a:lvl1pPr marL="0" indent="0">
              <a:buFont typeface="Arial" panose="020B0604020202020204" pitchFamily="34" charset="0"/>
              <a:buNone/>
              <a:defRPr/>
            </a:lvl1pPr>
          </a:lstStyle>
          <a:p>
            <a:endParaRPr lang="en-US" dirty="0"/>
          </a:p>
        </p:txBody>
      </p:sp>
      <p:cxnSp>
        <p:nvCxnSpPr>
          <p:cNvPr id="12" name="Straight Connector 11">
            <a:extLst>
              <a:ext uri="{FF2B5EF4-FFF2-40B4-BE49-F238E27FC236}">
                <a16:creationId xmlns:a16="http://schemas.microsoft.com/office/drawing/2014/main" id="{696E75C3-3D50-62F4-97A1-08D85ABC2127}"/>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CD9DCC5-4A76-A29C-BDAD-62E571E6267E}"/>
              </a:ext>
            </a:extLst>
          </p:cNvPr>
          <p:cNvCxnSpPr>
            <a:cxnSpLocks/>
          </p:cNvCxnSpPr>
          <p:nvPr userDrawn="1"/>
        </p:nvCxnSpPr>
        <p:spPr>
          <a:xfrm>
            <a:off x="4232008"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106910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977541" y="1001716"/>
            <a:ext cx="3565637" cy="1494474"/>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7302" y="2231455"/>
            <a:ext cx="4564377" cy="429768"/>
          </a:xfrm>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2351" y="5260879"/>
            <a:ext cx="1494474" cy="429768"/>
          </a:xfrm>
        </p:spPr>
        <p:txBody>
          <a:bodyPr/>
          <a:lstStyle>
            <a:lvl1pPr>
              <a:defRPr>
                <a:solidFill>
                  <a:schemeClr val="tx1"/>
                </a:solidFill>
                <a:effectLst/>
              </a:defRPr>
            </a:lvl1pPr>
          </a:lstStyle>
          <a:p>
            <a:fld id="{E7B02D44-18E2-46EB-BF95-C6E9788E5887}"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2" y="6492513"/>
            <a:ext cx="429207" cy="365125"/>
          </a:xfrm>
        </p:spPr>
        <p:txBody>
          <a:bodyPr/>
          <a:lstStyle/>
          <a:p>
            <a:fld id="{CC057153-B650-4DEB-B370-79DDCFDCE934}" type="slidenum">
              <a:rPr lang="en-US" smtClean="0"/>
              <a:t>‹#›</a:t>
            </a:fld>
            <a:endParaRPr lang="en-US" dirty="0"/>
          </a:p>
        </p:txBody>
      </p:sp>
      <p:cxnSp>
        <p:nvCxnSpPr>
          <p:cNvPr id="10" name="Straight Connector 9">
            <a:extLst>
              <a:ext uri="{FF2B5EF4-FFF2-40B4-BE49-F238E27FC236}">
                <a16:creationId xmlns:a16="http://schemas.microsoft.com/office/drawing/2014/main" id="{FE11B3B1-9941-4785-B418-08EF9E3BB704}"/>
              </a:ext>
            </a:extLst>
          </p:cNvPr>
          <p:cNvCxnSpPr>
            <a:cxnSpLocks/>
          </p:cNvCxnSpPr>
          <p:nvPr userDrawn="1"/>
        </p:nvCxnSpPr>
        <p:spPr>
          <a:xfrm>
            <a:off x="7794617" y="164150"/>
            <a:ext cx="439738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7" y="0"/>
            <a:ext cx="7013917" cy="6858000"/>
          </a:xfrm>
          <a:blipFill dpi="0" rotWithShape="1">
            <a:blip r:embed="rId2">
              <a:alphaModFix amt="60000"/>
            </a:blip>
            <a:srcRect/>
            <a:stretch>
              <a:fillRect l="-2411" r="-2411"/>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976991" y="2877189"/>
            <a:ext cx="3576275" cy="3345811"/>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B1FE4EE6-FDB8-6541-5FC6-4FC24B421584}"/>
              </a:ext>
            </a:extLst>
          </p:cNvPr>
          <p:cNvCxnSpPr>
            <a:cxnSpLocks/>
          </p:cNvCxnSpPr>
          <p:nvPr userDrawn="1"/>
        </p:nvCxnSpPr>
        <p:spPr>
          <a:xfrm>
            <a:off x="7794617"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36A42A28-5C2F-9093-B5D9-C2651F290DFF}"/>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376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98328" y="5109524"/>
            <a:ext cx="4364200" cy="1113476"/>
          </a:xfrm>
        </p:spPr>
        <p:txBody>
          <a:bodyPr anchor="t">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623E0CC-5553-421C-8D81-3F82FF869EDA}"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7" y="0"/>
            <a:ext cx="11593671" cy="4728524"/>
          </a:xfrm>
          <a:blipFill dpi="0" rotWithShape="1">
            <a:blip r:embed="rId2">
              <a:alphaModFix amt="60000"/>
            </a:blip>
            <a:srcRect/>
            <a:stretch>
              <a:fillRect l="-1459" r="-1"/>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49240" y="5109523"/>
            <a:ext cx="6208724" cy="1113477"/>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600"/>
            </a:lvl2pPr>
            <a:lvl3pPr marL="457200" indent="0">
              <a:buFont typeface="Arial" panose="020B0604020202020204" pitchFamily="34" charset="0"/>
              <a:buNone/>
              <a:defRPr sz="1600"/>
            </a:lvl3pPr>
            <a:lvl4pPr marL="685800" indent="0">
              <a:buFont typeface="Arial" panose="020B0604020202020204" pitchFamily="34" charset="0"/>
              <a:buNone/>
              <a:defRPr sz="1600"/>
            </a:lvl4pPr>
            <a:lvl5pPr marL="914400" indent="0">
              <a:buFont typeface="Arial" panose="020B0604020202020204" pitchFamily="34" charse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a:extLst>
              <a:ext uri="{FF2B5EF4-FFF2-40B4-BE49-F238E27FC236}">
                <a16:creationId xmlns:a16="http://schemas.microsoft.com/office/drawing/2014/main" id="{AE7E7B67-A585-C4C0-BD50-861ED489B135}"/>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157672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98328" y="4362766"/>
            <a:ext cx="3421224" cy="1860234"/>
          </a:xfrm>
        </p:spPr>
        <p:txBody>
          <a:bodyPr anchor="t">
            <a:norm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4BE7576-EC94-4DB5-9187-19A5D0382B7E}"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7" y="0"/>
            <a:ext cx="11593671" cy="3981766"/>
          </a:xfrm>
          <a:blipFill dpi="0" rotWithShape="1">
            <a:blip r:embed="rId2">
              <a:alphaModFix amt="60000"/>
            </a:blip>
            <a:srcRect/>
            <a:stretch>
              <a:fillRect l="-1459" r="-1"/>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05936" y="4353867"/>
            <a:ext cx="7152028" cy="1869134"/>
          </a:xfrm>
        </p:spPr>
        <p:txBody>
          <a:bodyPr>
            <a:noAutofit/>
          </a:bodyPr>
          <a:lstStyle>
            <a:lvl1pPr marL="285750" indent="-285750">
              <a:buFont typeface="Arial" panose="020B0604020202020204" pitchFamily="34" charset="0"/>
              <a:buChar char="•"/>
              <a:defRPr sz="16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600"/>
            </a:lvl3pPr>
            <a:lvl4pPr marL="857250" indent="-171450">
              <a:buFont typeface="Arial" panose="020B0604020202020204" pitchFamily="34" charset="0"/>
              <a:buChar char="•"/>
              <a:defRPr sz="1600"/>
            </a:lvl4pPr>
            <a:lvl5pPr marL="1085850" indent="-171450">
              <a:buFont typeface="Arial" panose="020B0604020202020204"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a:extLst>
              <a:ext uri="{FF2B5EF4-FFF2-40B4-BE49-F238E27FC236}">
                <a16:creationId xmlns:a16="http://schemas.microsoft.com/office/drawing/2014/main" id="{B4F2A9F8-8F3B-3616-48B8-F8DA72A7134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797018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4056BFCD-3259-DDE7-5625-EE56190B8F62}"/>
              </a:ext>
            </a:extLst>
          </p:cNvPr>
          <p:cNvCxnSpPr>
            <a:cxnSpLocks/>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28764" y="1001714"/>
            <a:ext cx="3390788" cy="1875473"/>
          </a:xfrm>
        </p:spPr>
        <p:txBody>
          <a:bodyPr anchor="t">
            <a:norm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73146" y="2231455"/>
            <a:ext cx="4564377" cy="429768"/>
          </a:xfrm>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8191" y="5260876"/>
            <a:ext cx="1494468" cy="429768"/>
          </a:xfrm>
        </p:spPr>
        <p:txBody>
          <a:bodyPr/>
          <a:lstStyle/>
          <a:p>
            <a:fld id="{1E853955-1D07-4B51-BC71-D8BE10C22200}"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5842" y="6492874"/>
            <a:ext cx="429207" cy="365125"/>
          </a:xfrm>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05936" y="1001714"/>
            <a:ext cx="7152028" cy="1875475"/>
          </a:xfrm>
        </p:spPr>
        <p:txBody>
          <a:bodyPr>
            <a:noAutofit/>
          </a:bodyPr>
          <a:lstStyle>
            <a:lvl1pPr marL="285750" indent="-285750">
              <a:buFont typeface="Arial" panose="020B0604020202020204" pitchFamily="34" charset="0"/>
              <a:buChar char="•"/>
              <a:defRPr sz="16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600"/>
            </a:lvl3pPr>
            <a:lvl4pPr marL="857250" indent="-171450">
              <a:buFont typeface="Arial" panose="020B0604020202020204" pitchFamily="34" charset="0"/>
              <a:buChar char="•"/>
              <a:defRPr sz="1600"/>
            </a:lvl4pPr>
            <a:lvl5pPr marL="1085850" indent="-171450">
              <a:buFont typeface="Arial" panose="020B0604020202020204"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8" y="3258188"/>
            <a:ext cx="11593670" cy="3599811"/>
          </a:xfrm>
          <a:blipFill dpi="0" rotWithShape="1">
            <a:blip r:embed="rId2">
              <a:alphaModFix amt="60000"/>
            </a:blip>
            <a:srcRect/>
            <a:stretch>
              <a:fillRect l="-1217"/>
            </a:stretch>
          </a:blipFill>
        </p:spPr>
        <p:txBody>
          <a:bodyPr/>
          <a:lstStyle>
            <a:lvl1pPr marL="0" indent="0">
              <a:buNone/>
              <a:defRPr/>
            </a:lvl1pPr>
          </a:lstStyle>
          <a:p>
            <a:r>
              <a:rPr lang="en-US" dirty="0"/>
              <a:t>Click icon to add picture</a:t>
            </a:r>
          </a:p>
        </p:txBody>
      </p:sp>
      <p:cxnSp>
        <p:nvCxnSpPr>
          <p:cNvPr id="9" name="Straight Connector 8">
            <a:extLst>
              <a:ext uri="{FF2B5EF4-FFF2-40B4-BE49-F238E27FC236}">
                <a16:creationId xmlns:a16="http://schemas.microsoft.com/office/drawing/2014/main" id="{2C378E9B-0BD2-F103-F591-68E71F4480ED}"/>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287401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4F82DAF-8C88-BCF8-3DCD-BA0110CC6BB2}"/>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5"/>
            <a:ext cx="10923933" cy="746752"/>
          </a:xfrm>
        </p:spPr>
        <p:txBody>
          <a:bodyPr anchor="ctr">
            <a:norm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7209E46-11CA-4696-94A6-42FA6258F836}"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30" y="2129475"/>
            <a:ext cx="5652468" cy="4093526"/>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6843095" y="2129475"/>
            <a:ext cx="4714869" cy="4093526"/>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271A0C8E-B9F0-C8A0-7A87-A97B78C1C482}"/>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9807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C29A9DDD-8FD5-2897-8DC9-1CEC88541C50}"/>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5"/>
            <a:ext cx="4714876" cy="1122374"/>
          </a:xfrm>
        </p:spPr>
        <p:txBody>
          <a:bodyPr>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A8799AB-4423-4AFC-BA85-5F70033F1076}"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30" y="2496190"/>
            <a:ext cx="4672584" cy="372681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905502" y="1001715"/>
            <a:ext cx="5652463" cy="5221285"/>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9" name="Straight Connector 8">
            <a:extLst>
              <a:ext uri="{FF2B5EF4-FFF2-40B4-BE49-F238E27FC236}">
                <a16:creationId xmlns:a16="http://schemas.microsoft.com/office/drawing/2014/main" id="{02BC9BBD-1994-9D19-11C8-FD27039C6338}"/>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8975859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E681CC6-0816-FBB5-F117-CE232D15B0DE}"/>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4"/>
            <a:ext cx="4328495" cy="1127759"/>
          </a:xfrm>
        </p:spPr>
        <p:txBody>
          <a:bodyPr anchor="t">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C9E56CF-865A-4DF6-93CB-5342FE600906}"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30" y="2129475"/>
            <a:ext cx="4328495" cy="4093525"/>
          </a:xfrm>
          <a:blipFill dpi="0" rotWithShape="1">
            <a:blip r:embed="rId2">
              <a:alphaModFix amt="60000"/>
            </a:blip>
            <a:srcRect/>
            <a:stretch>
              <a:fillRect/>
            </a:stretch>
          </a:blipFill>
        </p:spPr>
        <p:txBody>
          <a:bodyPr/>
          <a:lstStyle>
            <a:lvl1pPr marL="285750" indent="-285750">
              <a:buFont typeface="Arial" panose="020B0604020202020204" pitchFamily="34" charset="0"/>
              <a:buChar char="•"/>
              <a:defRPr/>
            </a:lvl1pPr>
          </a:lstStyle>
          <a:p>
            <a:r>
              <a:rPr lang="en-US" dirty="0"/>
              <a:t>Click icon to add picture</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348911" y="1001713"/>
            <a:ext cx="6209054" cy="5221287"/>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664B8C12-E10A-C714-D6A0-BA32E2C72710}"/>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104353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1" y="1001715"/>
            <a:ext cx="5955028" cy="5477511"/>
          </a:xfrm>
        </p:spPr>
        <p:txBody>
          <a:bodyPr anchor="b">
            <a:normAutofit/>
          </a:bodyPr>
          <a:lstStyle>
            <a:lvl1pPr>
              <a:defRPr sz="7200" b="0" i="0">
                <a:latin typeface="+mj-lt"/>
                <a:ea typeface="Dotum" panose="020B0600000101010101" pitchFamily="34" charset="-127"/>
                <a:cs typeface="Noto Sans Kannada Thin" panose="020B0202040504020204" pitchFamily="34" charset="0"/>
              </a:defRPr>
            </a:lvl1pPr>
          </a:lstStyle>
          <a:p>
            <a:r>
              <a:rPr lang="en-US" dirty="0"/>
              <a:t>Click to edit Master title style</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rot="16200000">
            <a:off x="-2067302" y="2231454"/>
            <a:ext cx="4564376" cy="429768"/>
          </a:xfrm>
        </p:spPr>
        <p:txBody>
          <a:bodyPr/>
          <a:lstStyle/>
          <a:p>
            <a:r>
              <a:rPr lang="en-US" dirty="0"/>
              <a:t>GROWTH MARKETING PLAN</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rot="16200000">
            <a:off x="-532352" y="5260879"/>
            <a:ext cx="1494475" cy="429768"/>
          </a:xfrm>
        </p:spPr>
        <p:txBody>
          <a:bodyPr/>
          <a:lstStyle/>
          <a:p>
            <a:fld id="{341E3BD6-1BE7-4293-98B0-C8B456DEC98E}" type="datetime1">
              <a:rPr lang="en-US" smtClean="0"/>
              <a:t>7/28/2026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1" y="6492875"/>
            <a:ext cx="429207" cy="365125"/>
          </a:xfrm>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065403" y="-1"/>
            <a:ext cx="5131677" cy="6222999"/>
          </a:xfrm>
          <a:blipFill dpi="0" rotWithShape="1">
            <a:blip r:embed="rId2">
              <a:alphaModFix amt="60000"/>
            </a:blip>
            <a:srcRect/>
            <a:stretch>
              <a:fillRect l="-686" t="2" b="-4120"/>
            </a:stretch>
          </a:blipFill>
        </p:spPr>
        <p:txBody>
          <a:bodyPr/>
          <a:lstStyle>
            <a:lvl1pPr marL="0" indent="0">
              <a:buNone/>
              <a:defRPr/>
            </a:lvl1pPr>
          </a:lstStyle>
          <a:p>
            <a:r>
              <a:rPr lang="en-US" dirty="0"/>
              <a:t>Click icon to add picture</a:t>
            </a:r>
          </a:p>
        </p:txBody>
      </p:sp>
      <p:cxnSp>
        <p:nvCxnSpPr>
          <p:cNvPr id="4" name="Straight Connector 3">
            <a:extLst>
              <a:ext uri="{FF2B5EF4-FFF2-40B4-BE49-F238E27FC236}">
                <a16:creationId xmlns:a16="http://schemas.microsoft.com/office/drawing/2014/main" id="{28FA8915-517E-32B2-6836-7A69DEF7C849}"/>
              </a:ext>
            </a:extLst>
          </p:cNvPr>
          <p:cNvCxnSpPr>
            <a:cxnSpLocks/>
          </p:cNvCxnSpPr>
          <p:nvPr userDrawn="1"/>
        </p:nvCxnSpPr>
        <p:spPr>
          <a:xfrm>
            <a:off x="706032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F76B2467-9468-3DE8-CA1C-7B68F7ED9A67}"/>
              </a:ext>
            </a:extLst>
          </p:cNvPr>
          <p:cNvCxnSpPr>
            <a:cxnSpLocks/>
          </p:cNvCxnSpPr>
          <p:nvPr userDrawn="1"/>
        </p:nvCxnSpPr>
        <p:spPr>
          <a:xfrm>
            <a:off x="0" y="164150"/>
            <a:ext cx="706032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177414" y="6375748"/>
            <a:ext cx="4847572" cy="363255"/>
          </a:xfrm>
        </p:spPr>
        <p:txBody>
          <a:bodyPr anchor="ctr">
            <a:normAutofit/>
          </a:bodyPr>
          <a:lstStyle>
            <a:lvl1pPr marL="0" indent="0">
              <a:buNone/>
              <a:defRPr sz="1600" b="0" i="0">
                <a:latin typeface="+mj-lt"/>
              </a:defRPr>
            </a:lvl1pPr>
            <a:lvl2pPr>
              <a:defRPr sz="1600" b="0" i="0">
                <a:latin typeface="Univers Light" panose="020B0403020202020204" pitchFamily="34" charset="0"/>
              </a:defRPr>
            </a:lvl2pPr>
            <a:lvl3pPr>
              <a:defRPr sz="1600" b="0" i="0">
                <a:latin typeface="Univers Light" panose="020B0403020202020204" pitchFamily="34" charset="0"/>
              </a:defRPr>
            </a:lvl3pPr>
            <a:lvl4pPr>
              <a:defRPr sz="1600" b="0" i="0">
                <a:latin typeface="Univers Light" panose="020B0403020202020204" pitchFamily="34" charset="0"/>
              </a:defRPr>
            </a:lvl4pPr>
            <a:lvl5pPr>
              <a:defRPr sz="1600" b="0" i="0">
                <a:latin typeface="Univers Light" panose="020B0403020202020204" pitchFamily="34" charset="0"/>
              </a:defRPr>
            </a:lvl5pPr>
          </a:lstStyle>
          <a:p>
            <a:pPr lvl="0"/>
            <a:r>
              <a:rPr lang="en-US" dirty="0"/>
              <a:t>Click to edit Master text styles</a:t>
            </a:r>
          </a:p>
        </p:txBody>
      </p:sp>
    </p:spTree>
    <p:extLst>
      <p:ext uri="{BB962C8B-B14F-4D97-AF65-F5344CB8AC3E}">
        <p14:creationId xmlns:p14="http://schemas.microsoft.com/office/powerpoint/2010/main" val="427229911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Number Large">
    <p:bg>
      <p:bgPr>
        <a:solidFill>
          <a:schemeClr val="accent1"/>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1113C676-72E3-B810-A6B9-DCE36B8778AC}"/>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8507528C-7021-C7A4-B156-08D83A3A21F4}"/>
              </a:ext>
            </a:extLst>
          </p:cNvPr>
          <p:cNvSpPr>
            <a:spLocks noGrp="1"/>
          </p:cNvSpPr>
          <p:nvPr>
            <p:ph type="title"/>
          </p:nvPr>
        </p:nvSpPr>
        <p:spPr>
          <a:xfrm>
            <a:off x="633470" y="5109525"/>
            <a:ext cx="10367905" cy="1207192"/>
          </a:xfrm>
        </p:spPr>
        <p:txBody>
          <a:bodyPr anchor="b">
            <a:normAutofit/>
          </a:bodyPr>
          <a:lstStyle>
            <a:lvl1pPr algn="l">
              <a:lnSpc>
                <a:spcPct val="90000"/>
              </a:lnSpc>
              <a:defRPr sz="2400" b="0" i="0" cap="none" baseline="0">
                <a:solidFill>
                  <a:schemeClr val="tx1"/>
                </a:solidFill>
                <a:latin typeface="+mj-lt"/>
              </a:defRPr>
            </a:lvl1pPr>
          </a:lstStyle>
          <a:p>
            <a:r>
              <a:rPr lang="en-US" dirty="0"/>
              <a:t>Click to edit Master title style</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p>
            <a:fld id="{F2929A1B-A295-4715-B77A-F33006A42EEB}" type="datetime1">
              <a:rPr lang="en-US" smtClean="0"/>
              <a:t>7/28/2026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B088E26B-9247-68F3-E9B8-157E22E97147}"/>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6">
            <a:extLst>
              <a:ext uri="{FF2B5EF4-FFF2-40B4-BE49-F238E27FC236}">
                <a16:creationId xmlns:a16="http://schemas.microsoft.com/office/drawing/2014/main" id="{786730A0-A69C-6FA3-06BC-632301E15F2D}"/>
              </a:ext>
            </a:extLst>
          </p:cNvPr>
          <p:cNvSpPr>
            <a:spLocks noGrp="1"/>
          </p:cNvSpPr>
          <p:nvPr>
            <p:ph sz="quarter" idx="13" hasCustomPrompt="1"/>
          </p:nvPr>
        </p:nvSpPr>
        <p:spPr>
          <a:xfrm>
            <a:off x="634030" y="1340489"/>
            <a:ext cx="10367349" cy="3388035"/>
          </a:xfrm>
        </p:spPr>
        <p:txBody>
          <a:bodyPr anchor="t">
            <a:noAutofit/>
          </a:bodyPr>
          <a:lstStyle>
            <a:lvl1pPr marL="0" indent="0" algn="l">
              <a:lnSpc>
                <a:spcPct val="90000"/>
              </a:lnSpc>
              <a:buNone/>
              <a:defRPr sz="30000" b="0" i="0">
                <a:solidFill>
                  <a:schemeClr val="tx1"/>
                </a:solidFill>
                <a:latin typeface="+mn-lt"/>
              </a:defRPr>
            </a:lvl1pPr>
          </a:lstStyle>
          <a:p>
            <a:pPr lvl="0"/>
            <a:r>
              <a:rPr lang="en-US" dirty="0"/>
              <a:t>##%</a:t>
            </a:r>
          </a:p>
        </p:txBody>
      </p:sp>
    </p:spTree>
    <p:extLst>
      <p:ext uri="{BB962C8B-B14F-4D97-AF65-F5344CB8AC3E}">
        <p14:creationId xmlns:p14="http://schemas.microsoft.com/office/powerpoint/2010/main" val="114232982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Number Large 2">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AF240C4-9480-994E-0BD5-BF7BE95F9F7B}"/>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633470" y="5109525"/>
            <a:ext cx="10367905" cy="1207192"/>
          </a:xfrm>
        </p:spPr>
        <p:txBody>
          <a:bodyPr anchor="b">
            <a:normAutofit/>
          </a:bodyPr>
          <a:lstStyle>
            <a:lvl1pPr algn="l">
              <a:lnSpc>
                <a:spcPct val="90000"/>
              </a:lnSpc>
              <a:defRPr sz="2400" b="0" i="0" cap="none" baseline="0">
                <a:solidFill>
                  <a:schemeClr val="tx1"/>
                </a:solidFill>
                <a:latin typeface="+mj-lt"/>
              </a:defRPr>
            </a:lvl1pPr>
          </a:lstStyle>
          <a:p>
            <a:r>
              <a:rPr lang="en-US" dirty="0"/>
              <a:t>Click to edit Master title style</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p>
            <a:fld id="{09CBD6C5-FCE0-436F-BDB9-607AA1896A18}" type="datetime1">
              <a:rPr lang="en-US" smtClean="0"/>
              <a:t>7/28/2026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30" y="1340489"/>
            <a:ext cx="10367349" cy="3388035"/>
          </a:xfrm>
        </p:spPr>
        <p:txBody>
          <a:bodyPr anchor="t">
            <a:noAutofit/>
          </a:bodyPr>
          <a:lstStyle>
            <a:lvl1pPr marL="0" indent="0" algn="l">
              <a:lnSpc>
                <a:spcPct val="90000"/>
              </a:lnSpc>
              <a:buNone/>
              <a:defRPr sz="30000" b="0" i="0">
                <a:solidFill>
                  <a:schemeClr val="tx1"/>
                </a:solidFill>
                <a:latin typeface="+mn-lt"/>
              </a:defRPr>
            </a:lvl1pPr>
          </a:lstStyle>
          <a:p>
            <a:pPr lvl="0"/>
            <a:r>
              <a:rPr lang="en-US" dirty="0"/>
              <a:t>##%</a:t>
            </a:r>
          </a:p>
        </p:txBody>
      </p:sp>
      <p:cxnSp>
        <p:nvCxnSpPr>
          <p:cNvPr id="6" name="Straight Connector 5">
            <a:extLst>
              <a:ext uri="{FF2B5EF4-FFF2-40B4-BE49-F238E27FC236}">
                <a16:creationId xmlns:a16="http://schemas.microsoft.com/office/drawing/2014/main" id="{63547AA0-CA68-609A-06D4-5F771838B5D3}"/>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574814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accent6"/>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2B8C624E-4F6C-E890-10DF-FE279DA2597D}"/>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20D33D3A-063E-24F3-6815-CC483F3BFF50}"/>
              </a:ext>
            </a:extLst>
          </p:cNvPr>
          <p:cNvSpPr>
            <a:spLocks noGrp="1"/>
          </p:cNvSpPr>
          <p:nvPr>
            <p:ph type="title"/>
          </p:nvPr>
        </p:nvSpPr>
        <p:spPr>
          <a:xfrm>
            <a:off x="633470" y="5109525"/>
            <a:ext cx="10367905" cy="1207192"/>
          </a:xfrm>
        </p:spPr>
        <p:txBody>
          <a:bodyPr anchor="b">
            <a:normAutofit/>
          </a:bodyPr>
          <a:lstStyle>
            <a:lvl1pPr algn="l">
              <a:lnSpc>
                <a:spcPct val="90000"/>
              </a:lnSpc>
              <a:defRPr sz="2400" b="0" i="0" cap="none" baseline="0">
                <a:solidFill>
                  <a:schemeClr val="tx1"/>
                </a:solidFill>
                <a:latin typeface="+mj-lt"/>
              </a:defRPr>
            </a:lvl1pPr>
          </a:lstStyle>
          <a:p>
            <a:r>
              <a:rPr lang="en-US" dirty="0"/>
              <a:t>Click to edit Master title style</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p>
            <a:fld id="{2B3A5A51-DB18-40F8-9807-F5A86B7E570D}" type="datetime1">
              <a:rPr lang="en-US" smtClean="0"/>
              <a:t>7/28/2026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5FD9BA66-49B9-422C-E28F-BA9E9DB64697}"/>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6">
            <a:extLst>
              <a:ext uri="{FF2B5EF4-FFF2-40B4-BE49-F238E27FC236}">
                <a16:creationId xmlns:a16="http://schemas.microsoft.com/office/drawing/2014/main" id="{D20ABC85-9587-24D5-E6BE-4DBE5CA56973}"/>
              </a:ext>
            </a:extLst>
          </p:cNvPr>
          <p:cNvSpPr>
            <a:spLocks noGrp="1"/>
          </p:cNvSpPr>
          <p:nvPr>
            <p:ph sz="quarter" idx="13" hasCustomPrompt="1"/>
          </p:nvPr>
        </p:nvSpPr>
        <p:spPr>
          <a:xfrm>
            <a:off x="634030" y="1340489"/>
            <a:ext cx="10367349" cy="3388035"/>
          </a:xfrm>
        </p:spPr>
        <p:txBody>
          <a:bodyPr anchor="t">
            <a:noAutofit/>
          </a:bodyPr>
          <a:lstStyle>
            <a:lvl1pPr marL="0" indent="0" algn="l">
              <a:lnSpc>
                <a:spcPct val="90000"/>
              </a:lnSpc>
              <a:buNone/>
              <a:defRPr sz="30000" b="0" i="0">
                <a:solidFill>
                  <a:schemeClr val="tx1"/>
                </a:solidFill>
                <a:latin typeface="+mn-lt"/>
              </a:defRPr>
            </a:lvl1pPr>
          </a:lstStyle>
          <a:p>
            <a:pPr lvl="0"/>
            <a:r>
              <a:rPr lang="en-US" dirty="0"/>
              <a:t>##%</a:t>
            </a:r>
          </a:p>
        </p:txBody>
      </p:sp>
    </p:spTree>
    <p:extLst>
      <p:ext uri="{BB962C8B-B14F-4D97-AF65-F5344CB8AC3E}">
        <p14:creationId xmlns:p14="http://schemas.microsoft.com/office/powerpoint/2010/main" val="3667156823"/>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cxnSp>
        <p:nvCxnSpPr>
          <p:cNvPr id="51" name="Straight Connector 50">
            <a:extLst>
              <a:ext uri="{FF2B5EF4-FFF2-40B4-BE49-F238E27FC236}">
                <a16:creationId xmlns:a16="http://schemas.microsoft.com/office/drawing/2014/main" id="{0D627006-2F17-8195-85F1-6A04C935CD0A}"/>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lvl1pPr>
              <a:defRPr cap="none" baseline="0"/>
            </a:lvl1pPr>
          </a:lstStyle>
          <a:p>
            <a:r>
              <a:rPr lang="en-US" dirty="0"/>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312BCB96-76D1-4464-9253-520F75095DE4}" type="datetime1">
              <a:rPr lang="en-US" smtClean="0"/>
              <a:t>7/28/2026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30" y="1001715"/>
            <a:ext cx="9424374" cy="5221280"/>
          </a:xfrm>
        </p:spPr>
        <p:txBody>
          <a:bodyPr anchor="ctr">
            <a:noAutofit/>
          </a:bodyPr>
          <a:lstStyle>
            <a:lvl1pPr marL="0" indent="0">
              <a:lnSpc>
                <a:spcPct val="100000"/>
              </a:lnSpc>
              <a:buNone/>
              <a:defRPr sz="4000" b="1" cap="all" baseline="0"/>
            </a:lvl1pPr>
            <a:lvl2pPr marL="228600" indent="0">
              <a:lnSpc>
                <a:spcPct val="100000"/>
              </a:lnSpc>
              <a:buNone/>
              <a:defRPr sz="4000" b="1" cap="all" baseline="0"/>
            </a:lvl2pPr>
            <a:lvl3pPr marL="457200" indent="0">
              <a:lnSpc>
                <a:spcPct val="100000"/>
              </a:lnSpc>
              <a:buNone/>
              <a:defRPr sz="4000" b="1" cap="all" baseline="0"/>
            </a:lvl3pPr>
            <a:lvl4pPr marL="685800" indent="0">
              <a:lnSpc>
                <a:spcPct val="100000"/>
              </a:lnSpc>
              <a:buNone/>
              <a:defRPr sz="4000" b="1" cap="all" baseline="0"/>
            </a:lvl4pPr>
            <a:lvl5pPr marL="914400" indent="0">
              <a:lnSpc>
                <a:spcPct val="100000"/>
              </a:lnSpc>
              <a:buNone/>
              <a:defRPr sz="4000" b="1" cap="all"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C6DC5F9A-93BE-3155-B9FF-4F2B904E7ED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346005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Statement 2">
    <p:bg>
      <p:bgPr>
        <a:solidFill>
          <a:schemeClr val="accent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EE1D5172-97DD-EE7A-066E-A8782AEFC905}"/>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599396" y="-1133856"/>
            <a:ext cx="10652760" cy="1001330"/>
          </a:xfrm>
        </p:spPr>
        <p:txBody>
          <a:bodyPr/>
          <a:lstStyle>
            <a:lvl1pPr>
              <a:defRPr cap="none" baseline="0"/>
            </a:lvl1pPr>
          </a:lstStyle>
          <a:p>
            <a:r>
              <a:rPr lang="en-US" dirty="0"/>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623F8BC6-0973-431F-9F88-90604F102123}" type="datetime1">
              <a:rPr lang="en-US" smtClean="0"/>
              <a:t>7/28/2026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599396" y="1001715"/>
            <a:ext cx="9459008" cy="5378062"/>
          </a:xfrm>
        </p:spPr>
        <p:txBody>
          <a:bodyPr anchor="b">
            <a:noAutofit/>
          </a:bodyPr>
          <a:lstStyle>
            <a:lvl1pPr marL="0" indent="0">
              <a:lnSpc>
                <a:spcPct val="90000"/>
              </a:lnSpc>
              <a:buNone/>
              <a:defRPr sz="4000" b="1" cap="all" baseline="0">
                <a:latin typeface="+mn-lt"/>
              </a:defRPr>
            </a:lvl1pPr>
            <a:lvl2pPr marL="228600" indent="0">
              <a:lnSpc>
                <a:spcPct val="90000"/>
              </a:lnSpc>
              <a:buNone/>
              <a:defRPr sz="4000" b="1" cap="all" baseline="0">
                <a:latin typeface="+mn-lt"/>
              </a:defRPr>
            </a:lvl2pPr>
            <a:lvl3pPr marL="457200" indent="0">
              <a:lnSpc>
                <a:spcPct val="90000"/>
              </a:lnSpc>
              <a:buNone/>
              <a:defRPr sz="4000" b="1" cap="all" baseline="0">
                <a:latin typeface="+mn-lt"/>
              </a:defRPr>
            </a:lvl3pPr>
            <a:lvl4pPr marL="685800" indent="0">
              <a:lnSpc>
                <a:spcPct val="90000"/>
              </a:lnSpc>
              <a:buNone/>
              <a:defRPr sz="4000" b="1" cap="all" baseline="0">
                <a:latin typeface="+mn-lt"/>
              </a:defRPr>
            </a:lvl4pPr>
            <a:lvl5pPr marL="914400" indent="0">
              <a:lnSpc>
                <a:spcPct val="90000"/>
              </a:lnSpc>
              <a:buNone/>
              <a:defRPr sz="4000" b="1" cap="all" baseline="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4993CE3A-3702-5441-A16B-15475B1AC32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9128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F5B07A5-D0B6-BEDF-13F7-7E32618B6773}"/>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lvl1pPr>
              <a:defRPr cap="none" baseline="0"/>
            </a:lvl1pPr>
          </a:lstStyle>
          <a:p>
            <a:r>
              <a:rPr lang="en-US" dirty="0"/>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8340309F-82F1-48B4-8AF1-7FAFA4EA46A8}" type="datetime1">
              <a:rPr lang="en-US" smtClean="0"/>
              <a:t>7/28/2026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3479" y="1001713"/>
            <a:ext cx="10924473" cy="5378063"/>
          </a:xfrm>
        </p:spPr>
        <p:txBody>
          <a:bodyPr anchor="b">
            <a:noAutofit/>
          </a:bodyPr>
          <a:lstStyle>
            <a:lvl1pPr marL="0" indent="0">
              <a:lnSpc>
                <a:spcPct val="100000"/>
              </a:lnSpc>
              <a:buNone/>
              <a:defRPr sz="4000" b="0" i="0" cap="all" baseline="0">
                <a:latin typeface="+mn-lt"/>
              </a:defRPr>
            </a:lvl1pPr>
            <a:lvl2pPr marL="228600" indent="0">
              <a:lnSpc>
                <a:spcPct val="100000"/>
              </a:lnSpc>
              <a:buNone/>
              <a:defRPr sz="4000" b="0" i="0" cap="all" baseline="0">
                <a:latin typeface="+mn-lt"/>
              </a:defRPr>
            </a:lvl2pPr>
            <a:lvl3pPr marL="457200" indent="0">
              <a:lnSpc>
                <a:spcPct val="100000"/>
              </a:lnSpc>
              <a:buNone/>
              <a:defRPr sz="4000" b="0" i="0" cap="all" baseline="0">
                <a:latin typeface="+mn-lt"/>
              </a:defRPr>
            </a:lvl3pPr>
            <a:lvl4pPr marL="685800" indent="0">
              <a:lnSpc>
                <a:spcPct val="100000"/>
              </a:lnSpc>
              <a:buNone/>
              <a:defRPr sz="4000" b="0" i="0" cap="all" baseline="0">
                <a:latin typeface="+mn-lt"/>
              </a:defRPr>
            </a:lvl4pPr>
            <a:lvl5pPr marL="914400" indent="0">
              <a:lnSpc>
                <a:spcPct val="100000"/>
              </a:lnSpc>
              <a:buNone/>
              <a:defRPr sz="4000" b="0" i="0" cap="all" baseline="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3E71C1F5-4C28-1974-E5FE-84A75C2718B0}"/>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676504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8C518A1F-ACCA-80D1-B725-434280AEC752}"/>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29" y="5907727"/>
            <a:ext cx="9980960" cy="381000"/>
          </a:xfrm>
        </p:spPr>
        <p:txBody>
          <a:bodyPr anchor="b">
            <a:normAutofit/>
          </a:bodyPr>
          <a:lstStyle>
            <a:lvl1pPr>
              <a:lnSpc>
                <a:spcPct val="120000"/>
              </a:lnSpc>
              <a:defRPr sz="1600" b="0" i="0" cap="none" baseline="0">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F2657C51-8093-4086-9EBD-6F9D3CF38435}" type="datetime1">
              <a:rPr lang="en-US" smtClean="0"/>
              <a:t>7/28/2026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30" y="1001717"/>
            <a:ext cx="9980960" cy="3726808"/>
          </a:xfrm>
        </p:spPr>
        <p:txBody>
          <a:bodyPr anchor="t">
            <a:normAutofit/>
          </a:bodyPr>
          <a:lstStyle>
            <a:lvl1pPr marL="164592" indent="-164592">
              <a:lnSpc>
                <a:spcPct val="100000"/>
              </a:lnSpc>
              <a:spcBef>
                <a:spcPts val="0"/>
              </a:spcBef>
              <a:buNone/>
              <a:defRPr sz="4000" b="0" i="0" cap="all" baseline="0">
                <a:solidFill>
                  <a:schemeClr val="tx1"/>
                </a:solidFill>
                <a:latin typeface="+mn-lt"/>
              </a:defRPr>
            </a:lvl1pPr>
          </a:lstStyle>
          <a:p>
            <a:pPr lvl="0"/>
            <a:r>
              <a:rPr lang="en-US" dirty="0"/>
              <a:t>CLICK TO add QUOTE</a:t>
            </a:r>
          </a:p>
        </p:txBody>
      </p:sp>
      <p:cxnSp>
        <p:nvCxnSpPr>
          <p:cNvPr id="6" name="Straight Connector 5">
            <a:extLst>
              <a:ext uri="{FF2B5EF4-FFF2-40B4-BE49-F238E27FC236}">
                <a16:creationId xmlns:a16="http://schemas.microsoft.com/office/drawing/2014/main" id="{1EDBAF72-4C6A-14D9-5801-64F0FA350F7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19051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2">
    <p:bg>
      <p:bgPr>
        <a:solidFill>
          <a:schemeClr val="accent1"/>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4FD47CB2-2DC0-2D1C-3E20-3B23C0394451}"/>
              </a:ext>
            </a:extLst>
          </p:cNvPr>
          <p:cNvCxnSpPr/>
          <p:nvPr userDrawn="1"/>
        </p:nvCxnSpPr>
        <p:spPr>
          <a:xfrm>
            <a:off x="429209" y="164150"/>
            <a:ext cx="11762791"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28" y="5815584"/>
            <a:ext cx="10923925" cy="511644"/>
          </a:xfrm>
        </p:spPr>
        <p:txBody>
          <a:bodyPr anchor="b">
            <a:noAutofit/>
          </a:bodyPr>
          <a:lstStyle>
            <a:lvl1pPr>
              <a:lnSpc>
                <a:spcPct val="120000"/>
              </a:lnSpc>
              <a:defRPr sz="1600" b="0" i="0" cap="none" baseline="0">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GROWTH MARKETING PLAN</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83B3AEC4-477A-480C-8C3E-559E8B429188}" type="datetime1">
              <a:rPr lang="en-US" smtClean="0"/>
              <a:pPr/>
              <a:t>7/28/2026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1042416"/>
            <a:ext cx="10923925" cy="4037312"/>
          </a:xfrm>
        </p:spPr>
        <p:txBody>
          <a:bodyPr anchor="t">
            <a:normAutofit/>
          </a:bodyPr>
          <a:lstStyle>
            <a:lvl1pPr marL="164592" indent="-164592">
              <a:lnSpc>
                <a:spcPct val="100000"/>
              </a:lnSpc>
              <a:spcBef>
                <a:spcPts val="0"/>
              </a:spcBef>
              <a:buNone/>
              <a:defRPr sz="4000" b="0" i="0" cap="all" baseline="0">
                <a:solidFill>
                  <a:schemeClr val="bg1"/>
                </a:solidFill>
                <a:latin typeface="+mn-lt"/>
              </a:defRPr>
            </a:lvl1pPr>
          </a:lstStyle>
          <a:p>
            <a:pPr lvl="0"/>
            <a:r>
              <a:rPr lang="en-US" dirty="0"/>
              <a:t>CLICK TO add QUOTE</a:t>
            </a:r>
          </a:p>
        </p:txBody>
      </p:sp>
      <p:cxnSp>
        <p:nvCxnSpPr>
          <p:cNvPr id="8" name="Straight Connector 7">
            <a:extLst>
              <a:ext uri="{FF2B5EF4-FFF2-40B4-BE49-F238E27FC236}">
                <a16:creationId xmlns:a16="http://schemas.microsoft.com/office/drawing/2014/main" id="{315DE24C-5070-BB46-4081-8ED244198E0F}"/>
              </a:ext>
            </a:extLst>
          </p:cNvPr>
          <p:cNvCxnSpPr>
            <a:cxnSpLocks/>
          </p:cNvCxnSpPr>
          <p:nvPr userDrawn="1"/>
        </p:nvCxnSpPr>
        <p:spPr>
          <a:xfrm>
            <a:off x="429793"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516171"/>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80708A38-78BC-D3CE-5C55-65C094C8935A}"/>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9037" y="5749160"/>
            <a:ext cx="8956676" cy="567558"/>
          </a:xfrm>
        </p:spPr>
        <p:txBody>
          <a:bodyPr anchor="b">
            <a:normAutofit/>
          </a:bodyPr>
          <a:lstStyle>
            <a:lvl1pPr>
              <a:lnSpc>
                <a:spcPct val="120000"/>
              </a:lnSpc>
              <a:defRPr sz="1600" b="0" i="0" cap="none" baseline="0">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D7163BA6-8D49-4675-9508-BB867C793A49}" type="datetime1">
              <a:rPr lang="en-US" smtClean="0"/>
              <a:t>7/28/2026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30" y="1001715"/>
            <a:ext cx="9037984" cy="3726810"/>
          </a:xfrm>
        </p:spPr>
        <p:txBody>
          <a:bodyPr anchor="t">
            <a:normAutofit/>
          </a:bodyPr>
          <a:lstStyle>
            <a:lvl1pPr marL="164592" indent="-164592">
              <a:lnSpc>
                <a:spcPct val="100000"/>
              </a:lnSpc>
              <a:spcBef>
                <a:spcPts val="0"/>
              </a:spcBef>
              <a:buNone/>
              <a:defRPr sz="4000" b="0" i="0" cap="all" baseline="0">
                <a:latin typeface="+mn-lt"/>
              </a:defRPr>
            </a:lvl1pPr>
          </a:lstStyle>
          <a:p>
            <a:pPr lvl="0"/>
            <a:r>
              <a:rPr lang="en-US" dirty="0"/>
              <a:t>CLICK TO add QUOTE</a:t>
            </a:r>
          </a:p>
        </p:txBody>
      </p:sp>
      <p:cxnSp>
        <p:nvCxnSpPr>
          <p:cNvPr id="6" name="Straight Connector 5">
            <a:extLst>
              <a:ext uri="{FF2B5EF4-FFF2-40B4-BE49-F238E27FC236}">
                <a16:creationId xmlns:a16="http://schemas.microsoft.com/office/drawing/2014/main" id="{B1108F76-E7E3-1812-8331-DCE59FFE0DFB}"/>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314549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033CF370-3CA5-B9C3-AA2C-1D52A27AD182}"/>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5"/>
            <a:ext cx="10923934" cy="1127756"/>
          </a:xfrm>
        </p:spPr>
        <p:txBody>
          <a:body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1C58E83-499B-42C0-A29C-116A7958FAB2}"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634030" y="2129474"/>
            <a:ext cx="5266090" cy="4093525"/>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6291886" y="2129473"/>
            <a:ext cx="5266078" cy="4093526"/>
          </a:xfrm>
        </p:spPr>
        <p:txBody>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0DA0E66B-621F-DCB6-E24E-748318E12F2D}"/>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381563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A1A96DE7-ACFB-A025-20F2-1C9A4CEF7566}"/>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34030" y="1001714"/>
            <a:ext cx="10923934" cy="688973"/>
          </a:xfrm>
        </p:spPr>
        <p:txBody>
          <a:bodyPr>
            <a:normAutofit/>
          </a:bodyPr>
          <a:lstStyle>
            <a:lvl1pPr>
              <a:defRPr sz="4000"/>
            </a:lvl1pPr>
          </a:lstStyle>
          <a:p>
            <a:r>
              <a:rPr lang="en-US" dirty="0"/>
              <a:t>Click to edit Master title style</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dirty="0"/>
              <a:t>GROWTH MARKETING PLAN</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24F4FD23-2163-447C-A80D-D0B4B313F4F9}" type="datetime1">
              <a:rPr lang="en-US" smtClean="0"/>
              <a:t>7/28/2026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33472" y="1685735"/>
            <a:ext cx="5266644" cy="81045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634596" y="2496190"/>
            <a:ext cx="5265520" cy="3726810"/>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6500" y="1685735"/>
            <a:ext cx="5271464" cy="81045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3" name="Text Placeholder 12">
            <a:extLst>
              <a:ext uri="{FF2B5EF4-FFF2-40B4-BE49-F238E27FC236}">
                <a16:creationId xmlns:a16="http://schemas.microsoft.com/office/drawing/2014/main" id="{20D5795C-6228-AA6F-1CF7-AD7010686BC6}"/>
              </a:ext>
            </a:extLst>
          </p:cNvPr>
          <p:cNvSpPr>
            <a:spLocks noGrp="1"/>
          </p:cNvSpPr>
          <p:nvPr>
            <p:ph type="body" sz="quarter" idx="14"/>
          </p:nvPr>
        </p:nvSpPr>
        <p:spPr>
          <a:xfrm>
            <a:off x="6286500" y="2496190"/>
            <a:ext cx="5271464" cy="3726810"/>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a:extLst>
              <a:ext uri="{FF2B5EF4-FFF2-40B4-BE49-F238E27FC236}">
                <a16:creationId xmlns:a16="http://schemas.microsoft.com/office/drawing/2014/main" id="{FFC723C3-DA4A-8D71-987B-EB7E7A74D1E6}"/>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08460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44A141C8-6351-7BB4-B97D-32DF6F45DBC5}"/>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34030" y="1001714"/>
            <a:ext cx="10923933" cy="1127761"/>
          </a:xfrm>
        </p:spPr>
        <p:txBody>
          <a:bodyPr>
            <a:normAutofit/>
          </a:bodyPr>
          <a:lstStyle>
            <a:lvl1pPr>
              <a:defRPr sz="4000"/>
            </a:lvl1pPr>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6CE927C-C7F8-47B0-9A1C-DEAC93AC4235}" type="datetime1">
              <a:rPr lang="en-US" smtClean="0"/>
              <a:t>7/28/2026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6" name="Straight Connector 5">
            <a:extLst>
              <a:ext uri="{FF2B5EF4-FFF2-40B4-BE49-F238E27FC236}">
                <a16:creationId xmlns:a16="http://schemas.microsoft.com/office/drawing/2014/main" id="{D88218CD-6934-8D18-A575-7C745D80A6C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305866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BFE09A4A-7256-DFB0-F197-FAC31C991665}"/>
              </a:ext>
            </a:extLst>
          </p:cNvPr>
          <p:cNvCxnSpPr/>
          <p:nvPr/>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dirty="0"/>
              <a:t>GROWTH MARKETING PLAN</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EEB669C-B2F2-4540-973C-9431C4193843}" type="datetime1">
              <a:rPr lang="en-US" smtClean="0"/>
              <a:t>7/28/2026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7" name="Straight Connector 6">
            <a:extLst>
              <a:ext uri="{FF2B5EF4-FFF2-40B4-BE49-F238E27FC236}">
                <a16:creationId xmlns:a16="http://schemas.microsoft.com/office/drawing/2014/main" id="{1571AA78-5D18-EE68-E9E7-A1075C78BC20}"/>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91823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34031" y="1001716"/>
            <a:ext cx="4328496" cy="1122374"/>
          </a:xfrm>
        </p:spPr>
        <p:txBody>
          <a:bodyPr anchor="t">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01E0AE40-9A04-413D-8631-F7A90F9EBCFC}" type="datetime1">
              <a:rPr lang="en-US" smtClean="0"/>
              <a:t>7/28/2026</a:t>
            </a:fld>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CD4A6C7F-9167-3CFF-8E30-53AE9D6BB738}"/>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34020" y="2496190"/>
            <a:ext cx="4328506" cy="3726810"/>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348910" y="1001715"/>
            <a:ext cx="6209053" cy="5221285"/>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a:extLst>
              <a:ext uri="{FF2B5EF4-FFF2-40B4-BE49-F238E27FC236}">
                <a16:creationId xmlns:a16="http://schemas.microsoft.com/office/drawing/2014/main" id="{A9C0A275-A2A5-8AD0-2E0F-DDE194CF88B0}"/>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911082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34030" y="1001715"/>
            <a:ext cx="3771899" cy="1875474"/>
          </a:xfrm>
        </p:spPr>
        <p:txBody>
          <a:bodyPr anchor="t">
            <a:norm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D8694C3A-EE25-431B-80B1-4EF91AFC3103}" type="datetime1">
              <a:rPr lang="en-US" smtClean="0"/>
              <a:t>7/28/2026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34029" y="3242949"/>
            <a:ext cx="3771899" cy="306325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cxnSp>
        <p:nvCxnSpPr>
          <p:cNvPr id="9" name="Straight Connector 8">
            <a:extLst>
              <a:ext uri="{FF2B5EF4-FFF2-40B4-BE49-F238E27FC236}">
                <a16:creationId xmlns:a16="http://schemas.microsoft.com/office/drawing/2014/main" id="{03E95682-83E4-B8FD-0229-98470A1CACC8}"/>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4962527" y="634999"/>
            <a:ext cx="6595437" cy="5588001"/>
          </a:xfrm>
          <a:blipFill dpi="0" rotWithShape="1">
            <a:blip r:embed="rId2">
              <a:alphaModFix amt="60000"/>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cxnSp>
        <p:nvCxnSpPr>
          <p:cNvPr id="8" name="Straight Connector 7">
            <a:extLst>
              <a:ext uri="{FF2B5EF4-FFF2-40B4-BE49-F238E27FC236}">
                <a16:creationId xmlns:a16="http://schemas.microsoft.com/office/drawing/2014/main" id="{9C2BD7F5-CDD3-75CC-75F0-0D3B429420E5}"/>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7509807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1373816"/>
            <a:ext cx="8481399" cy="1607128"/>
          </a:xfrm>
        </p:spPr>
        <p:txBody>
          <a:bodyPr anchor="b">
            <a:noAutofit/>
          </a:bodyPr>
          <a:lstStyle>
            <a:lvl1pPr>
              <a:defRPr sz="7200">
                <a:solidFill>
                  <a:schemeClr val="tx1"/>
                </a:solidFill>
              </a:defRPr>
            </a:lvl1pPr>
          </a:lstStyle>
          <a:p>
            <a:r>
              <a:rPr lang="en-US" dirty="0"/>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B4C3B674-A5BF-456A-8269-F8CA9F763AF0}" type="datetime1">
              <a:rPr lang="en-US" smtClean="0"/>
              <a:pPr/>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7" name="Straight Connector 6">
            <a:extLst>
              <a:ext uri="{FF2B5EF4-FFF2-40B4-BE49-F238E27FC236}">
                <a16:creationId xmlns:a16="http://schemas.microsoft.com/office/drawing/2014/main" id="{BB4F35B0-78B0-CF96-BDA9-3D1E19B0636E}"/>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33481" y="3615051"/>
            <a:ext cx="10367898" cy="2607949"/>
          </a:xfrm>
        </p:spPr>
        <p:txBody>
          <a:bodyPr>
            <a:normAutofit/>
          </a:bodyPr>
          <a:lstStyle>
            <a:lvl1pPr marL="0" indent="0">
              <a:buNone/>
              <a:defRPr sz="1600">
                <a:solidFill>
                  <a:schemeClr val="tx1"/>
                </a:solidFill>
              </a:defRPr>
            </a:lvl1pPr>
            <a:lvl2pPr marL="228600" indent="0">
              <a:buNone/>
              <a:defRPr sz="1600">
                <a:solidFill>
                  <a:schemeClr val="tx1"/>
                </a:solidFill>
              </a:defRPr>
            </a:lvl2pPr>
            <a:lvl3pPr marL="457200" indent="0">
              <a:buNone/>
              <a:defRPr sz="1600">
                <a:solidFill>
                  <a:schemeClr val="tx1"/>
                </a:solidFill>
              </a:defRPr>
            </a:lvl3pPr>
            <a:lvl4pPr marL="685800" indent="0">
              <a:buNone/>
              <a:defRPr sz="1600">
                <a:solidFill>
                  <a:schemeClr val="tx1"/>
                </a:solidFill>
              </a:defRPr>
            </a:lvl4pPr>
            <a:lvl5pPr marL="914400" indent="0">
              <a:buNone/>
              <a:defRPr sz="16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55FE6CEC-AEBC-8860-A62E-637765B0DE26}"/>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72631864"/>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1756098"/>
            <a:ext cx="10923925" cy="2595476"/>
          </a:xfrm>
        </p:spPr>
        <p:txBody>
          <a:bodyPr anchor="b">
            <a:noAutofit/>
          </a:bodyPr>
          <a:lstStyle>
            <a:lvl1pPr>
              <a:defRPr sz="4000" b="0" i="0">
                <a:solidFill>
                  <a:schemeClr val="bg1"/>
                </a:solidFill>
                <a:latin typeface="+mn-lt"/>
              </a:defRPr>
            </a:lvl1pPr>
          </a:lstStyle>
          <a:p>
            <a:r>
              <a:rPr lang="en-US" dirty="0"/>
              <a:t>Click to edit Master title style</a:t>
            </a:r>
          </a:p>
        </p:txBody>
      </p:sp>
      <p:cxnSp>
        <p:nvCxnSpPr>
          <p:cNvPr id="8" name="Straight Connector 7">
            <a:extLst>
              <a:ext uri="{FF2B5EF4-FFF2-40B4-BE49-F238E27FC236}">
                <a16:creationId xmlns:a16="http://schemas.microsoft.com/office/drawing/2014/main" id="{6C31587E-E768-0BED-F16B-618390A49DBC}"/>
              </a:ext>
            </a:extLst>
          </p:cNvPr>
          <p:cNvCxnSpPr/>
          <p:nvPr userDrawn="1"/>
        </p:nvCxnSpPr>
        <p:spPr>
          <a:xfrm>
            <a:off x="429209" y="164150"/>
            <a:ext cx="11762791"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bg1"/>
                </a:solidFill>
              </a:defRPr>
            </a:lvl1p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bg1"/>
                </a:solidFill>
              </a:defRPr>
            </a:lvl1pPr>
          </a:lstStyle>
          <a:p>
            <a:fld id="{2C9D3C1B-3A72-4E86-BA17-923EE76E5763}" type="datetime1">
              <a:rPr lang="en-US" smtClean="0"/>
              <a:pPr/>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3485" y="4732574"/>
            <a:ext cx="6595990" cy="1605164"/>
          </a:xfrm>
        </p:spPr>
        <p:txBody>
          <a:bodyPr anchor="b">
            <a:noAutofit/>
          </a:bodyPr>
          <a:lstStyle>
            <a:lvl1pPr marL="0" indent="0">
              <a:lnSpc>
                <a:spcPct val="120000"/>
              </a:lnSpc>
              <a:spcBef>
                <a:spcPts val="1000"/>
              </a:spcBef>
              <a:buNone/>
              <a:defRPr sz="1600">
                <a:solidFill>
                  <a:schemeClr val="bg1"/>
                </a:solidFill>
              </a:defRPr>
            </a:lvl1pPr>
            <a:lvl2pPr marL="228600" indent="0">
              <a:lnSpc>
                <a:spcPct val="120000"/>
              </a:lnSpc>
              <a:spcBef>
                <a:spcPts val="1000"/>
              </a:spcBef>
              <a:buNone/>
              <a:defRPr sz="1600">
                <a:solidFill>
                  <a:schemeClr val="bg1"/>
                </a:solidFill>
              </a:defRPr>
            </a:lvl2pPr>
            <a:lvl3pPr marL="457200" indent="0">
              <a:lnSpc>
                <a:spcPct val="120000"/>
              </a:lnSpc>
              <a:spcBef>
                <a:spcPts val="1000"/>
              </a:spcBef>
              <a:buNone/>
              <a:defRPr sz="1600">
                <a:solidFill>
                  <a:schemeClr val="bg1"/>
                </a:solidFill>
              </a:defRPr>
            </a:lvl3pPr>
            <a:lvl4pPr marL="685800" indent="0">
              <a:lnSpc>
                <a:spcPct val="120000"/>
              </a:lnSpc>
              <a:spcBef>
                <a:spcPts val="1000"/>
              </a:spcBef>
              <a:buNone/>
              <a:defRPr sz="1600">
                <a:solidFill>
                  <a:schemeClr val="bg1"/>
                </a:solidFill>
              </a:defRPr>
            </a:lvl4pPr>
            <a:lvl5pPr marL="914400" indent="0">
              <a:lnSpc>
                <a:spcPct val="120000"/>
              </a:lnSpc>
              <a:spcBef>
                <a:spcPts val="1000"/>
              </a:spcBef>
              <a:buNone/>
              <a:defRPr sz="16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A329D384-6BDA-A5B3-C1ED-7DADE9654365}"/>
              </a:ext>
            </a:extLst>
          </p:cNvPr>
          <p:cNvCxnSpPr>
            <a:cxnSpLocks/>
          </p:cNvCxnSpPr>
          <p:nvPr userDrawn="1"/>
        </p:nvCxnSpPr>
        <p:spPr>
          <a:xfrm>
            <a:off x="429793"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7966120"/>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2" y="6492513"/>
            <a:ext cx="429207" cy="365125"/>
          </a:xfrm>
          <a:prstGeom prst="rect">
            <a:avLst/>
          </a:prstGeom>
        </p:spPr>
        <p:txBody>
          <a:bodyPr vert="horz" lIns="91440" tIns="45720" rIns="91440" bIns="45720" rtlCol="0" anchor="ctr"/>
          <a:lstStyle>
            <a:lvl1pPr algn="ctr">
              <a:defRPr sz="800" b="0" i="0">
                <a:solidFill>
                  <a:schemeClr val="tx1"/>
                </a:solidFill>
                <a:latin typeface="+mn-lt"/>
                <a:ea typeface="Batang" panose="02030600000101010101" pitchFamily="18" charset="-127"/>
              </a:defRPr>
            </a:lvl1pPr>
          </a:lstStyle>
          <a:p>
            <a:fld id="{CC057153-B650-4DEB-B370-79DDCFDCE934}" type="slidenum">
              <a:rPr lang="en-US" smtClean="0"/>
              <a:pPr/>
              <a:t>‹#›</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rot="16200000">
            <a:off x="-2067304" y="2231454"/>
            <a:ext cx="4564376" cy="429768"/>
          </a:xfrm>
          <a:prstGeom prst="rect">
            <a:avLst/>
          </a:prstGeom>
        </p:spPr>
        <p:txBody>
          <a:bodyPr vert="horz" lIns="91440" tIns="45720" rIns="91440" bIns="45720" rtlCol="0" anchor="ctr"/>
          <a:lstStyle>
            <a:lvl1pPr algn="r">
              <a:defRPr sz="800" b="0" i="0">
                <a:solidFill>
                  <a:schemeClr val="tx1"/>
                </a:solidFill>
                <a:latin typeface="+mn-lt"/>
                <a:ea typeface="Batang" panose="02030600000101010101" pitchFamily="18" charset="-127"/>
              </a:defRPr>
            </a:lvl1pPr>
          </a:lstStyle>
          <a:p>
            <a:r>
              <a:rPr lang="en-US" dirty="0"/>
              <a:t>GROWTH MARKETING PLAN</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rot="16200000">
            <a:off x="-532352" y="5260879"/>
            <a:ext cx="1494475" cy="429768"/>
          </a:xfrm>
          <a:prstGeom prst="rect">
            <a:avLst/>
          </a:prstGeom>
        </p:spPr>
        <p:txBody>
          <a:bodyPr vert="horz" lIns="91440" tIns="45720" rIns="91440" bIns="45720" rtlCol="0" anchor="ctr"/>
          <a:lstStyle>
            <a:lvl1pPr algn="l">
              <a:defRPr sz="800" b="0" i="0">
                <a:solidFill>
                  <a:schemeClr val="tx1"/>
                </a:solidFill>
                <a:latin typeface="+mn-lt"/>
                <a:ea typeface="Batang" panose="02030600000101010101" pitchFamily="18" charset="-127"/>
              </a:defRPr>
            </a:lvl1pPr>
          </a:lstStyle>
          <a:p>
            <a:fld id="{652F8955-0F19-465D-B095-4EFD5ED08188}" type="datetime1">
              <a:rPr lang="en-US" smtClean="0"/>
              <a:pPr/>
              <a:t>7/28/2026</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34030" y="2129474"/>
            <a:ext cx="10923934" cy="4093525"/>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34030" y="1001714"/>
            <a:ext cx="10923934" cy="755659"/>
          </a:xfrm>
          <a:prstGeom prst="rect">
            <a:avLst/>
          </a:prstGeom>
        </p:spPr>
        <p:txBody>
          <a:bodyPr vert="horz" lIns="91440" tIns="45720" rIns="91440" bIns="45720" rtlCol="0" anchor="t">
            <a:normAutofit/>
          </a:bodyPr>
          <a:lstStyle/>
          <a:p>
            <a:r>
              <a:rPr lang="en-US" dirty="0"/>
              <a:t>Click to edit Master title style</a:t>
            </a:r>
          </a:p>
        </p:txBody>
      </p:sp>
    </p:spTree>
    <p:extLst>
      <p:ext uri="{BB962C8B-B14F-4D97-AF65-F5344CB8AC3E}">
        <p14:creationId xmlns:p14="http://schemas.microsoft.com/office/powerpoint/2010/main" val="3137627104"/>
      </p:ext>
    </p:extLst>
  </p:cSld>
  <p:clrMap bg1="lt1" tx1="dk1" bg2="lt2" tx2="dk2" accent1="accent1" accent2="accent2" accent3="accent3" accent4="accent4" accent5="accent5" accent6="accent6" hlink="hlink" folHlink="folHlink"/>
  <p:sldLayoutIdLst>
    <p:sldLayoutId id="2147483765" r:id="rId1"/>
    <p:sldLayoutId id="2147483766" r:id="rId2"/>
    <p:sldLayoutId id="2147483767" r:id="rId3"/>
    <p:sldLayoutId id="2147483768" r:id="rId4"/>
    <p:sldLayoutId id="2147483769" r:id="rId5"/>
    <p:sldLayoutId id="2147483770" r:id="rId6"/>
    <p:sldLayoutId id="2147483771" r:id="rId7"/>
    <p:sldLayoutId id="2147483772" r:id="rId8"/>
    <p:sldLayoutId id="2147483773" r:id="rId9"/>
    <p:sldLayoutId id="2147483774" r:id="rId10"/>
    <p:sldLayoutId id="2147483775" r:id="rId11"/>
    <p:sldLayoutId id="2147483776" r:id="rId12"/>
    <p:sldLayoutId id="2147483777" r:id="rId13"/>
    <p:sldLayoutId id="2147483778" r:id="rId14"/>
    <p:sldLayoutId id="2147483779" r:id="rId15"/>
    <p:sldLayoutId id="2147483780" r:id="rId16"/>
    <p:sldLayoutId id="2147483781" r:id="rId17"/>
    <p:sldLayoutId id="2147483783" r:id="rId18"/>
    <p:sldLayoutId id="2147483784" r:id="rId19"/>
    <p:sldLayoutId id="2147483785" r:id="rId20"/>
    <p:sldLayoutId id="2147483786" r:id="rId21"/>
    <p:sldLayoutId id="2147483787" r:id="rId22"/>
    <p:sldLayoutId id="2147483788" r:id="rId23"/>
    <p:sldLayoutId id="2147483789" r:id="rId24"/>
    <p:sldLayoutId id="2147483790" r:id="rId25"/>
    <p:sldLayoutId id="2147483791" r:id="rId26"/>
    <p:sldLayoutId id="2147483792" r:id="rId27"/>
    <p:sldLayoutId id="2147483793" r:id="rId28"/>
    <p:sldLayoutId id="2147483794" r:id="rId29"/>
    <p:sldLayoutId id="2147483795" r:id="rId30"/>
    <p:sldLayoutId id="2147483796" r:id="rId31"/>
    <p:sldLayoutId id="2147483797" r:id="rId32"/>
    <p:sldLayoutId id="2147483782" r:id="rId33"/>
    <p:sldLayoutId id="2147483798" r:id="rId34"/>
    <p:sldLayoutId id="2147483799" r:id="rId35"/>
    <p:sldLayoutId id="2147483800" r:id="rId36"/>
    <p:sldLayoutId id="2147483801" r:id="rId37"/>
    <p:sldLayoutId id="2147483802" r:id="rId38"/>
    <p:sldLayoutId id="2147483803" r:id="rId39"/>
    <p:sldLayoutId id="2147483804" r:id="rId40"/>
    <p:sldLayoutId id="2147483805" r:id="rId41"/>
    <p:sldLayoutId id="2147483806" r:id="rId42"/>
    <p:sldLayoutId id="2147483807" r:id="rId43"/>
    <p:sldLayoutId id="2147483808" r:id="rId44"/>
    <p:sldLayoutId id="2147483809" r:id="rId45"/>
    <p:sldLayoutId id="2147483810" r:id="rId46"/>
    <p:sldLayoutId id="2147483811" r:id="rId47"/>
    <p:sldLayoutId id="2147483812" r:id="rId48"/>
    <p:sldLayoutId id="2147483813" r:id="rId49"/>
    <p:sldLayoutId id="2147483814" r:id="rId50"/>
  </p:sldLayoutIdLst>
  <p:hf hdr="0" dt="0"/>
  <p:txStyles>
    <p:titleStyle>
      <a:lvl1pPr algn="l" defTabSz="914400" rtl="0" eaLnBrk="1" latinLnBrk="0" hangingPunct="1">
        <a:lnSpc>
          <a:spcPct val="90000"/>
        </a:lnSpc>
        <a:spcBef>
          <a:spcPct val="0"/>
        </a:spcBef>
        <a:buNone/>
        <a:defRPr sz="4000" b="0" i="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600" b="0" i="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xml"/><Relationship Id="rId1" Type="http://schemas.openxmlformats.org/officeDocument/2006/relationships/slideLayout" Target="../slideLayouts/slideLayout33.xml"/><Relationship Id="rId4" Type="http://schemas.openxmlformats.org/officeDocument/2006/relationships/image" Target="../media/image15.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6.xml"/><Relationship Id="rId1" Type="http://schemas.openxmlformats.org/officeDocument/2006/relationships/slideLayout" Target="../slideLayouts/slideLayout27.xml"/><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43.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43.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43.xml"/></Relationships>
</file>

<file path=ppt/slides/_rels/slide1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4.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57989-07E4-B482-9F2A-EBF670F7FA92}"/>
              </a:ext>
            </a:extLst>
          </p:cNvPr>
          <p:cNvSpPr>
            <a:spLocks noGrp="1"/>
          </p:cNvSpPr>
          <p:nvPr>
            <p:ph type="title"/>
          </p:nvPr>
        </p:nvSpPr>
        <p:spPr>
          <a:xfrm>
            <a:off x="380031" y="1386343"/>
            <a:ext cx="5955028" cy="1203055"/>
          </a:xfrm>
        </p:spPr>
        <p:txBody>
          <a:bodyPr>
            <a:normAutofit fontScale="90000"/>
          </a:bodyPr>
          <a:lstStyle/>
          <a:p>
            <a:r>
              <a:rPr lang="en-US" sz="4400">
                <a:ea typeface="Dotum"/>
              </a:rPr>
              <a:t>Diamonds Predictor Application</a:t>
            </a:r>
            <a:r>
              <a:rPr lang="en-US" dirty="0">
                <a:ea typeface="Dotum"/>
              </a:rPr>
              <a:t> </a:t>
            </a:r>
            <a:endParaRPr lang="en-US"/>
          </a:p>
        </p:txBody>
      </p:sp>
      <p:pic>
        <p:nvPicPr>
          <p:cNvPr id="16" name="Picture Placeholder 15">
            <a:extLst>
              <a:ext uri="{FF2B5EF4-FFF2-40B4-BE49-F238E27FC236}">
                <a16:creationId xmlns:a16="http://schemas.microsoft.com/office/drawing/2014/main" id="{0EF92AAA-69F5-4BBD-D336-59ACECD44524}"/>
              </a:ext>
            </a:extLst>
          </p:cNvPr>
          <p:cNvPicPr>
            <a:picLocks noGrp="1" noChangeAspect="1"/>
          </p:cNvPicPr>
          <p:nvPr>
            <p:ph type="pic" sz="quarter" idx="13"/>
          </p:nvPr>
        </p:nvPicPr>
        <p:blipFill>
          <a:blip r:embed="rId3"/>
          <a:srcRect l="12" r="12"/>
          <a:stretch>
            <a:fillRect/>
          </a:stretch>
        </p:blipFill>
        <p:spPr>
          <a:xfrm>
            <a:off x="7811924" y="0"/>
            <a:ext cx="4380076" cy="6861627"/>
          </a:xfrm>
          <a:prstGeom prst="rect">
            <a:avLst/>
          </a:prstGeom>
        </p:spPr>
      </p:pic>
      <p:sp>
        <p:nvSpPr>
          <p:cNvPr id="3" name="Subtitle 2">
            <a:extLst>
              <a:ext uri="{FF2B5EF4-FFF2-40B4-BE49-F238E27FC236}">
                <a16:creationId xmlns:a16="http://schemas.microsoft.com/office/drawing/2014/main" id="{363CF5F8-0028-8636-5006-5D5C52B32774}"/>
              </a:ext>
            </a:extLst>
          </p:cNvPr>
          <p:cNvSpPr>
            <a:spLocks noGrp="1"/>
          </p:cNvSpPr>
          <p:nvPr>
            <p:ph sz="quarter" idx="14"/>
          </p:nvPr>
        </p:nvSpPr>
        <p:spPr>
          <a:xfrm>
            <a:off x="3882671" y="6216091"/>
            <a:ext cx="2452715" cy="363255"/>
          </a:xfrm>
        </p:spPr>
        <p:txBody>
          <a:bodyPr>
            <a:normAutofit fontScale="92500"/>
          </a:bodyPr>
          <a:lstStyle/>
          <a:p>
            <a:r>
              <a:rPr lang="en-US"/>
              <a:t>Presented by Saad Ehsan</a:t>
            </a:r>
            <a:endParaRPr lang="en-US" dirty="0"/>
          </a:p>
        </p:txBody>
      </p:sp>
      <p:sp>
        <p:nvSpPr>
          <p:cNvPr id="5" name="Title 1">
            <a:extLst>
              <a:ext uri="{FF2B5EF4-FFF2-40B4-BE49-F238E27FC236}">
                <a16:creationId xmlns:a16="http://schemas.microsoft.com/office/drawing/2014/main" id="{6375D6BD-E5D7-409B-37D6-DAB352D2EC81}"/>
              </a:ext>
            </a:extLst>
          </p:cNvPr>
          <p:cNvSpPr txBox="1">
            <a:spLocks/>
          </p:cNvSpPr>
          <p:nvPr/>
        </p:nvSpPr>
        <p:spPr>
          <a:xfrm>
            <a:off x="380031" y="2786971"/>
            <a:ext cx="5955028" cy="63699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7200" b="0" i="0" kern="1200" cap="all" baseline="0">
                <a:solidFill>
                  <a:schemeClr val="tx1"/>
                </a:solidFill>
                <a:latin typeface="+mj-lt"/>
                <a:ea typeface="Dotum" panose="020B0600000101010101" pitchFamily="34" charset="-127"/>
                <a:cs typeface="Noto Sans Kannada Thin" panose="020B0202040504020204" pitchFamily="34" charset="0"/>
              </a:defRPr>
            </a:lvl1pPr>
          </a:lstStyle>
          <a:p>
            <a:r>
              <a:rPr lang="en-US" sz="1800">
                <a:ea typeface="+mj-lt"/>
                <a:cs typeface="+mj-lt"/>
              </a:rPr>
              <a:t>Machine Learning for Pricing, Quality Assessment, and Customer Segmentation </a:t>
            </a:r>
            <a:endParaRPr lang="en-US" sz="1800"/>
          </a:p>
        </p:txBody>
      </p:sp>
      <p:pic>
        <p:nvPicPr>
          <p:cNvPr id="17" name="Picture 16">
            <a:extLst>
              <a:ext uri="{FF2B5EF4-FFF2-40B4-BE49-F238E27FC236}">
                <a16:creationId xmlns:a16="http://schemas.microsoft.com/office/drawing/2014/main" id="{1D653884-A10D-B1E6-F687-7DD54B0FF688}"/>
              </a:ext>
            </a:extLst>
          </p:cNvPr>
          <p:cNvPicPr>
            <a:picLocks noChangeAspect="1"/>
          </p:cNvPicPr>
          <p:nvPr/>
        </p:nvPicPr>
        <p:blipFill>
          <a:blip r:embed="rId4"/>
          <a:stretch>
            <a:fillRect/>
          </a:stretch>
        </p:blipFill>
        <p:spPr>
          <a:xfrm>
            <a:off x="7811924" y="1813"/>
            <a:ext cx="4380076" cy="6858000"/>
          </a:xfrm>
          <a:prstGeom prst="rect">
            <a:avLst/>
          </a:prstGeom>
        </p:spPr>
      </p:pic>
    </p:spTree>
    <p:extLst>
      <p:ext uri="{BB962C8B-B14F-4D97-AF65-F5344CB8AC3E}">
        <p14:creationId xmlns:p14="http://schemas.microsoft.com/office/powerpoint/2010/main" val="17738313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21C934B4-77E0-387F-5DB4-390615124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328115-DC2E-BC4A-4E9F-DFECB075204D}"/>
              </a:ext>
            </a:extLst>
          </p:cNvPr>
          <p:cNvSpPr>
            <a:spLocks noGrp="1"/>
          </p:cNvSpPr>
          <p:nvPr>
            <p:ph type="title"/>
          </p:nvPr>
        </p:nvSpPr>
        <p:spPr/>
        <p:txBody>
          <a:bodyPr/>
          <a:lstStyle/>
          <a:p>
            <a:r>
              <a:rPr lang="en-US" dirty="0"/>
              <a:t>What This Project Is About</a:t>
            </a:r>
            <a:endParaRPr lang="en-US" dirty="0">
              <a:ea typeface="+mj-lt"/>
              <a:cs typeface="+mj-lt"/>
            </a:endParaRPr>
          </a:p>
        </p:txBody>
      </p:sp>
      <p:sp>
        <p:nvSpPr>
          <p:cNvPr id="6" name="Slide Number Placeholder 5">
            <a:extLst>
              <a:ext uri="{FF2B5EF4-FFF2-40B4-BE49-F238E27FC236}">
                <a16:creationId xmlns:a16="http://schemas.microsoft.com/office/drawing/2014/main" id="{E06AA4A9-AA6C-8136-B31B-8CB416D4DC7C}"/>
              </a:ext>
            </a:extLst>
          </p:cNvPr>
          <p:cNvSpPr>
            <a:spLocks noGrp="1"/>
          </p:cNvSpPr>
          <p:nvPr>
            <p:ph type="sldNum" sz="quarter" idx="12"/>
          </p:nvPr>
        </p:nvSpPr>
        <p:spPr/>
        <p:txBody>
          <a:bodyPr/>
          <a:lstStyle/>
          <a:p>
            <a:fld id="{CC057153-B650-4DEB-B370-79DDCFDCE934}" type="slidenum">
              <a:rPr lang="en-US" smtClean="0"/>
              <a:t>2</a:t>
            </a:fld>
            <a:endParaRPr lang="en-US" dirty="0"/>
          </a:p>
        </p:txBody>
      </p:sp>
      <p:sp>
        <p:nvSpPr>
          <p:cNvPr id="4" name="Footer Placeholder 4">
            <a:extLst>
              <a:ext uri="{FF2B5EF4-FFF2-40B4-BE49-F238E27FC236}">
                <a16:creationId xmlns:a16="http://schemas.microsoft.com/office/drawing/2014/main" id="{FBF1ED02-CDEE-392C-37EE-30A9AC6489BB}"/>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9" name="Content Placeholder 8">
            <a:extLst>
              <a:ext uri="{FF2B5EF4-FFF2-40B4-BE49-F238E27FC236}">
                <a16:creationId xmlns:a16="http://schemas.microsoft.com/office/drawing/2014/main" id="{26492EBA-7F3B-40A6-3B21-35CAA817D2ED}"/>
              </a:ext>
            </a:extLst>
          </p:cNvPr>
          <p:cNvSpPr>
            <a:spLocks noGrp="1"/>
          </p:cNvSpPr>
          <p:nvPr>
            <p:ph idx="1"/>
          </p:nvPr>
        </p:nvSpPr>
        <p:spPr/>
        <p:txBody>
          <a:bodyPr vert="horz" lIns="91440" tIns="45720" rIns="91440" bIns="45720" rtlCol="0" anchor="t">
            <a:normAutofit/>
          </a:bodyPr>
          <a:lstStyle/>
          <a:p>
            <a:pPr marL="0" indent="0">
              <a:buNone/>
            </a:pPr>
            <a:r>
              <a:rPr lang="en-US" b="1" dirty="0"/>
              <a:t>Diamonds Predictor Application — End‑to‑End ML System</a:t>
            </a:r>
          </a:p>
          <a:p>
            <a:pPr marL="0" indent="0">
              <a:buNone/>
            </a:pPr>
            <a:r>
              <a:rPr lang="en-US" dirty="0">
                <a:effectLst/>
              </a:rPr>
              <a:t>This project is an end‑to‑end machine learning system designed to help a diamond retailer:</a:t>
            </a:r>
          </a:p>
          <a:p>
            <a:pPr marL="0" indent="0">
              <a:buNone/>
            </a:pPr>
            <a:endParaRPr lang="en-US" dirty="0"/>
          </a:p>
          <a:p>
            <a:pPr eaLnBrk="0" fontAlgn="base" hangingPunct="0">
              <a:lnSpc>
                <a:spcPct val="150000"/>
              </a:lnSpc>
              <a:spcBef>
                <a:spcPct val="0"/>
              </a:spcBef>
              <a:spcAft>
                <a:spcPct val="0"/>
              </a:spcAft>
            </a:pPr>
            <a:r>
              <a:rPr kumimoji="0" lang="en-US" altLang="en-US" sz="1600" b="1" i="0" u="none" strike="noStrike" cap="none" normalizeH="0" baseline="0" dirty="0">
                <a:ln>
                  <a:noFill/>
                </a:ln>
                <a:solidFill>
                  <a:schemeClr val="tx1"/>
                </a:solidFill>
                <a:effectLst/>
                <a:latin typeface="Arial" panose="020B0604020202020204" pitchFamily="34" charset="0"/>
              </a:rPr>
              <a:t>Price Prediction</a:t>
            </a:r>
            <a:r>
              <a:rPr kumimoji="0" lang="en-US" altLang="en-US" sz="1600" b="0" i="0" u="none" strike="noStrike" cap="none" normalizeH="0" baseline="0" dirty="0">
                <a:ln>
                  <a:noFill/>
                </a:ln>
                <a:solidFill>
                  <a:schemeClr val="tx1"/>
                </a:solidFill>
                <a:effectLst/>
                <a:latin typeface="Arial" panose="020B0604020202020204" pitchFamily="34" charset="0"/>
              </a:rPr>
              <a:t> — Estimate diamond prices using an ANN regression model</a:t>
            </a:r>
          </a:p>
          <a:p>
            <a:pPr eaLnBrk="0" fontAlgn="base" hangingPunct="0">
              <a:lnSpc>
                <a:spcPct val="150000"/>
              </a:lnSpc>
              <a:spcBef>
                <a:spcPct val="0"/>
              </a:spcBef>
              <a:spcAft>
                <a:spcPct val="0"/>
              </a:spcAft>
            </a:pPr>
            <a:r>
              <a:rPr kumimoji="0" lang="en-US" altLang="en-US" sz="1600" b="1" i="0" u="none" strike="noStrike" cap="none" normalizeH="0" baseline="0" dirty="0">
                <a:ln>
                  <a:noFill/>
                </a:ln>
                <a:solidFill>
                  <a:schemeClr val="tx1"/>
                </a:solidFill>
                <a:effectLst/>
                <a:latin typeface="Arial" panose="020B0604020202020204" pitchFamily="34" charset="0"/>
              </a:rPr>
              <a:t>Clarity Prediction</a:t>
            </a:r>
            <a:r>
              <a:rPr kumimoji="0" lang="en-US" altLang="en-US" sz="1600" b="0" i="0" u="none" strike="noStrike" cap="none" normalizeH="0" baseline="0" dirty="0">
                <a:ln>
                  <a:noFill/>
                </a:ln>
                <a:solidFill>
                  <a:schemeClr val="tx1"/>
                </a:solidFill>
                <a:effectLst/>
                <a:latin typeface="Arial" panose="020B0604020202020204" pitchFamily="34" charset="0"/>
              </a:rPr>
              <a:t> — Classify diamond clarity using an ANN classifier</a:t>
            </a:r>
          </a:p>
          <a:p>
            <a:pPr eaLnBrk="0" fontAlgn="base" hangingPunct="0">
              <a:lnSpc>
                <a:spcPct val="150000"/>
              </a:lnSpc>
              <a:spcBef>
                <a:spcPct val="0"/>
              </a:spcBef>
              <a:spcAft>
                <a:spcPct val="0"/>
              </a:spcAft>
            </a:pPr>
            <a:r>
              <a:rPr kumimoji="0" lang="en-US" altLang="en-US" sz="1600" b="1" i="0" u="none" strike="noStrike" cap="none" normalizeH="0" baseline="0" dirty="0">
                <a:ln>
                  <a:noFill/>
                </a:ln>
                <a:solidFill>
                  <a:schemeClr val="tx1"/>
                </a:solidFill>
                <a:effectLst/>
                <a:latin typeface="Arial" panose="020B0604020202020204" pitchFamily="34" charset="0"/>
              </a:rPr>
              <a:t>Customer Segmentation</a:t>
            </a:r>
            <a:r>
              <a:rPr kumimoji="0" lang="en-US" altLang="en-US" sz="1600" b="0" i="0" u="none" strike="noStrike" cap="none" normalizeH="0" baseline="0" dirty="0">
                <a:ln>
                  <a:noFill/>
                </a:ln>
                <a:solidFill>
                  <a:schemeClr val="tx1"/>
                </a:solidFill>
                <a:effectLst/>
                <a:latin typeface="Arial" panose="020B0604020202020204" pitchFamily="34" charset="0"/>
              </a:rPr>
              <a:t> — Group diamonds into meaningful market clusters</a:t>
            </a:r>
          </a:p>
          <a:p>
            <a:pPr eaLnBrk="0" fontAlgn="base" hangingPunct="0">
              <a:lnSpc>
                <a:spcPct val="150000"/>
              </a:lnSpc>
              <a:spcBef>
                <a:spcPct val="0"/>
              </a:spcBef>
              <a:spcAft>
                <a:spcPct val="0"/>
              </a:spcAft>
            </a:pPr>
            <a:r>
              <a:rPr kumimoji="0" lang="en-US" altLang="en-US" sz="1600" b="1" i="0" u="none" strike="noStrike" cap="none" normalizeH="0" baseline="0" dirty="0">
                <a:ln>
                  <a:noFill/>
                </a:ln>
                <a:solidFill>
                  <a:schemeClr val="tx1"/>
                </a:solidFill>
                <a:effectLst/>
                <a:latin typeface="Arial" panose="020B0604020202020204" pitchFamily="34" charset="0"/>
              </a:rPr>
              <a:t>AI Assistant</a:t>
            </a:r>
            <a:r>
              <a:rPr kumimoji="0" lang="en-US" altLang="en-US" sz="1600" b="0" i="0" u="none" strike="noStrike" cap="none" normalizeH="0" baseline="0" dirty="0">
                <a:ln>
                  <a:noFill/>
                </a:ln>
                <a:solidFill>
                  <a:schemeClr val="tx1"/>
                </a:solidFill>
                <a:effectLst/>
                <a:latin typeface="Arial" panose="020B0604020202020204" pitchFamily="34" charset="0"/>
              </a:rPr>
              <a:t> — Natural‑language search for diamond insights</a:t>
            </a:r>
          </a:p>
          <a:p>
            <a:pPr eaLnBrk="0" fontAlgn="base" hangingPunct="0">
              <a:lnSpc>
                <a:spcPct val="150000"/>
              </a:lnSpc>
              <a:spcBef>
                <a:spcPct val="0"/>
              </a:spcBef>
              <a:spcAft>
                <a:spcPct val="0"/>
              </a:spcAft>
            </a:pPr>
            <a:r>
              <a:rPr kumimoji="0" lang="en-US" altLang="en-US" sz="1600" b="1" i="0" u="none" strike="noStrike" cap="none" normalizeH="0" baseline="0" dirty="0">
                <a:ln>
                  <a:noFill/>
                </a:ln>
                <a:solidFill>
                  <a:schemeClr val="tx1"/>
                </a:solidFill>
                <a:effectLst/>
                <a:latin typeface="Arial" panose="020B0604020202020204" pitchFamily="34" charset="0"/>
              </a:rPr>
              <a:t>Interactive Web App</a:t>
            </a:r>
            <a:r>
              <a:rPr kumimoji="0" lang="en-US" altLang="en-US" sz="1600" b="0" i="0" u="none" strike="noStrike" cap="none" normalizeH="0" baseline="0" dirty="0">
                <a:ln>
                  <a:noFill/>
                </a:ln>
                <a:solidFill>
                  <a:schemeClr val="tx1"/>
                </a:solidFill>
                <a:effectLst/>
                <a:latin typeface="Arial" panose="020B0604020202020204" pitchFamily="34" charset="0"/>
              </a:rPr>
              <a:t> — Gradio interface for easy use and deployment</a:t>
            </a:r>
          </a:p>
          <a:p>
            <a:pPr marL="0" indent="0">
              <a:buNone/>
            </a:pPr>
            <a:endParaRPr lang="en-US" dirty="0"/>
          </a:p>
        </p:txBody>
      </p:sp>
    </p:spTree>
    <p:extLst>
      <p:ext uri="{BB962C8B-B14F-4D97-AF65-F5344CB8AC3E}">
        <p14:creationId xmlns:p14="http://schemas.microsoft.com/office/powerpoint/2010/main" val="25970770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0D9FB-B08B-6550-BEBF-B430741924E7}"/>
              </a:ext>
            </a:extLst>
          </p:cNvPr>
          <p:cNvSpPr>
            <a:spLocks noGrp="1"/>
          </p:cNvSpPr>
          <p:nvPr>
            <p:ph type="title"/>
          </p:nvPr>
        </p:nvSpPr>
        <p:spPr>
          <a:xfrm>
            <a:off x="6514676" y="1001716"/>
            <a:ext cx="5587573" cy="1459832"/>
          </a:xfrm>
        </p:spPr>
        <p:txBody>
          <a:bodyPr/>
          <a:lstStyle/>
          <a:p>
            <a:r>
              <a:rPr lang="en-US"/>
              <a:t>Business Problem</a:t>
            </a:r>
            <a:endParaRPr lang="en-US" dirty="0"/>
          </a:p>
        </p:txBody>
      </p:sp>
      <p:sp>
        <p:nvSpPr>
          <p:cNvPr id="6" name="Slide Number Placeholder 5">
            <a:extLst>
              <a:ext uri="{FF2B5EF4-FFF2-40B4-BE49-F238E27FC236}">
                <a16:creationId xmlns:a16="http://schemas.microsoft.com/office/drawing/2014/main" id="{A6597480-562D-362F-4FFD-70F352A11955}"/>
              </a:ext>
            </a:extLst>
          </p:cNvPr>
          <p:cNvSpPr>
            <a:spLocks noGrp="1"/>
          </p:cNvSpPr>
          <p:nvPr>
            <p:ph type="sldNum" sz="quarter" idx="12"/>
          </p:nvPr>
        </p:nvSpPr>
        <p:spPr/>
        <p:txBody>
          <a:bodyPr/>
          <a:lstStyle/>
          <a:p>
            <a:fld id="{CC057153-B650-4DEB-B370-79DDCFDCE934}" type="slidenum">
              <a:rPr lang="en-US" smtClean="0"/>
              <a:t>3</a:t>
            </a:fld>
            <a:endParaRPr lang="en-US" dirty="0"/>
          </a:p>
        </p:txBody>
      </p:sp>
      <p:sp>
        <p:nvSpPr>
          <p:cNvPr id="5" name="Footer Placeholder 4">
            <a:extLst>
              <a:ext uri="{FF2B5EF4-FFF2-40B4-BE49-F238E27FC236}">
                <a16:creationId xmlns:a16="http://schemas.microsoft.com/office/drawing/2014/main" id="{C4E30805-9EDF-DFE1-AE27-78BEC69286BD}"/>
              </a:ext>
            </a:extLst>
          </p:cNvPr>
          <p:cNvSpPr>
            <a:spLocks noGrp="1"/>
          </p:cNvSpPr>
          <p:nvPr>
            <p:ph type="ftr" sz="quarter" idx="11"/>
          </p:nvPr>
        </p:nvSpPr>
        <p:spPr>
          <a:xfrm rot="16200000">
            <a:off x="-2154389" y="2144369"/>
            <a:ext cx="4724033" cy="444282"/>
          </a:xfrm>
        </p:spPr>
        <p:txBody>
          <a:bodyPr/>
          <a:lstStyle/>
          <a:p>
            <a:r>
              <a:rPr lang="en-US">
                <a:ea typeface="Batang"/>
              </a:rPr>
              <a:t>Diamonds Predictor Application</a:t>
            </a:r>
          </a:p>
        </p:txBody>
      </p:sp>
      <p:sp>
        <p:nvSpPr>
          <p:cNvPr id="3" name="Content Placeholder 2">
            <a:extLst>
              <a:ext uri="{FF2B5EF4-FFF2-40B4-BE49-F238E27FC236}">
                <a16:creationId xmlns:a16="http://schemas.microsoft.com/office/drawing/2014/main" id="{79BC7904-BA22-561E-1DE0-8E716FCEA69E}"/>
              </a:ext>
            </a:extLst>
          </p:cNvPr>
          <p:cNvSpPr>
            <a:spLocks noGrp="1"/>
          </p:cNvSpPr>
          <p:nvPr>
            <p:ph sz="quarter" idx="13"/>
          </p:nvPr>
        </p:nvSpPr>
        <p:spPr>
          <a:xfrm>
            <a:off x="6515324" y="2799002"/>
            <a:ext cx="5674011" cy="1471827"/>
          </a:xfrm>
        </p:spPr>
        <p:txBody>
          <a:bodyPr anchor="ctr">
            <a:normAutofit/>
          </a:bodyPr>
          <a:lstStyle/>
          <a:p>
            <a:r>
              <a:rPr lang="en-US">
                <a:ea typeface="+mn-lt"/>
                <a:cs typeface="+mn-lt"/>
              </a:rPr>
              <a:t>How can a diamond retailer accurately price diamonds, assess their quality, and segment customers to improve sales and profitability?</a:t>
            </a:r>
            <a:endParaRPr lang="en-US"/>
          </a:p>
        </p:txBody>
      </p:sp>
      <p:pic>
        <p:nvPicPr>
          <p:cNvPr id="4098" name="Picture 2" descr="The most valuable thing a commodity company can produce in a weak market is  sometimes nothing. De Beers is still investing in the mine's underground  infrastructure while delaying output that could worsen">
            <a:extLst>
              <a:ext uri="{FF2B5EF4-FFF2-40B4-BE49-F238E27FC236}">
                <a16:creationId xmlns:a16="http://schemas.microsoft.com/office/drawing/2014/main" id="{6D396418-40A2-A046-1EB5-746ED25C03B6}"/>
              </a:ext>
            </a:extLst>
          </p:cNvPr>
          <p:cNvPicPr>
            <a:picLocks noChangeAspect="1" noChangeArrowheads="1"/>
          </p:cNvPicPr>
          <p:nvPr/>
        </p:nvPicPr>
        <p:blipFill>
          <a:blip r:embed="rId3">
            <a:alphaModFix amt="85000"/>
            <a:extLst>
              <a:ext uri="{28A0092B-C50C-407E-A947-70E740481C1C}">
                <a14:useLocalDpi xmlns:a14="http://schemas.microsoft.com/office/drawing/2010/main" val="0"/>
              </a:ext>
            </a:extLst>
          </a:blip>
          <a:srcRect/>
          <a:stretch>
            <a:fillRect/>
          </a:stretch>
        </p:blipFill>
        <p:spPr bwMode="auto">
          <a:xfrm>
            <a:off x="1378914" y="0"/>
            <a:ext cx="3839856" cy="68429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51770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96B45-59A7-C589-9ECA-BA4BE7D7D9F3}"/>
              </a:ext>
            </a:extLst>
          </p:cNvPr>
          <p:cNvSpPr>
            <a:spLocks noGrp="1"/>
          </p:cNvSpPr>
          <p:nvPr>
            <p:ph type="title"/>
          </p:nvPr>
        </p:nvSpPr>
        <p:spPr/>
        <p:txBody>
          <a:bodyPr anchor="ctr"/>
          <a:lstStyle/>
          <a:p>
            <a:r>
              <a:rPr lang="en-US"/>
              <a:t>Dataset</a:t>
            </a:r>
            <a:br>
              <a:rPr lang="en-US" dirty="0"/>
            </a:br>
            <a:r>
              <a:rPr lang="en-US"/>
              <a:t>OVERVIEW</a:t>
            </a:r>
            <a:endParaRPr lang="en-US" dirty="0"/>
          </a:p>
        </p:txBody>
      </p:sp>
      <p:sp>
        <p:nvSpPr>
          <p:cNvPr id="7" name="Slide Number Placeholder 6">
            <a:extLst>
              <a:ext uri="{FF2B5EF4-FFF2-40B4-BE49-F238E27FC236}">
                <a16:creationId xmlns:a16="http://schemas.microsoft.com/office/drawing/2014/main" id="{7E547D68-CFC1-8AF4-FE7E-36D912B1B951}"/>
              </a:ext>
            </a:extLst>
          </p:cNvPr>
          <p:cNvSpPr>
            <a:spLocks noGrp="1"/>
          </p:cNvSpPr>
          <p:nvPr>
            <p:ph type="sldNum" sz="quarter" idx="12"/>
          </p:nvPr>
        </p:nvSpPr>
        <p:spPr/>
        <p:txBody>
          <a:bodyPr/>
          <a:lstStyle/>
          <a:p>
            <a:fld id="{CC057153-B650-4DEB-B370-79DDCFDCE934}" type="slidenum">
              <a:rPr lang="en-US" smtClean="0"/>
              <a:t>4</a:t>
            </a:fld>
            <a:endParaRPr lang="en-US" dirty="0"/>
          </a:p>
        </p:txBody>
      </p:sp>
      <p:sp>
        <p:nvSpPr>
          <p:cNvPr id="5" name="Content Placeholder 4">
            <a:extLst>
              <a:ext uri="{FF2B5EF4-FFF2-40B4-BE49-F238E27FC236}">
                <a16:creationId xmlns:a16="http://schemas.microsoft.com/office/drawing/2014/main" id="{FBFE3E85-F977-4917-D2F3-E64C503441F1}"/>
              </a:ext>
            </a:extLst>
          </p:cNvPr>
          <p:cNvSpPr>
            <a:spLocks noGrp="1"/>
          </p:cNvSpPr>
          <p:nvPr>
            <p:ph sz="quarter" idx="13"/>
          </p:nvPr>
        </p:nvSpPr>
        <p:spPr>
          <a:xfrm>
            <a:off x="5185350" y="4549358"/>
            <a:ext cx="6209054" cy="2195057"/>
          </a:xfrm>
        </p:spPr>
        <p:txBody>
          <a:bodyPr/>
          <a:lstStyle/>
          <a:p>
            <a:pPr marL="0" indent="0">
              <a:buNone/>
            </a:pPr>
            <a:r>
              <a:rPr lang="en-US" b="1" dirty="0">
                <a:ea typeface="+mn-lt"/>
                <a:cs typeface="+mn-lt"/>
              </a:rPr>
              <a:t>Source</a:t>
            </a:r>
            <a:r>
              <a:rPr lang="en-US" dirty="0">
                <a:ea typeface="+mn-lt"/>
                <a:cs typeface="+mn-lt"/>
              </a:rPr>
              <a:t>: Kaggle </a:t>
            </a:r>
            <a:endParaRPr lang="en-US" dirty="0"/>
          </a:p>
          <a:p>
            <a:pPr marL="0" indent="0">
              <a:buNone/>
            </a:pPr>
            <a:r>
              <a:rPr lang="en-US" b="1" dirty="0">
                <a:ea typeface="+mn-lt"/>
                <a:cs typeface="+mn-lt"/>
              </a:rPr>
              <a:t>Rows</a:t>
            </a:r>
            <a:r>
              <a:rPr lang="en-US" dirty="0">
                <a:ea typeface="+mn-lt"/>
                <a:cs typeface="+mn-lt"/>
              </a:rPr>
              <a:t>: 53,940 </a:t>
            </a:r>
            <a:endParaRPr lang="en-US" dirty="0"/>
          </a:p>
          <a:p>
            <a:pPr marL="0" indent="0">
              <a:buNone/>
            </a:pPr>
            <a:r>
              <a:rPr lang="en-US" b="1" dirty="0">
                <a:ea typeface="+mn-lt"/>
                <a:cs typeface="+mn-lt"/>
              </a:rPr>
              <a:t>Features</a:t>
            </a:r>
            <a:r>
              <a:rPr lang="en-US" dirty="0">
                <a:ea typeface="+mn-lt"/>
                <a:cs typeface="+mn-lt"/>
              </a:rPr>
              <a:t>: carat, depth, table, x, y, z, price, cut, color, clarity</a:t>
            </a:r>
            <a:endParaRPr lang="en-US" dirty="0"/>
          </a:p>
        </p:txBody>
      </p:sp>
      <p:sp>
        <p:nvSpPr>
          <p:cNvPr id="4" name="Footer Placeholder 4">
            <a:extLst>
              <a:ext uri="{FF2B5EF4-FFF2-40B4-BE49-F238E27FC236}">
                <a16:creationId xmlns:a16="http://schemas.microsoft.com/office/drawing/2014/main" id="{F7F57E9F-98B9-9801-BF65-4B849F02C54F}"/>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graphicFrame>
        <p:nvGraphicFramePr>
          <p:cNvPr id="9" name="Table 8">
            <a:extLst>
              <a:ext uri="{FF2B5EF4-FFF2-40B4-BE49-F238E27FC236}">
                <a16:creationId xmlns:a16="http://schemas.microsoft.com/office/drawing/2014/main" id="{166C743B-A674-660C-ADE3-7A546DA2AA94}"/>
              </a:ext>
            </a:extLst>
          </p:cNvPr>
          <p:cNvGraphicFramePr>
            <a:graphicFrameLocks noGrp="1"/>
          </p:cNvGraphicFramePr>
          <p:nvPr>
            <p:extLst>
              <p:ext uri="{D42A27DB-BD31-4B8C-83A1-F6EECF244321}">
                <p14:modId xmlns:p14="http://schemas.microsoft.com/office/powerpoint/2010/main" val="2193328764"/>
              </p:ext>
            </p:extLst>
          </p:nvPr>
        </p:nvGraphicFramePr>
        <p:xfrm>
          <a:off x="5185350" y="264521"/>
          <a:ext cx="6668398" cy="4564371"/>
        </p:xfrm>
        <a:graphic>
          <a:graphicData uri="http://schemas.openxmlformats.org/drawingml/2006/table">
            <a:tbl>
              <a:tblPr bandRow="1">
                <a:tableStyleId>{69012ECD-51FC-41F1-AA8D-1B2483CD663E}</a:tableStyleId>
              </a:tblPr>
              <a:tblGrid>
                <a:gridCol w="606218">
                  <a:extLst>
                    <a:ext uri="{9D8B030D-6E8A-4147-A177-3AD203B41FA5}">
                      <a16:colId xmlns:a16="http://schemas.microsoft.com/office/drawing/2014/main" val="1669683077"/>
                    </a:ext>
                  </a:extLst>
                </a:gridCol>
                <a:gridCol w="606218">
                  <a:extLst>
                    <a:ext uri="{9D8B030D-6E8A-4147-A177-3AD203B41FA5}">
                      <a16:colId xmlns:a16="http://schemas.microsoft.com/office/drawing/2014/main" val="1781808051"/>
                    </a:ext>
                  </a:extLst>
                </a:gridCol>
                <a:gridCol w="606218">
                  <a:extLst>
                    <a:ext uri="{9D8B030D-6E8A-4147-A177-3AD203B41FA5}">
                      <a16:colId xmlns:a16="http://schemas.microsoft.com/office/drawing/2014/main" val="3993026921"/>
                    </a:ext>
                  </a:extLst>
                </a:gridCol>
                <a:gridCol w="606218">
                  <a:extLst>
                    <a:ext uri="{9D8B030D-6E8A-4147-A177-3AD203B41FA5}">
                      <a16:colId xmlns:a16="http://schemas.microsoft.com/office/drawing/2014/main" val="1612168977"/>
                    </a:ext>
                  </a:extLst>
                </a:gridCol>
                <a:gridCol w="606218">
                  <a:extLst>
                    <a:ext uri="{9D8B030D-6E8A-4147-A177-3AD203B41FA5}">
                      <a16:colId xmlns:a16="http://schemas.microsoft.com/office/drawing/2014/main" val="1657825940"/>
                    </a:ext>
                  </a:extLst>
                </a:gridCol>
                <a:gridCol w="606218">
                  <a:extLst>
                    <a:ext uri="{9D8B030D-6E8A-4147-A177-3AD203B41FA5}">
                      <a16:colId xmlns:a16="http://schemas.microsoft.com/office/drawing/2014/main" val="2427957782"/>
                    </a:ext>
                  </a:extLst>
                </a:gridCol>
                <a:gridCol w="606218">
                  <a:extLst>
                    <a:ext uri="{9D8B030D-6E8A-4147-A177-3AD203B41FA5}">
                      <a16:colId xmlns:a16="http://schemas.microsoft.com/office/drawing/2014/main" val="577591712"/>
                    </a:ext>
                  </a:extLst>
                </a:gridCol>
                <a:gridCol w="606218">
                  <a:extLst>
                    <a:ext uri="{9D8B030D-6E8A-4147-A177-3AD203B41FA5}">
                      <a16:colId xmlns:a16="http://schemas.microsoft.com/office/drawing/2014/main" val="2443616079"/>
                    </a:ext>
                  </a:extLst>
                </a:gridCol>
                <a:gridCol w="606218">
                  <a:extLst>
                    <a:ext uri="{9D8B030D-6E8A-4147-A177-3AD203B41FA5}">
                      <a16:colId xmlns:a16="http://schemas.microsoft.com/office/drawing/2014/main" val="2991605850"/>
                    </a:ext>
                  </a:extLst>
                </a:gridCol>
                <a:gridCol w="606218">
                  <a:extLst>
                    <a:ext uri="{9D8B030D-6E8A-4147-A177-3AD203B41FA5}">
                      <a16:colId xmlns:a16="http://schemas.microsoft.com/office/drawing/2014/main" val="1028027329"/>
                    </a:ext>
                  </a:extLst>
                </a:gridCol>
                <a:gridCol w="606218">
                  <a:extLst>
                    <a:ext uri="{9D8B030D-6E8A-4147-A177-3AD203B41FA5}">
                      <a16:colId xmlns:a16="http://schemas.microsoft.com/office/drawing/2014/main" val="3057149365"/>
                    </a:ext>
                  </a:extLst>
                </a:gridCol>
              </a:tblGrid>
              <a:tr h="454813">
                <a:tc>
                  <a:txBody>
                    <a:bodyPr/>
                    <a:lstStyle/>
                    <a:p>
                      <a:pPr marL="0" marR="0" indent="0" algn="l" rtl="0" fontAlgn="base">
                        <a:buNone/>
                      </a:pPr>
                      <a:r>
                        <a:rPr lang="en-US" sz="1100" b="0" i="0">
                          <a:solidFill>
                            <a:srgbClr val="000000"/>
                          </a:solidFill>
                          <a:effectLst/>
                          <a:latin typeface="Cambria" panose="02040503050406030204" pitchFamily="18" charset="0"/>
                        </a:rPr>
                        <a:t>#</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carat</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cut</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color</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clarity</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depth</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table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price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x</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y</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z</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2691696575"/>
                  </a:ext>
                </a:extLst>
              </a:tr>
              <a:tr h="345170">
                <a:tc>
                  <a:txBody>
                    <a:bodyPr/>
                    <a:lstStyle/>
                    <a:p>
                      <a:pPr marL="0" marR="0" indent="0" algn="l" rtl="0" fontAlgn="base">
                        <a:buNone/>
                      </a:pPr>
                      <a:r>
                        <a:rPr lang="en-US" sz="1100" b="0" i="0">
                          <a:solidFill>
                            <a:srgbClr val="000000"/>
                          </a:solidFill>
                          <a:effectLst/>
                          <a:latin typeface="Cambria" panose="02040503050406030204" pitchFamily="18" charset="0"/>
                        </a:rPr>
                        <a:t>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Ideal</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SI2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326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2.43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756433449"/>
                  </a:ext>
                </a:extLst>
              </a:tr>
              <a:tr h="454813">
                <a:tc>
                  <a:txBody>
                    <a:bodyPr/>
                    <a:lstStyle/>
                    <a:p>
                      <a:pPr marL="0" marR="0" indent="0" algn="l" rtl="0" fontAlgn="base">
                        <a:buNone/>
                      </a:pPr>
                      <a:r>
                        <a:rPr lang="en-US" sz="1100" b="0" i="0">
                          <a:solidFill>
                            <a:srgbClr val="000000"/>
                          </a:solidFill>
                          <a:effectLst/>
                          <a:latin typeface="Cambria" panose="02040503050406030204" pitchFamily="18" charset="0"/>
                        </a:rPr>
                        <a:t>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Premium</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SI1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59.8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326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3.89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3.84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2.31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3322809176"/>
                  </a:ext>
                </a:extLst>
              </a:tr>
              <a:tr h="345170">
                <a:tc>
                  <a:txBody>
                    <a:bodyPr/>
                    <a:lstStyle/>
                    <a:p>
                      <a:pPr marL="0" marR="0" indent="0" algn="l" rtl="0" fontAlgn="base">
                        <a:buNone/>
                      </a:pPr>
                      <a:r>
                        <a:rPr lang="en-US" sz="1100" b="0" i="0">
                          <a:solidFill>
                            <a:srgbClr val="000000"/>
                          </a:solidFill>
                          <a:effectLst/>
                          <a:latin typeface="Cambria" panose="02040503050406030204" pitchFamily="18" charset="0"/>
                        </a:rPr>
                        <a:t>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VS1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56.9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327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2.31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2876947231"/>
                  </a:ext>
                </a:extLst>
              </a:tr>
              <a:tr h="454813">
                <a:tc>
                  <a:txBody>
                    <a:bodyPr/>
                    <a:lstStyle/>
                    <a:p>
                      <a:pPr marL="0" marR="0" indent="0" algn="l" rtl="0" fontAlgn="base">
                        <a:buNone/>
                      </a:pPr>
                      <a:r>
                        <a:rPr lang="en-US" sz="1100" b="0" i="0">
                          <a:solidFill>
                            <a:srgbClr val="000000"/>
                          </a:solidFill>
                          <a:effectLst/>
                          <a:latin typeface="Cambria" panose="02040503050406030204" pitchFamily="18" charset="0"/>
                        </a:rPr>
                        <a:t>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Premium</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I</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VS2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62.4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2.63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1040833495"/>
                  </a:ext>
                </a:extLst>
              </a:tr>
              <a:tr h="345170">
                <a:tc>
                  <a:txBody>
                    <a:bodyPr/>
                    <a:lstStyle/>
                    <a:p>
                      <a:pPr marL="0" marR="0" indent="0" algn="l" rtl="0" fontAlgn="base">
                        <a:buNone/>
                      </a:pPr>
                      <a:r>
                        <a:rPr lang="en-US" sz="1100" b="0" i="0">
                          <a:solidFill>
                            <a:srgbClr val="000000"/>
                          </a:solidFill>
                          <a:effectLst/>
                          <a:latin typeface="Cambria" panose="02040503050406030204" pitchFamily="18" charset="0"/>
                        </a:rPr>
                        <a:t>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0.31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J</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SI2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63.3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4.34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4.35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2.75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821128585"/>
                  </a:ext>
                </a:extLst>
              </a:tr>
              <a:tr h="454813">
                <a:tc>
                  <a:txBody>
                    <a:bodyPr/>
                    <a:lstStyle/>
                    <a:p>
                      <a:pPr marL="0" marR="0" indent="0" algn="l" rtl="0" fontAlgn="base">
                        <a:buNone/>
                      </a:pPr>
                      <a:r>
                        <a:rPr lang="en-US" sz="1100" b="0" i="0">
                          <a:solidFill>
                            <a:srgbClr val="000000"/>
                          </a:solidFill>
                          <a:effectLst/>
                          <a:latin typeface="Cambria" panose="02040503050406030204" pitchFamily="18" charset="0"/>
                        </a:rPr>
                        <a:t>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Very 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J</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VVS2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62.8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2.48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1313891056"/>
                  </a:ext>
                </a:extLst>
              </a:tr>
              <a:tr h="454813">
                <a:tc>
                  <a:txBody>
                    <a:bodyPr/>
                    <a:lstStyle/>
                    <a:p>
                      <a:pPr marL="0" marR="0" indent="0" algn="l" rtl="0" fontAlgn="base">
                        <a:buNone/>
                      </a:pPr>
                      <a:r>
                        <a:rPr lang="en-US" sz="1100" b="0" i="0">
                          <a:solidFill>
                            <a:srgbClr val="000000"/>
                          </a:solidFill>
                          <a:effectLst/>
                          <a:latin typeface="Cambria" panose="02040503050406030204" pitchFamily="18" charset="0"/>
                        </a:rPr>
                        <a:t>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Very 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I</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VVS1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dirty="0">
                          <a:solidFill>
                            <a:srgbClr val="000000"/>
                          </a:solidFill>
                          <a:effectLst/>
                          <a:latin typeface="Cambria" panose="02040503050406030204" pitchFamily="18" charset="0"/>
                        </a:rPr>
                        <a:t>336</a:t>
                      </a:r>
                      <a:r>
                        <a:rPr lang="en-GB" sz="1100" b="0" i="0" dirty="0">
                          <a:solidFill>
                            <a:srgbClr val="000000"/>
                          </a:solidFill>
                          <a:effectLst/>
                          <a:latin typeface="Cambria" panose="02040503050406030204" pitchFamily="18" charset="0"/>
                        </a:rPr>
                        <a:t> </a:t>
                      </a:r>
                      <a:endParaRPr lang="en-GB" sz="900" b="0" i="0" dirty="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2.47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1931321865"/>
                  </a:ext>
                </a:extLst>
              </a:tr>
              <a:tr h="454813">
                <a:tc>
                  <a:txBody>
                    <a:bodyPr/>
                    <a:lstStyle/>
                    <a:p>
                      <a:pPr marL="0" marR="0" indent="0" algn="l" rtl="0" fontAlgn="base">
                        <a:buNone/>
                      </a:pPr>
                      <a:r>
                        <a:rPr lang="en-US" sz="1100" b="0" i="0">
                          <a:solidFill>
                            <a:srgbClr val="000000"/>
                          </a:solidFill>
                          <a:effectLst/>
                          <a:latin typeface="Cambria" panose="02040503050406030204" pitchFamily="18" charset="0"/>
                        </a:rPr>
                        <a:t>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Very 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H</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SI1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4.11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2.53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3281969589"/>
                  </a:ext>
                </a:extLst>
              </a:tr>
              <a:tr h="345170">
                <a:tc>
                  <a:txBody>
                    <a:bodyPr/>
                    <a:lstStyle/>
                    <a:p>
                      <a:pPr marL="0" marR="0" indent="0" algn="l" rtl="0" fontAlgn="base">
                        <a:buNone/>
                      </a:pPr>
                      <a:r>
                        <a:rPr lang="en-US" sz="1100" b="0" i="0">
                          <a:solidFill>
                            <a:srgbClr val="000000"/>
                          </a:solidFill>
                          <a:effectLst/>
                          <a:latin typeface="Cambria" panose="02040503050406030204" pitchFamily="18" charset="0"/>
                        </a:rPr>
                        <a:t>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Fair</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VS2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65.1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3.87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3.78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2.49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3576543992"/>
                  </a:ext>
                </a:extLst>
              </a:tr>
              <a:tr h="454813">
                <a:tc>
                  <a:txBody>
                    <a:bodyPr/>
                    <a:lstStyle/>
                    <a:p>
                      <a:pPr marL="0" marR="0" indent="0" algn="l" rtl="0" fontAlgn="base">
                        <a:buNone/>
                      </a:pPr>
                      <a:r>
                        <a:rPr lang="en-US" sz="1100" b="0" i="0">
                          <a:solidFill>
                            <a:srgbClr val="000000"/>
                          </a:solidFill>
                          <a:effectLst/>
                          <a:latin typeface="Cambria" panose="02040503050406030204" pitchFamily="18" charset="0"/>
                        </a:rPr>
                        <a:t>10</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Very 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H</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VS1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59.4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dirty="0">
                          <a:solidFill>
                            <a:srgbClr val="000000"/>
                          </a:solidFill>
                          <a:effectLst/>
                          <a:latin typeface="Cambria" panose="02040503050406030204" pitchFamily="18" charset="0"/>
                        </a:rPr>
                        <a:t>2.39</a:t>
                      </a:r>
                      <a:r>
                        <a:rPr lang="en-GB" sz="1100" b="0" i="0" dirty="0">
                          <a:solidFill>
                            <a:srgbClr val="000000"/>
                          </a:solidFill>
                          <a:effectLst/>
                          <a:latin typeface="Cambria" panose="02040503050406030204" pitchFamily="18" charset="0"/>
                        </a:rPr>
                        <a:t> </a:t>
                      </a:r>
                      <a:endParaRPr lang="en-GB" sz="900" b="0" i="0" dirty="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3506112119"/>
                  </a:ext>
                </a:extLst>
              </a:tr>
            </a:tbl>
          </a:graphicData>
        </a:graphic>
      </p:graphicFrame>
    </p:spTree>
    <p:extLst>
      <p:ext uri="{BB962C8B-B14F-4D97-AF65-F5344CB8AC3E}">
        <p14:creationId xmlns:p14="http://schemas.microsoft.com/office/powerpoint/2010/main" val="15662912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87972BF2-DA0D-D10F-0173-65EA1655D4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B73FC6-1288-2B8D-A4D7-9ECCAAAEDCC0}"/>
              </a:ext>
            </a:extLst>
          </p:cNvPr>
          <p:cNvSpPr>
            <a:spLocks noGrp="1"/>
          </p:cNvSpPr>
          <p:nvPr>
            <p:ph type="title"/>
          </p:nvPr>
        </p:nvSpPr>
        <p:spPr>
          <a:xfrm>
            <a:off x="430831" y="697233"/>
            <a:ext cx="4439556" cy="2209571"/>
          </a:xfrm>
        </p:spPr>
        <p:txBody>
          <a:bodyPr anchor="ctr"/>
          <a:lstStyle/>
          <a:p>
            <a:r>
              <a:rPr lang="en-US" dirty="0"/>
              <a:t>key eda insights</a:t>
            </a:r>
          </a:p>
        </p:txBody>
      </p:sp>
      <p:sp>
        <p:nvSpPr>
          <p:cNvPr id="7" name="Slide Number Placeholder 6">
            <a:extLst>
              <a:ext uri="{FF2B5EF4-FFF2-40B4-BE49-F238E27FC236}">
                <a16:creationId xmlns:a16="http://schemas.microsoft.com/office/drawing/2014/main" id="{5B5053D0-841E-B0E0-5282-864F9D7B7A24}"/>
              </a:ext>
            </a:extLst>
          </p:cNvPr>
          <p:cNvSpPr>
            <a:spLocks noGrp="1"/>
          </p:cNvSpPr>
          <p:nvPr>
            <p:ph type="sldNum" sz="quarter" idx="12"/>
          </p:nvPr>
        </p:nvSpPr>
        <p:spPr/>
        <p:txBody>
          <a:bodyPr/>
          <a:lstStyle/>
          <a:p>
            <a:fld id="{CC057153-B650-4DEB-B370-79DDCFDCE934}" type="slidenum">
              <a:rPr lang="en-US" smtClean="0"/>
              <a:t>5</a:t>
            </a:fld>
            <a:endParaRPr lang="en-US" dirty="0"/>
          </a:p>
        </p:txBody>
      </p:sp>
      <p:sp>
        <p:nvSpPr>
          <p:cNvPr id="4" name="Footer Placeholder 4">
            <a:extLst>
              <a:ext uri="{FF2B5EF4-FFF2-40B4-BE49-F238E27FC236}">
                <a16:creationId xmlns:a16="http://schemas.microsoft.com/office/drawing/2014/main" id="{4023C0C8-6FA4-A793-81D6-CA117E56EA29}"/>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12" name="Title 1">
            <a:extLst>
              <a:ext uri="{FF2B5EF4-FFF2-40B4-BE49-F238E27FC236}">
                <a16:creationId xmlns:a16="http://schemas.microsoft.com/office/drawing/2014/main" id="{23C917A8-6D08-8EB5-84CE-363E3F8EA666}"/>
              </a:ext>
            </a:extLst>
          </p:cNvPr>
          <p:cNvSpPr txBox="1">
            <a:spLocks/>
          </p:cNvSpPr>
          <p:nvPr/>
        </p:nvSpPr>
        <p:spPr>
          <a:xfrm>
            <a:off x="437535" y="2837046"/>
            <a:ext cx="4436591" cy="282937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7200" b="0" i="0" kern="1200" cap="all" baseline="0">
                <a:solidFill>
                  <a:schemeClr val="bg1"/>
                </a:solidFill>
                <a:latin typeface="+mj-lt"/>
                <a:ea typeface="+mj-ea"/>
                <a:cs typeface="+mj-cs"/>
              </a:defRPr>
            </a:lvl1pPr>
          </a:lstStyle>
          <a:p>
            <a:pPr marL="285750" indent="-285750">
              <a:lnSpc>
                <a:spcPct val="150000"/>
              </a:lnSpc>
              <a:buFont typeface="Arial"/>
              <a:buChar char="•"/>
            </a:pPr>
            <a:r>
              <a:rPr lang="en-US" sz="1600" cap="none" dirty="0">
                <a:solidFill>
                  <a:schemeClr val="tx1"/>
                </a:solidFill>
                <a:latin typeface="+mn-lt"/>
                <a:ea typeface="+mn-lt"/>
                <a:cs typeface="+mn-lt"/>
              </a:rPr>
              <a:t>Strong correlation between carat and price</a:t>
            </a:r>
          </a:p>
          <a:p>
            <a:pPr marL="285750" indent="-285750">
              <a:lnSpc>
                <a:spcPct val="150000"/>
              </a:lnSpc>
              <a:buFont typeface="Arial"/>
              <a:buChar char="•"/>
            </a:pPr>
            <a:r>
              <a:rPr lang="en-US" sz="1600" cap="none" dirty="0">
                <a:solidFill>
                  <a:schemeClr val="tx1"/>
                </a:solidFill>
                <a:latin typeface="+mn-lt"/>
                <a:ea typeface="+mn-lt"/>
                <a:cs typeface="+mn-lt"/>
              </a:rPr>
              <a:t>No missing values</a:t>
            </a:r>
          </a:p>
          <a:p>
            <a:pPr marL="285750" indent="-285750">
              <a:lnSpc>
                <a:spcPct val="150000"/>
              </a:lnSpc>
              <a:buFont typeface="Arial"/>
              <a:buChar char="•"/>
            </a:pPr>
            <a:r>
              <a:rPr lang="en-US" sz="1600" cap="none" dirty="0">
                <a:solidFill>
                  <a:schemeClr val="tx1"/>
                </a:solidFill>
                <a:latin typeface="+mn-lt"/>
                <a:ea typeface="+mn-lt"/>
                <a:cs typeface="+mn-lt"/>
              </a:rPr>
              <a:t>Outliers removed</a:t>
            </a:r>
          </a:p>
          <a:p>
            <a:pPr marL="285750" indent="-285750">
              <a:lnSpc>
                <a:spcPct val="150000"/>
              </a:lnSpc>
              <a:buFont typeface="Arial"/>
              <a:buChar char="•"/>
            </a:pPr>
            <a:r>
              <a:rPr lang="en-US" sz="1600" cap="none" dirty="0">
                <a:solidFill>
                  <a:schemeClr val="tx1"/>
                </a:solidFill>
                <a:latin typeface="+mn-lt"/>
                <a:ea typeface="+mn-lt"/>
                <a:cs typeface="+mn-lt"/>
              </a:rPr>
              <a:t>Clear patterns between cut, color, clarity and price</a:t>
            </a:r>
          </a:p>
          <a:p>
            <a:pPr marL="285750" indent="-285750">
              <a:lnSpc>
                <a:spcPct val="150000"/>
              </a:lnSpc>
              <a:buFont typeface="Arial"/>
              <a:buChar char="•"/>
            </a:pPr>
            <a:r>
              <a:rPr lang="en-US" sz="1600" cap="none" dirty="0">
                <a:solidFill>
                  <a:schemeClr val="tx1"/>
                </a:solidFill>
                <a:latin typeface="+mn-lt"/>
                <a:ea typeface="+mn-lt"/>
                <a:cs typeface="+mn-lt"/>
              </a:rPr>
              <a:t>Sweetviz automated report generated</a:t>
            </a:r>
          </a:p>
          <a:p>
            <a:endParaRPr lang="en-US" sz="1600" dirty="0"/>
          </a:p>
        </p:txBody>
      </p:sp>
      <p:pic>
        <p:nvPicPr>
          <p:cNvPr id="15" name="Content Placeholder 14">
            <a:extLst>
              <a:ext uri="{FF2B5EF4-FFF2-40B4-BE49-F238E27FC236}">
                <a16:creationId xmlns:a16="http://schemas.microsoft.com/office/drawing/2014/main" id="{AC7573E2-9B9B-A722-4F86-6F65A808AC17}"/>
              </a:ext>
            </a:extLst>
          </p:cNvPr>
          <p:cNvPicPr>
            <a:picLocks noGrp="1" noChangeAspect="1"/>
          </p:cNvPicPr>
          <p:nvPr>
            <p:ph sz="quarter" idx="13"/>
          </p:nvPr>
        </p:nvPicPr>
        <p:blipFill>
          <a:blip r:embed="rId3"/>
          <a:stretch>
            <a:fillRect/>
          </a:stretch>
        </p:blipFill>
        <p:spPr>
          <a:xfrm>
            <a:off x="5557350" y="769803"/>
            <a:ext cx="5964394" cy="5308372"/>
          </a:xfrm>
          <a:prstGeom prst="rect">
            <a:avLst/>
          </a:prstGeom>
        </p:spPr>
      </p:pic>
      <p:sp>
        <p:nvSpPr>
          <p:cNvPr id="3" name="Title 1">
            <a:extLst>
              <a:ext uri="{FF2B5EF4-FFF2-40B4-BE49-F238E27FC236}">
                <a16:creationId xmlns:a16="http://schemas.microsoft.com/office/drawing/2014/main" id="{A47C1F28-C8DA-EEE8-F5AA-AE2CC43E7F9C}"/>
              </a:ext>
            </a:extLst>
          </p:cNvPr>
          <p:cNvSpPr txBox="1">
            <a:spLocks/>
          </p:cNvSpPr>
          <p:nvPr/>
        </p:nvSpPr>
        <p:spPr>
          <a:xfrm>
            <a:off x="6096000" y="6220364"/>
            <a:ext cx="4436591" cy="544297"/>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7200" b="0" i="0" kern="1200" cap="all" baseline="0">
                <a:solidFill>
                  <a:schemeClr val="bg1"/>
                </a:solidFill>
                <a:latin typeface="+mj-lt"/>
                <a:ea typeface="+mj-ea"/>
                <a:cs typeface="+mj-cs"/>
              </a:defRPr>
            </a:lvl1pPr>
          </a:lstStyle>
          <a:p>
            <a:endParaRPr lang="en-US" sz="1600" dirty="0"/>
          </a:p>
        </p:txBody>
      </p:sp>
      <p:sp>
        <p:nvSpPr>
          <p:cNvPr id="6" name="TextBox 5">
            <a:extLst>
              <a:ext uri="{FF2B5EF4-FFF2-40B4-BE49-F238E27FC236}">
                <a16:creationId xmlns:a16="http://schemas.microsoft.com/office/drawing/2014/main" id="{C2DCEC20-F382-2FB2-DD3C-A99967E901E5}"/>
              </a:ext>
            </a:extLst>
          </p:cNvPr>
          <p:cNvSpPr txBox="1"/>
          <p:nvPr/>
        </p:nvSpPr>
        <p:spPr>
          <a:xfrm>
            <a:off x="4870388" y="6169346"/>
            <a:ext cx="7321610" cy="338554"/>
          </a:xfrm>
          <a:prstGeom prst="rect">
            <a:avLst/>
          </a:prstGeom>
          <a:noFill/>
        </p:spPr>
        <p:txBody>
          <a:bodyPr wrap="square">
            <a:spAutoFit/>
          </a:bodyPr>
          <a:lstStyle/>
          <a:p>
            <a:pPr algn="ctr"/>
            <a:r>
              <a:rPr lang="en-US" sz="1600" dirty="0"/>
              <a:t>High correlation means the model can learn strong predictive patterns</a:t>
            </a:r>
          </a:p>
        </p:txBody>
      </p:sp>
    </p:spTree>
    <p:extLst>
      <p:ext uri="{BB962C8B-B14F-4D97-AF65-F5344CB8AC3E}">
        <p14:creationId xmlns:p14="http://schemas.microsoft.com/office/powerpoint/2010/main" val="10960975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5782E-E94C-F7FF-5DDC-7C1DFF856F9E}"/>
              </a:ext>
            </a:extLst>
          </p:cNvPr>
          <p:cNvSpPr>
            <a:spLocks noGrp="1"/>
          </p:cNvSpPr>
          <p:nvPr>
            <p:ph type="title"/>
          </p:nvPr>
        </p:nvSpPr>
        <p:spPr>
          <a:xfrm>
            <a:off x="598328" y="4870038"/>
            <a:ext cx="4364200" cy="1113476"/>
          </a:xfrm>
        </p:spPr>
        <p:txBody>
          <a:bodyPr/>
          <a:lstStyle/>
          <a:p>
            <a:r>
              <a:rPr lang="en-US" dirty="0">
                <a:ea typeface="+mj-lt"/>
                <a:cs typeface="+mj-lt"/>
              </a:rPr>
              <a:t>Preprocessing Pipeline</a:t>
            </a:r>
            <a:endParaRPr lang="en-US" dirty="0"/>
          </a:p>
        </p:txBody>
      </p:sp>
      <p:sp>
        <p:nvSpPr>
          <p:cNvPr id="6" name="Slide Number Placeholder 5">
            <a:extLst>
              <a:ext uri="{FF2B5EF4-FFF2-40B4-BE49-F238E27FC236}">
                <a16:creationId xmlns:a16="http://schemas.microsoft.com/office/drawing/2014/main" id="{0A48C2CB-6E2E-DF1B-8A65-092437051456}"/>
              </a:ext>
            </a:extLst>
          </p:cNvPr>
          <p:cNvSpPr>
            <a:spLocks noGrp="1"/>
          </p:cNvSpPr>
          <p:nvPr>
            <p:ph type="sldNum" sz="quarter" idx="12"/>
          </p:nvPr>
        </p:nvSpPr>
        <p:spPr/>
        <p:txBody>
          <a:bodyPr/>
          <a:lstStyle/>
          <a:p>
            <a:fld id="{CC057153-B650-4DEB-B370-79DDCFDCE934}" type="slidenum">
              <a:rPr lang="en-US" smtClean="0"/>
              <a:t>6</a:t>
            </a:fld>
            <a:endParaRPr lang="en-US" dirty="0"/>
          </a:p>
        </p:txBody>
      </p:sp>
      <p:pic>
        <p:nvPicPr>
          <p:cNvPr id="8" name="Picture Placeholder 7" descr="A shadow of a plant on a wall">
            <a:extLst>
              <a:ext uri="{FF2B5EF4-FFF2-40B4-BE49-F238E27FC236}">
                <a16:creationId xmlns:a16="http://schemas.microsoft.com/office/drawing/2014/main" id="{C966E8A7-13DF-B17F-9AC5-30759C47C1A2}"/>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a:ext>
            </a:extLst>
          </a:blip>
          <a:srcRect/>
          <a:stretch/>
        </p:blipFill>
        <p:spPr>
          <a:xfrm>
            <a:off x="598327" y="0"/>
            <a:ext cx="11593671" cy="4314867"/>
          </a:xfrm>
        </p:spPr>
      </p:pic>
      <p:sp>
        <p:nvSpPr>
          <p:cNvPr id="3" name="Content Placeholder 2">
            <a:extLst>
              <a:ext uri="{FF2B5EF4-FFF2-40B4-BE49-F238E27FC236}">
                <a16:creationId xmlns:a16="http://schemas.microsoft.com/office/drawing/2014/main" id="{E1115141-87C9-23DF-ECBC-B828494C9F1E}"/>
              </a:ext>
            </a:extLst>
          </p:cNvPr>
          <p:cNvSpPr>
            <a:spLocks noGrp="1"/>
          </p:cNvSpPr>
          <p:nvPr>
            <p:ph sz="quarter" idx="14"/>
          </p:nvPr>
        </p:nvSpPr>
        <p:spPr>
          <a:xfrm>
            <a:off x="5233126" y="4318495"/>
            <a:ext cx="6854796" cy="1113477"/>
          </a:xfrm>
        </p:spPr>
        <p:txBody>
          <a:bodyPr vert="horz" lIns="91440" tIns="45720" rIns="91440" bIns="45720" rtlCol="0" anchor="t">
            <a:noAutofit/>
          </a:bodyPr>
          <a:lstStyle/>
          <a:p>
            <a:pPr marL="285750" indent="-285750">
              <a:lnSpc>
                <a:spcPct val="150000"/>
              </a:lnSpc>
              <a:buFont typeface="Arial"/>
              <a:buChar char="•"/>
            </a:pPr>
            <a:r>
              <a:rPr lang="en-US" dirty="0">
                <a:ea typeface="+mn-lt"/>
                <a:cs typeface="+mn-lt"/>
              </a:rPr>
              <a:t>Removed duplicates</a:t>
            </a:r>
            <a:endParaRPr lang="en-US" dirty="0"/>
          </a:p>
          <a:p>
            <a:pPr marL="285750" indent="-285750">
              <a:lnSpc>
                <a:spcPct val="150000"/>
              </a:lnSpc>
              <a:buFont typeface="Arial"/>
              <a:buChar char="•"/>
            </a:pPr>
            <a:r>
              <a:rPr lang="en-US" dirty="0">
                <a:ea typeface="+mn-lt"/>
                <a:cs typeface="+mn-lt"/>
              </a:rPr>
              <a:t>Removed invalid rows</a:t>
            </a:r>
            <a:endParaRPr lang="en-US" dirty="0"/>
          </a:p>
          <a:p>
            <a:pPr marL="285750" indent="-285750">
              <a:lnSpc>
                <a:spcPct val="150000"/>
              </a:lnSpc>
              <a:buFont typeface="Arial"/>
              <a:buChar char="•"/>
            </a:pPr>
            <a:r>
              <a:rPr lang="en-US" dirty="0">
                <a:ea typeface="+mn-lt"/>
                <a:cs typeface="+mn-lt"/>
              </a:rPr>
              <a:t>One‑Hot Encoding – </a:t>
            </a:r>
            <a:r>
              <a:rPr lang="en-US" i="1" dirty="0">
                <a:ea typeface="+mn-lt"/>
                <a:cs typeface="+mn-lt"/>
              </a:rPr>
              <a:t>Text categories need numeric encoding</a:t>
            </a:r>
            <a:endParaRPr lang="en-US" dirty="0"/>
          </a:p>
          <a:p>
            <a:pPr marL="285750" indent="-285750">
              <a:lnSpc>
                <a:spcPct val="150000"/>
              </a:lnSpc>
              <a:buFont typeface="Arial"/>
              <a:buChar char="•"/>
            </a:pPr>
            <a:r>
              <a:rPr lang="en-US" dirty="0">
                <a:ea typeface="+mn-lt"/>
                <a:cs typeface="+mn-lt"/>
              </a:rPr>
              <a:t>Standard Scaling – </a:t>
            </a:r>
            <a:r>
              <a:rPr lang="en-US" i="1" dirty="0">
                <a:ea typeface="+mn-lt"/>
                <a:cs typeface="+mn-lt"/>
              </a:rPr>
              <a:t>To prevent large values from dominating training. </a:t>
            </a:r>
            <a:endParaRPr lang="en-US" dirty="0"/>
          </a:p>
          <a:p>
            <a:pPr marL="285750" indent="-285750">
              <a:lnSpc>
                <a:spcPct val="150000"/>
              </a:lnSpc>
              <a:buFont typeface="Arial"/>
              <a:buChar char="•"/>
            </a:pPr>
            <a:r>
              <a:rPr lang="en-US" dirty="0">
                <a:ea typeface="+mn-lt"/>
                <a:cs typeface="+mn-lt"/>
              </a:rPr>
              <a:t>Train/Test split</a:t>
            </a:r>
            <a:endParaRPr lang="en-US" dirty="0"/>
          </a:p>
          <a:p>
            <a:pPr marL="0" indent="0">
              <a:buNone/>
            </a:pPr>
            <a:endParaRPr lang="en-US" dirty="0"/>
          </a:p>
        </p:txBody>
      </p:sp>
      <p:sp>
        <p:nvSpPr>
          <p:cNvPr id="7" name="Footer Placeholder 4">
            <a:extLst>
              <a:ext uri="{FF2B5EF4-FFF2-40B4-BE49-F238E27FC236}">
                <a16:creationId xmlns:a16="http://schemas.microsoft.com/office/drawing/2014/main" id="{B5695A98-CBDD-2C59-EDC8-F9A16D0F16F9}"/>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9" name="AutoShape 2">
            <a:extLst>
              <a:ext uri="{FF2B5EF4-FFF2-40B4-BE49-F238E27FC236}">
                <a16:creationId xmlns:a16="http://schemas.microsoft.com/office/drawing/2014/main" id="{EE136D28-E330-BCF3-E43C-8352B234E022}"/>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9" name="Picture 18">
            <a:extLst>
              <a:ext uri="{FF2B5EF4-FFF2-40B4-BE49-F238E27FC236}">
                <a16:creationId xmlns:a16="http://schemas.microsoft.com/office/drawing/2014/main" id="{51C79E98-A38B-D910-550E-59D8EBA3764D}"/>
              </a:ext>
            </a:extLst>
          </p:cNvPr>
          <p:cNvPicPr>
            <a:picLocks noChangeAspect="1"/>
          </p:cNvPicPr>
          <p:nvPr/>
        </p:nvPicPr>
        <p:blipFill>
          <a:blip r:embed="rId4">
            <a:alphaModFix amt="85000"/>
          </a:blip>
          <a:stretch>
            <a:fillRect/>
          </a:stretch>
        </p:blipFill>
        <p:spPr>
          <a:xfrm>
            <a:off x="598326" y="-2763"/>
            <a:ext cx="11593671" cy="4314867"/>
          </a:xfrm>
          <a:prstGeom prst="rect">
            <a:avLst/>
          </a:prstGeom>
        </p:spPr>
      </p:pic>
    </p:spTree>
    <p:extLst>
      <p:ext uri="{BB962C8B-B14F-4D97-AF65-F5344CB8AC3E}">
        <p14:creationId xmlns:p14="http://schemas.microsoft.com/office/powerpoint/2010/main" val="5990296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C32F8-E21D-68DC-2A6B-6A44F01175C0}"/>
              </a:ext>
            </a:extLst>
          </p:cNvPr>
          <p:cNvSpPr>
            <a:spLocks noGrp="1"/>
          </p:cNvSpPr>
          <p:nvPr>
            <p:ph type="title"/>
          </p:nvPr>
        </p:nvSpPr>
        <p:spPr>
          <a:xfrm>
            <a:off x="634030" y="488759"/>
            <a:ext cx="10923934" cy="1127756"/>
          </a:xfrm>
        </p:spPr>
        <p:txBody>
          <a:bodyPr>
            <a:normAutofit fontScale="90000"/>
          </a:bodyPr>
          <a:lstStyle/>
          <a:p>
            <a:r>
              <a:rPr lang="en-US" dirty="0">
                <a:ea typeface="+mj-lt"/>
                <a:cs typeface="+mj-lt"/>
              </a:rPr>
              <a:t>ANN Regression Model (Price Prediction)</a:t>
            </a:r>
            <a:endParaRPr lang="en-US" dirty="0"/>
          </a:p>
        </p:txBody>
      </p:sp>
      <p:sp>
        <p:nvSpPr>
          <p:cNvPr id="3" name="Text Placeholder 2">
            <a:extLst>
              <a:ext uri="{FF2B5EF4-FFF2-40B4-BE49-F238E27FC236}">
                <a16:creationId xmlns:a16="http://schemas.microsoft.com/office/drawing/2014/main" id="{E435B5EE-EC32-8941-B9F3-74604A298061}"/>
              </a:ext>
            </a:extLst>
          </p:cNvPr>
          <p:cNvSpPr>
            <a:spLocks noGrp="1"/>
          </p:cNvSpPr>
          <p:nvPr>
            <p:ph type="body" sz="quarter" idx="13"/>
          </p:nvPr>
        </p:nvSpPr>
        <p:spPr>
          <a:xfrm>
            <a:off x="629838" y="1350124"/>
            <a:ext cx="5266090" cy="5507514"/>
          </a:xfrm>
        </p:spPr>
        <p:txBody>
          <a:bodyPr vert="horz" lIns="91440" tIns="45720" rIns="91440" bIns="45720" rtlCol="0" anchor="t">
            <a:normAutofit fontScale="92500" lnSpcReduction="10000"/>
          </a:bodyPr>
          <a:lstStyle/>
          <a:p>
            <a:pPr>
              <a:buNone/>
            </a:pPr>
            <a:r>
              <a:rPr lang="en-US" sz="1700" b="1" dirty="0">
                <a:ea typeface="+mn-lt"/>
                <a:cs typeface="+mn-lt"/>
              </a:rPr>
              <a:t>Architecture:</a:t>
            </a:r>
          </a:p>
          <a:p>
            <a:pPr>
              <a:buFont typeface="Arial"/>
              <a:buChar char="•"/>
            </a:pPr>
            <a:r>
              <a:rPr lang="en-US" dirty="0">
                <a:ea typeface="+mn-lt"/>
                <a:cs typeface="+mn-lt"/>
              </a:rPr>
              <a:t>Dense(64, ReLU)</a:t>
            </a:r>
          </a:p>
          <a:p>
            <a:pPr>
              <a:buFont typeface="Arial"/>
              <a:buChar char="•"/>
            </a:pPr>
            <a:r>
              <a:rPr lang="en-US" dirty="0">
                <a:ea typeface="+mn-lt"/>
                <a:cs typeface="+mn-lt"/>
              </a:rPr>
              <a:t>Dense(32, ReLU)</a:t>
            </a:r>
          </a:p>
          <a:p>
            <a:pPr>
              <a:buFont typeface="Arial"/>
              <a:buChar char="•"/>
            </a:pPr>
            <a:r>
              <a:rPr lang="en-US" dirty="0">
                <a:ea typeface="+mn-lt"/>
                <a:cs typeface="+mn-lt"/>
              </a:rPr>
              <a:t>Dense(1, linear)</a:t>
            </a:r>
          </a:p>
          <a:p>
            <a:pPr marL="0" indent="0">
              <a:buNone/>
            </a:pPr>
            <a:r>
              <a:rPr lang="en-US" sz="1700" b="1" dirty="0">
                <a:ea typeface="+mn-lt"/>
                <a:cs typeface="+mn-lt"/>
              </a:rPr>
              <a:t>Metrics: </a:t>
            </a:r>
          </a:p>
          <a:p>
            <a:pPr>
              <a:lnSpc>
                <a:spcPct val="150000"/>
              </a:lnSpc>
              <a:buFont typeface="Arial"/>
              <a:buChar char="•"/>
            </a:pPr>
            <a:r>
              <a:rPr lang="en-US" dirty="0">
                <a:ea typeface="+mn-lt"/>
                <a:cs typeface="+mn-lt"/>
              </a:rPr>
              <a:t>MAE = Mean Absolute Error </a:t>
            </a:r>
          </a:p>
          <a:p>
            <a:pPr marL="228600" lvl="1" indent="0">
              <a:lnSpc>
                <a:spcPct val="150000"/>
              </a:lnSpc>
              <a:buNone/>
            </a:pPr>
            <a:r>
              <a:rPr lang="en-US" i="1" dirty="0">
                <a:ea typeface="+mn-lt"/>
                <a:cs typeface="+mn-lt"/>
              </a:rPr>
              <a:t>	</a:t>
            </a:r>
            <a:r>
              <a:rPr lang="en-US" sz="1400" i="1" dirty="0">
                <a:ea typeface="+mn-lt"/>
                <a:cs typeface="+mn-lt"/>
              </a:rPr>
              <a:t>Average dollar error of the predictions</a:t>
            </a:r>
            <a:endParaRPr lang="en-US" i="1" dirty="0">
              <a:ea typeface="+mn-lt"/>
              <a:cs typeface="+mn-lt"/>
            </a:endParaRPr>
          </a:p>
          <a:p>
            <a:pPr>
              <a:lnSpc>
                <a:spcPct val="150000"/>
              </a:lnSpc>
              <a:buFont typeface="Arial"/>
              <a:buChar char="•"/>
            </a:pPr>
            <a:r>
              <a:rPr lang="en-US" dirty="0">
                <a:ea typeface="+mn-lt"/>
                <a:cs typeface="+mn-lt"/>
              </a:rPr>
              <a:t>MSE = Mean Squared Error </a:t>
            </a:r>
          </a:p>
          <a:p>
            <a:pPr marL="0" indent="0">
              <a:lnSpc>
                <a:spcPct val="150000"/>
              </a:lnSpc>
              <a:buNone/>
            </a:pPr>
            <a:r>
              <a:rPr lang="en-US" i="1" dirty="0">
                <a:ea typeface="+mn-lt"/>
                <a:cs typeface="+mn-lt"/>
              </a:rPr>
              <a:t>	</a:t>
            </a:r>
            <a:r>
              <a:rPr lang="en-US" sz="1400" i="1" dirty="0">
                <a:ea typeface="+mn-lt"/>
                <a:cs typeface="+mn-lt"/>
              </a:rPr>
              <a:t>Penalizes big mistake harshly</a:t>
            </a:r>
            <a:endParaRPr lang="en-US" i="1" dirty="0">
              <a:ea typeface="+mn-lt"/>
              <a:cs typeface="+mn-lt"/>
            </a:endParaRPr>
          </a:p>
          <a:p>
            <a:pPr>
              <a:lnSpc>
                <a:spcPct val="150000"/>
              </a:lnSpc>
              <a:buFont typeface="Arial"/>
              <a:buChar char="•"/>
            </a:pPr>
            <a:r>
              <a:rPr lang="en-US" dirty="0">
                <a:ea typeface="+mn-lt"/>
                <a:cs typeface="+mn-lt"/>
              </a:rPr>
              <a:t>RMSE = Root Mean Squared Error </a:t>
            </a:r>
          </a:p>
          <a:p>
            <a:pPr marL="457200" lvl="2" indent="0">
              <a:lnSpc>
                <a:spcPct val="150000"/>
              </a:lnSpc>
              <a:buNone/>
            </a:pPr>
            <a:r>
              <a:rPr lang="en-US" dirty="0"/>
              <a:t>	</a:t>
            </a:r>
            <a:r>
              <a:rPr lang="en-US" sz="1400" i="1" dirty="0"/>
              <a:t>How far predictions are from actual prices</a:t>
            </a:r>
            <a:endParaRPr lang="en-US" i="1" dirty="0">
              <a:ea typeface="+mn-lt"/>
              <a:cs typeface="+mn-lt"/>
            </a:endParaRPr>
          </a:p>
          <a:p>
            <a:pPr>
              <a:lnSpc>
                <a:spcPct val="150000"/>
              </a:lnSpc>
              <a:buFont typeface="Arial"/>
              <a:buChar char="•"/>
            </a:pPr>
            <a:r>
              <a:rPr lang="en-US" dirty="0">
                <a:ea typeface="+mn-lt"/>
                <a:cs typeface="+mn-lt"/>
              </a:rPr>
              <a:t>R² = Coefficient of Determination (R-Squared)</a:t>
            </a:r>
          </a:p>
          <a:p>
            <a:pPr marL="0" indent="0">
              <a:lnSpc>
                <a:spcPct val="150000"/>
              </a:lnSpc>
              <a:buNone/>
            </a:pPr>
            <a:r>
              <a:rPr lang="en-US" i="1" dirty="0">
                <a:ea typeface="+mn-lt"/>
                <a:cs typeface="+mn-lt"/>
              </a:rPr>
              <a:t>	</a:t>
            </a:r>
            <a:r>
              <a:rPr lang="en-US" sz="1400" i="1" dirty="0">
                <a:ea typeface="+mn-lt"/>
                <a:cs typeface="+mn-lt"/>
              </a:rPr>
              <a:t>How much price variation model explains</a:t>
            </a:r>
            <a:endParaRPr lang="en-US" i="1" dirty="0">
              <a:ea typeface="+mn-lt"/>
              <a:cs typeface="+mn-lt"/>
            </a:endParaRPr>
          </a:p>
          <a:p>
            <a:pPr marL="0" indent="0">
              <a:buNone/>
            </a:pPr>
            <a:endParaRPr lang="en-US" dirty="0"/>
          </a:p>
          <a:p>
            <a:pPr marL="0" indent="0">
              <a:buNone/>
            </a:pPr>
            <a:endParaRPr lang="en-US" dirty="0"/>
          </a:p>
        </p:txBody>
      </p:sp>
      <p:sp>
        <p:nvSpPr>
          <p:cNvPr id="7" name="Slide Number Placeholder 6">
            <a:extLst>
              <a:ext uri="{FF2B5EF4-FFF2-40B4-BE49-F238E27FC236}">
                <a16:creationId xmlns:a16="http://schemas.microsoft.com/office/drawing/2014/main" id="{C40C3E63-211A-BA72-7F7D-8870F352C3CA}"/>
              </a:ext>
            </a:extLst>
          </p:cNvPr>
          <p:cNvSpPr>
            <a:spLocks noGrp="1"/>
          </p:cNvSpPr>
          <p:nvPr>
            <p:ph type="sldNum" sz="quarter" idx="12"/>
          </p:nvPr>
        </p:nvSpPr>
        <p:spPr/>
        <p:txBody>
          <a:bodyPr/>
          <a:lstStyle/>
          <a:p>
            <a:fld id="{CC057153-B650-4DEB-B370-79DDCFDCE934}" type="slidenum">
              <a:rPr lang="en-US" smtClean="0"/>
              <a:t>7</a:t>
            </a:fld>
            <a:endParaRPr lang="en-US" dirty="0"/>
          </a:p>
        </p:txBody>
      </p:sp>
      <p:sp>
        <p:nvSpPr>
          <p:cNvPr id="8" name="Footer Placeholder 4">
            <a:extLst>
              <a:ext uri="{FF2B5EF4-FFF2-40B4-BE49-F238E27FC236}">
                <a16:creationId xmlns:a16="http://schemas.microsoft.com/office/drawing/2014/main" id="{E55DB905-0BCB-8F60-15DF-81994E665322}"/>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pic>
        <p:nvPicPr>
          <p:cNvPr id="9" name="Picture 8">
            <a:extLst>
              <a:ext uri="{FF2B5EF4-FFF2-40B4-BE49-F238E27FC236}">
                <a16:creationId xmlns:a16="http://schemas.microsoft.com/office/drawing/2014/main" id="{AD9201FA-2B43-725A-3954-91B99A06CBD6}"/>
              </a:ext>
            </a:extLst>
          </p:cNvPr>
          <p:cNvPicPr>
            <a:picLocks noChangeAspect="1"/>
          </p:cNvPicPr>
          <p:nvPr/>
        </p:nvPicPr>
        <p:blipFill>
          <a:blip r:embed="rId3"/>
          <a:stretch>
            <a:fillRect/>
          </a:stretch>
        </p:blipFill>
        <p:spPr>
          <a:xfrm>
            <a:off x="6095997" y="1350124"/>
            <a:ext cx="5913212" cy="3803197"/>
          </a:xfrm>
          <a:prstGeom prst="rect">
            <a:avLst/>
          </a:prstGeom>
        </p:spPr>
      </p:pic>
      <p:sp>
        <p:nvSpPr>
          <p:cNvPr id="4" name="Text Placeholder 2">
            <a:extLst>
              <a:ext uri="{FF2B5EF4-FFF2-40B4-BE49-F238E27FC236}">
                <a16:creationId xmlns:a16="http://schemas.microsoft.com/office/drawing/2014/main" id="{DA621B30-0138-A1DA-AFC1-82294F702D76}"/>
              </a:ext>
            </a:extLst>
          </p:cNvPr>
          <p:cNvSpPr txBox="1">
            <a:spLocks/>
          </p:cNvSpPr>
          <p:nvPr/>
        </p:nvSpPr>
        <p:spPr>
          <a:xfrm>
            <a:off x="6095997" y="5279522"/>
            <a:ext cx="5913212" cy="456707"/>
          </a:xfrm>
          <a:prstGeom prst="rect">
            <a:avLst/>
          </a:prstGeom>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600" b="0" i="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1400" i="1" dirty="0"/>
              <a:t>Generalized Well ; No Overfitting or Underfitting</a:t>
            </a:r>
          </a:p>
        </p:txBody>
      </p:sp>
    </p:spTree>
    <p:extLst>
      <p:ext uri="{BB962C8B-B14F-4D97-AF65-F5344CB8AC3E}">
        <p14:creationId xmlns:p14="http://schemas.microsoft.com/office/powerpoint/2010/main" val="21687357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A18913DE-F140-3A2A-D9B6-319DE239F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B246E7-9AF6-7D73-A5B5-500DEFE9FBF3}"/>
              </a:ext>
            </a:extLst>
          </p:cNvPr>
          <p:cNvSpPr>
            <a:spLocks noGrp="1"/>
          </p:cNvSpPr>
          <p:nvPr>
            <p:ph type="title"/>
          </p:nvPr>
        </p:nvSpPr>
        <p:spPr>
          <a:xfrm>
            <a:off x="429209" y="1001715"/>
            <a:ext cx="11762791" cy="1127756"/>
          </a:xfrm>
        </p:spPr>
        <p:txBody>
          <a:bodyPr>
            <a:normAutofit/>
          </a:bodyPr>
          <a:lstStyle/>
          <a:p>
            <a:r>
              <a:rPr lang="en-US" sz="3500" dirty="0">
                <a:ea typeface="+mj-lt"/>
                <a:cs typeface="+mj-lt"/>
              </a:rPr>
              <a:t>ANN classification Model (clarity Prediction)</a:t>
            </a:r>
            <a:endParaRPr lang="en-US" sz="3500" dirty="0"/>
          </a:p>
        </p:txBody>
      </p:sp>
      <p:sp>
        <p:nvSpPr>
          <p:cNvPr id="3" name="Text Placeholder 2">
            <a:extLst>
              <a:ext uri="{FF2B5EF4-FFF2-40B4-BE49-F238E27FC236}">
                <a16:creationId xmlns:a16="http://schemas.microsoft.com/office/drawing/2014/main" id="{2D11BAFB-1FD6-093A-BA4D-E7FF64B63F86}"/>
              </a:ext>
            </a:extLst>
          </p:cNvPr>
          <p:cNvSpPr>
            <a:spLocks noGrp="1"/>
          </p:cNvSpPr>
          <p:nvPr>
            <p:ph type="body" sz="quarter" idx="13"/>
          </p:nvPr>
        </p:nvSpPr>
        <p:spPr>
          <a:xfrm>
            <a:off x="429209" y="1684157"/>
            <a:ext cx="5266090" cy="5173843"/>
          </a:xfrm>
        </p:spPr>
        <p:txBody>
          <a:bodyPr vert="horz" lIns="91440" tIns="45720" rIns="91440" bIns="45720" rtlCol="0" anchor="t">
            <a:normAutofit/>
          </a:bodyPr>
          <a:lstStyle/>
          <a:p>
            <a:pPr>
              <a:buNone/>
            </a:pPr>
            <a:r>
              <a:rPr lang="en-US" b="1" dirty="0">
                <a:ea typeface="+mn-lt"/>
                <a:cs typeface="+mn-lt"/>
              </a:rPr>
              <a:t>Architecture:</a:t>
            </a:r>
          </a:p>
          <a:p>
            <a:pPr>
              <a:buFont typeface="Arial"/>
              <a:buChar char="•"/>
            </a:pPr>
            <a:r>
              <a:rPr lang="en-US" dirty="0">
                <a:ea typeface="+mn-lt"/>
                <a:cs typeface="+mn-lt"/>
              </a:rPr>
              <a:t>Dense(64, ReLU)</a:t>
            </a:r>
          </a:p>
          <a:p>
            <a:pPr>
              <a:buFont typeface="Arial"/>
              <a:buChar char="•"/>
            </a:pPr>
            <a:r>
              <a:rPr lang="en-US" dirty="0">
                <a:ea typeface="+mn-lt"/>
                <a:cs typeface="+mn-lt"/>
              </a:rPr>
              <a:t>Dense(32, ReLU)</a:t>
            </a:r>
          </a:p>
          <a:p>
            <a:pPr>
              <a:buFont typeface="Arial"/>
              <a:buChar char="•"/>
            </a:pPr>
            <a:r>
              <a:rPr lang="en-US" dirty="0">
                <a:ea typeface="+mn-lt"/>
                <a:cs typeface="+mn-lt"/>
              </a:rPr>
              <a:t>Dense(8, softmax)</a:t>
            </a:r>
          </a:p>
          <a:p>
            <a:pPr marL="0" indent="0">
              <a:buNone/>
            </a:pPr>
            <a:r>
              <a:rPr lang="en-US" b="1" dirty="0">
                <a:ea typeface="+mn-lt"/>
                <a:cs typeface="+mn-lt"/>
              </a:rPr>
              <a:t>Metrics: </a:t>
            </a:r>
          </a:p>
          <a:p>
            <a:pPr>
              <a:lnSpc>
                <a:spcPct val="100000"/>
              </a:lnSpc>
              <a:buFont typeface="Arial"/>
              <a:buChar char="•"/>
            </a:pPr>
            <a:r>
              <a:rPr lang="en-US" dirty="0">
                <a:ea typeface="+mn-lt"/>
                <a:cs typeface="+mn-lt"/>
              </a:rPr>
              <a:t>Accuracy</a:t>
            </a:r>
          </a:p>
          <a:p>
            <a:pPr marL="0" indent="0">
              <a:lnSpc>
                <a:spcPct val="100000"/>
              </a:lnSpc>
              <a:buNone/>
            </a:pPr>
            <a:r>
              <a:rPr lang="en-US" i="1" dirty="0">
                <a:ea typeface="+mn-lt"/>
                <a:cs typeface="+mn-lt"/>
              </a:rPr>
              <a:t>	</a:t>
            </a:r>
            <a:r>
              <a:rPr lang="en-US" sz="1400" i="1" dirty="0">
                <a:ea typeface="+mn-lt"/>
                <a:cs typeface="+mn-lt"/>
              </a:rPr>
              <a:t>Percentage of correct predictions </a:t>
            </a:r>
            <a:endParaRPr lang="en-US" i="1" dirty="0">
              <a:ea typeface="+mn-lt"/>
              <a:cs typeface="+mn-lt"/>
            </a:endParaRPr>
          </a:p>
          <a:p>
            <a:pPr>
              <a:lnSpc>
                <a:spcPct val="100000"/>
              </a:lnSpc>
              <a:buFont typeface="Arial"/>
              <a:buChar char="•"/>
            </a:pPr>
            <a:r>
              <a:rPr lang="en-US" dirty="0">
                <a:ea typeface="+mn-lt"/>
                <a:cs typeface="+mn-lt"/>
              </a:rPr>
              <a:t>Precision</a:t>
            </a:r>
          </a:p>
          <a:p>
            <a:pPr marL="0" indent="0">
              <a:lnSpc>
                <a:spcPct val="100000"/>
              </a:lnSpc>
              <a:buNone/>
            </a:pPr>
            <a:r>
              <a:rPr lang="en-US" i="1" dirty="0">
                <a:ea typeface="+mn-lt"/>
                <a:cs typeface="+mn-lt"/>
              </a:rPr>
              <a:t>	</a:t>
            </a:r>
            <a:r>
              <a:rPr lang="en-US" sz="1400" i="1" dirty="0">
                <a:ea typeface="+mn-lt"/>
                <a:cs typeface="+mn-lt"/>
              </a:rPr>
              <a:t>How correct the predictions are</a:t>
            </a:r>
            <a:endParaRPr lang="en-US" i="1" dirty="0">
              <a:ea typeface="+mn-lt"/>
              <a:cs typeface="+mn-lt"/>
            </a:endParaRPr>
          </a:p>
          <a:p>
            <a:pPr>
              <a:lnSpc>
                <a:spcPct val="100000"/>
              </a:lnSpc>
              <a:buFont typeface="Arial"/>
              <a:buChar char="•"/>
            </a:pPr>
            <a:r>
              <a:rPr lang="en-US" dirty="0">
                <a:ea typeface="+mn-lt"/>
                <a:cs typeface="+mn-lt"/>
              </a:rPr>
              <a:t>Recall</a:t>
            </a:r>
          </a:p>
          <a:p>
            <a:pPr marL="0" indent="0">
              <a:lnSpc>
                <a:spcPct val="100000"/>
              </a:lnSpc>
              <a:buNone/>
            </a:pPr>
            <a:r>
              <a:rPr lang="en-US" i="1" dirty="0"/>
              <a:t>	</a:t>
            </a:r>
            <a:r>
              <a:rPr lang="en-US" sz="1400" i="1" dirty="0"/>
              <a:t>how well the model identifies each clarity class</a:t>
            </a:r>
            <a:endParaRPr lang="en-US" i="1" dirty="0"/>
          </a:p>
          <a:p>
            <a:pPr>
              <a:lnSpc>
                <a:spcPct val="100000"/>
              </a:lnSpc>
              <a:buFont typeface="Arial"/>
              <a:buChar char="•"/>
            </a:pPr>
            <a:r>
              <a:rPr lang="en-US" dirty="0">
                <a:ea typeface="+mn-lt"/>
                <a:cs typeface="+mn-lt"/>
              </a:rPr>
              <a:t>F1‑Score</a:t>
            </a:r>
          </a:p>
          <a:p>
            <a:pPr marL="0" indent="0">
              <a:lnSpc>
                <a:spcPct val="100000"/>
              </a:lnSpc>
              <a:buNone/>
            </a:pPr>
            <a:r>
              <a:rPr lang="en-US" i="1" dirty="0"/>
              <a:t>	</a:t>
            </a:r>
            <a:r>
              <a:rPr lang="en-US" sz="1400" i="1" dirty="0"/>
              <a:t>Gives a balanced measure of precision and recall</a:t>
            </a:r>
            <a:endParaRPr lang="en-US" i="1" dirty="0"/>
          </a:p>
          <a:p>
            <a:pPr marL="0" indent="0">
              <a:buNone/>
            </a:pPr>
            <a:endParaRPr lang="en-US" dirty="0"/>
          </a:p>
          <a:p>
            <a:pPr marL="0" indent="0">
              <a:buNone/>
            </a:pPr>
            <a:endParaRPr lang="en-US" dirty="0"/>
          </a:p>
        </p:txBody>
      </p:sp>
      <p:sp>
        <p:nvSpPr>
          <p:cNvPr id="7" name="Slide Number Placeholder 6">
            <a:extLst>
              <a:ext uri="{FF2B5EF4-FFF2-40B4-BE49-F238E27FC236}">
                <a16:creationId xmlns:a16="http://schemas.microsoft.com/office/drawing/2014/main" id="{551C0779-93A8-7A72-FA5B-2F2CFBFBA033}"/>
              </a:ext>
            </a:extLst>
          </p:cNvPr>
          <p:cNvSpPr>
            <a:spLocks noGrp="1"/>
          </p:cNvSpPr>
          <p:nvPr>
            <p:ph type="sldNum" sz="quarter" idx="12"/>
          </p:nvPr>
        </p:nvSpPr>
        <p:spPr/>
        <p:txBody>
          <a:bodyPr/>
          <a:lstStyle/>
          <a:p>
            <a:fld id="{CC057153-B650-4DEB-B370-79DDCFDCE934}" type="slidenum">
              <a:rPr lang="en-US" smtClean="0"/>
              <a:t>8</a:t>
            </a:fld>
            <a:endParaRPr lang="en-US" dirty="0"/>
          </a:p>
        </p:txBody>
      </p:sp>
      <p:sp>
        <p:nvSpPr>
          <p:cNvPr id="8" name="Footer Placeholder 4">
            <a:extLst>
              <a:ext uri="{FF2B5EF4-FFF2-40B4-BE49-F238E27FC236}">
                <a16:creationId xmlns:a16="http://schemas.microsoft.com/office/drawing/2014/main" id="{1C7365A8-5D4B-327E-2E07-E37BC0A6CD40}"/>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pic>
        <p:nvPicPr>
          <p:cNvPr id="9" name="Picture 8">
            <a:extLst>
              <a:ext uri="{FF2B5EF4-FFF2-40B4-BE49-F238E27FC236}">
                <a16:creationId xmlns:a16="http://schemas.microsoft.com/office/drawing/2014/main" id="{33DB7011-76A9-E487-F803-B5FBD82900B0}"/>
              </a:ext>
            </a:extLst>
          </p:cNvPr>
          <p:cNvPicPr>
            <a:picLocks noChangeAspect="1"/>
          </p:cNvPicPr>
          <p:nvPr/>
        </p:nvPicPr>
        <p:blipFill>
          <a:blip r:embed="rId3"/>
          <a:stretch>
            <a:fillRect/>
          </a:stretch>
        </p:blipFill>
        <p:spPr>
          <a:xfrm>
            <a:off x="4387385" y="1684157"/>
            <a:ext cx="7721600" cy="3585029"/>
          </a:xfrm>
          <a:prstGeom prst="rect">
            <a:avLst/>
          </a:prstGeom>
        </p:spPr>
      </p:pic>
      <p:sp>
        <p:nvSpPr>
          <p:cNvPr id="4" name="Title 1">
            <a:extLst>
              <a:ext uri="{FF2B5EF4-FFF2-40B4-BE49-F238E27FC236}">
                <a16:creationId xmlns:a16="http://schemas.microsoft.com/office/drawing/2014/main" id="{9442D28C-C05E-2103-7B79-7D9202C5950A}"/>
              </a:ext>
            </a:extLst>
          </p:cNvPr>
          <p:cNvSpPr txBox="1">
            <a:spLocks/>
          </p:cNvSpPr>
          <p:nvPr/>
        </p:nvSpPr>
        <p:spPr>
          <a:xfrm>
            <a:off x="5695299" y="5500077"/>
            <a:ext cx="5927219" cy="1357923"/>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4000" b="0" i="0" kern="1200" cap="all" baseline="0">
                <a:solidFill>
                  <a:schemeClr val="tx1"/>
                </a:solidFill>
                <a:latin typeface="+mj-lt"/>
                <a:ea typeface="+mj-ea"/>
                <a:cs typeface="+mj-cs"/>
              </a:defRPr>
            </a:lvl1pPr>
          </a:lstStyle>
          <a:p>
            <a:r>
              <a:rPr lang="en-US" sz="1600" cap="none" dirty="0"/>
              <a:t>Left:   </a:t>
            </a:r>
            <a:r>
              <a:rPr lang="en-US" sz="1400" cap="none" dirty="0"/>
              <a:t>Loss decreases over Epochs. Validation loss doesn’t rise, </a:t>
            </a:r>
          </a:p>
          <a:p>
            <a:r>
              <a:rPr lang="en-US" sz="1400" cap="none" dirty="0"/>
              <a:t>              so no overfitting. </a:t>
            </a:r>
          </a:p>
          <a:p>
            <a:endParaRPr lang="en-US" sz="1400" cap="none" dirty="0"/>
          </a:p>
          <a:p>
            <a:r>
              <a:rPr lang="en-US" sz="1600" cap="none" dirty="0"/>
              <a:t>Right: </a:t>
            </a:r>
            <a:r>
              <a:rPr lang="en-US" sz="1400" cap="none" dirty="0"/>
              <a:t>Accuracy increases over Epochs. Curves stay close </a:t>
            </a:r>
          </a:p>
          <a:p>
            <a:r>
              <a:rPr lang="en-US" sz="1400" cap="none" dirty="0"/>
              <a:t>              so no overfitting </a:t>
            </a:r>
            <a:endParaRPr lang="en-US" sz="1800" cap="none" dirty="0"/>
          </a:p>
        </p:txBody>
      </p:sp>
    </p:spTree>
    <p:extLst>
      <p:ext uri="{BB962C8B-B14F-4D97-AF65-F5344CB8AC3E}">
        <p14:creationId xmlns:p14="http://schemas.microsoft.com/office/powerpoint/2010/main" val="9570121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0848481A-6684-C0D9-C6EE-1A1CE43E95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B121CD-9A5E-BBF7-755F-E3EDF28F556D}"/>
              </a:ext>
            </a:extLst>
          </p:cNvPr>
          <p:cNvSpPr>
            <a:spLocks noGrp="1"/>
          </p:cNvSpPr>
          <p:nvPr>
            <p:ph type="title"/>
          </p:nvPr>
        </p:nvSpPr>
        <p:spPr>
          <a:xfrm>
            <a:off x="634030" y="1001715"/>
            <a:ext cx="10648162" cy="1127756"/>
          </a:xfrm>
        </p:spPr>
        <p:txBody>
          <a:bodyPr>
            <a:normAutofit/>
          </a:bodyPr>
          <a:lstStyle/>
          <a:p>
            <a:r>
              <a:rPr lang="en-US">
                <a:ea typeface="+mj-lt"/>
                <a:cs typeface="+mj-lt"/>
              </a:rPr>
              <a:t>Customer Segmentation (Clustering)</a:t>
            </a:r>
            <a:endParaRPr lang="en-US"/>
          </a:p>
        </p:txBody>
      </p:sp>
      <p:sp>
        <p:nvSpPr>
          <p:cNvPr id="3" name="Text Placeholder 2">
            <a:extLst>
              <a:ext uri="{FF2B5EF4-FFF2-40B4-BE49-F238E27FC236}">
                <a16:creationId xmlns:a16="http://schemas.microsoft.com/office/drawing/2014/main" id="{96DE7F4F-8324-0D03-4D23-F93BB1EE2C29}"/>
              </a:ext>
            </a:extLst>
          </p:cNvPr>
          <p:cNvSpPr>
            <a:spLocks noGrp="1"/>
          </p:cNvSpPr>
          <p:nvPr>
            <p:ph type="body" sz="quarter" idx="13"/>
          </p:nvPr>
        </p:nvSpPr>
        <p:spPr>
          <a:xfrm>
            <a:off x="634030" y="2129474"/>
            <a:ext cx="5266090" cy="4435918"/>
          </a:xfrm>
        </p:spPr>
        <p:txBody>
          <a:bodyPr vert="horz" lIns="91440" tIns="45720" rIns="91440" bIns="45720" rtlCol="0" anchor="t">
            <a:normAutofit fontScale="92500" lnSpcReduction="10000"/>
          </a:bodyPr>
          <a:lstStyle/>
          <a:p>
            <a:pPr>
              <a:buNone/>
            </a:pPr>
            <a:r>
              <a:rPr lang="en-US" sz="1700" b="1" dirty="0">
                <a:ea typeface="+mn-lt"/>
                <a:cs typeface="+mn-lt"/>
              </a:rPr>
              <a:t>Method:</a:t>
            </a:r>
            <a:r>
              <a:rPr lang="en-US" sz="1700" dirty="0">
                <a:ea typeface="+mn-lt"/>
                <a:cs typeface="+mn-lt"/>
              </a:rPr>
              <a:t> KMeans </a:t>
            </a:r>
          </a:p>
          <a:p>
            <a:pPr>
              <a:lnSpc>
                <a:spcPct val="110000"/>
              </a:lnSpc>
              <a:buNone/>
            </a:pPr>
            <a:r>
              <a:rPr lang="en-US" sz="1500" i="1" dirty="0"/>
              <a:t>KMeans is fast, simple, and works well with scaled numeric data</a:t>
            </a:r>
          </a:p>
          <a:p>
            <a:pPr>
              <a:lnSpc>
                <a:spcPct val="110000"/>
              </a:lnSpc>
              <a:buNone/>
            </a:pPr>
            <a:endParaRPr lang="en-US" sz="1400" i="1" dirty="0"/>
          </a:p>
          <a:p>
            <a:pPr>
              <a:buNone/>
            </a:pPr>
            <a:r>
              <a:rPr lang="en-US" sz="1700" b="1" dirty="0">
                <a:ea typeface="+mn-lt"/>
                <a:cs typeface="+mn-lt"/>
              </a:rPr>
              <a:t>Evaluation:</a:t>
            </a:r>
            <a:r>
              <a:rPr lang="en-US" sz="1700" dirty="0">
                <a:ea typeface="+mn-lt"/>
                <a:cs typeface="+mn-lt"/>
              </a:rPr>
              <a:t> Silhouette Score </a:t>
            </a:r>
          </a:p>
          <a:p>
            <a:pPr>
              <a:lnSpc>
                <a:spcPct val="100000"/>
              </a:lnSpc>
              <a:buNone/>
            </a:pPr>
            <a:r>
              <a:rPr lang="en-US" sz="1500" i="1" dirty="0"/>
              <a:t>Silhouette Score measures how well clusters are separated.</a:t>
            </a:r>
          </a:p>
          <a:p>
            <a:pPr>
              <a:lnSpc>
                <a:spcPct val="100000"/>
              </a:lnSpc>
              <a:buNone/>
            </a:pPr>
            <a:r>
              <a:rPr lang="en-US" sz="1500" i="1" dirty="0"/>
              <a:t>Higher score = better clustering</a:t>
            </a:r>
          </a:p>
          <a:p>
            <a:pPr>
              <a:lnSpc>
                <a:spcPct val="100000"/>
              </a:lnSpc>
              <a:buNone/>
            </a:pPr>
            <a:endParaRPr lang="en-US" sz="1400" i="1" dirty="0">
              <a:ea typeface="+mn-lt"/>
              <a:cs typeface="+mn-lt"/>
            </a:endParaRPr>
          </a:p>
          <a:p>
            <a:pPr>
              <a:buNone/>
            </a:pPr>
            <a:r>
              <a:rPr lang="en-US" sz="1700" b="1" dirty="0">
                <a:ea typeface="+mn-lt"/>
                <a:cs typeface="+mn-lt"/>
              </a:rPr>
              <a:t>Clusters:</a:t>
            </a:r>
            <a:endParaRPr lang="en-US" sz="1700" dirty="0"/>
          </a:p>
          <a:p>
            <a:pPr>
              <a:buFont typeface="Arial"/>
              <a:buChar char="•"/>
            </a:pPr>
            <a:r>
              <a:rPr lang="en-US" dirty="0">
                <a:ea typeface="+mn-lt"/>
                <a:cs typeface="+mn-lt"/>
              </a:rPr>
              <a:t>Premium</a:t>
            </a:r>
            <a:endParaRPr lang="en-US" dirty="0"/>
          </a:p>
          <a:p>
            <a:pPr>
              <a:buFont typeface="Arial"/>
              <a:buChar char="•"/>
            </a:pPr>
            <a:r>
              <a:rPr lang="en-US" dirty="0">
                <a:ea typeface="+mn-lt"/>
                <a:cs typeface="+mn-lt"/>
              </a:rPr>
              <a:t>Mid‑range</a:t>
            </a:r>
            <a:endParaRPr lang="en-US" dirty="0"/>
          </a:p>
          <a:p>
            <a:pPr>
              <a:buFont typeface="Arial"/>
              <a:buChar char="•"/>
            </a:pPr>
            <a:r>
              <a:rPr lang="en-US" dirty="0">
                <a:ea typeface="+mn-lt"/>
                <a:cs typeface="+mn-lt"/>
              </a:rPr>
              <a:t>Budget </a:t>
            </a:r>
            <a:endParaRPr lang="en-US" dirty="0"/>
          </a:p>
          <a:p>
            <a:pPr>
              <a:buFont typeface="Arial"/>
              <a:buChar char="•"/>
            </a:pPr>
            <a:r>
              <a:rPr lang="en-US" dirty="0">
                <a:ea typeface="+mn-lt"/>
                <a:cs typeface="+mn-lt"/>
              </a:rPr>
              <a:t>Unique Profiles</a:t>
            </a:r>
            <a:endParaRPr lang="en-US" b="1" dirty="0"/>
          </a:p>
          <a:p>
            <a:pPr marL="0" indent="0">
              <a:buNone/>
            </a:pPr>
            <a:endParaRPr lang="en-US" dirty="0"/>
          </a:p>
          <a:p>
            <a:pPr marL="0" indent="0">
              <a:buNone/>
            </a:pPr>
            <a:endParaRPr lang="en-US" dirty="0"/>
          </a:p>
        </p:txBody>
      </p:sp>
      <p:sp>
        <p:nvSpPr>
          <p:cNvPr id="7" name="Slide Number Placeholder 6">
            <a:extLst>
              <a:ext uri="{FF2B5EF4-FFF2-40B4-BE49-F238E27FC236}">
                <a16:creationId xmlns:a16="http://schemas.microsoft.com/office/drawing/2014/main" id="{8496A163-34CE-14EA-7F3B-1C0001FC0410}"/>
              </a:ext>
            </a:extLst>
          </p:cNvPr>
          <p:cNvSpPr>
            <a:spLocks noGrp="1"/>
          </p:cNvSpPr>
          <p:nvPr>
            <p:ph type="sldNum" sz="quarter" idx="12"/>
          </p:nvPr>
        </p:nvSpPr>
        <p:spPr/>
        <p:txBody>
          <a:bodyPr/>
          <a:lstStyle/>
          <a:p>
            <a:fld id="{CC057153-B650-4DEB-B370-79DDCFDCE934}" type="slidenum">
              <a:rPr lang="en-US" smtClean="0"/>
              <a:t>9</a:t>
            </a:fld>
            <a:endParaRPr lang="en-US" dirty="0"/>
          </a:p>
        </p:txBody>
      </p:sp>
      <p:sp>
        <p:nvSpPr>
          <p:cNvPr id="8" name="Footer Placeholder 4">
            <a:extLst>
              <a:ext uri="{FF2B5EF4-FFF2-40B4-BE49-F238E27FC236}">
                <a16:creationId xmlns:a16="http://schemas.microsoft.com/office/drawing/2014/main" id="{5CD223E9-7BF9-4842-98DE-2F4E3F3825ED}"/>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pic>
        <p:nvPicPr>
          <p:cNvPr id="5" name="Picture 4">
            <a:extLst>
              <a:ext uri="{FF2B5EF4-FFF2-40B4-BE49-F238E27FC236}">
                <a16:creationId xmlns:a16="http://schemas.microsoft.com/office/drawing/2014/main" id="{F7C28597-B5FA-1C54-1CCE-76D0BF3C8FFE}"/>
              </a:ext>
            </a:extLst>
          </p:cNvPr>
          <p:cNvPicPr>
            <a:picLocks noChangeAspect="1"/>
          </p:cNvPicPr>
          <p:nvPr/>
        </p:nvPicPr>
        <p:blipFill>
          <a:blip r:embed="rId3"/>
          <a:stretch>
            <a:fillRect/>
          </a:stretch>
        </p:blipFill>
        <p:spPr>
          <a:xfrm>
            <a:off x="5527664" y="2129471"/>
            <a:ext cx="6432071" cy="4072643"/>
          </a:xfrm>
          <a:prstGeom prst="rect">
            <a:avLst/>
          </a:prstGeom>
        </p:spPr>
      </p:pic>
    </p:spTree>
    <p:extLst>
      <p:ext uri="{BB962C8B-B14F-4D97-AF65-F5344CB8AC3E}">
        <p14:creationId xmlns:p14="http://schemas.microsoft.com/office/powerpoint/2010/main" val="11192107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A360D7-F74C-CD9E-C576-1CB8FFE8778E}"/>
              </a:ext>
            </a:extLst>
          </p:cNvPr>
          <p:cNvSpPr>
            <a:spLocks noGrp="1"/>
          </p:cNvSpPr>
          <p:nvPr>
            <p:ph type="ctrTitle"/>
          </p:nvPr>
        </p:nvSpPr>
        <p:spPr>
          <a:xfrm>
            <a:off x="633478" y="638132"/>
            <a:ext cx="10924476" cy="2147207"/>
          </a:xfrm>
        </p:spPr>
        <p:txBody>
          <a:bodyPr/>
          <a:lstStyle/>
          <a:p>
            <a:r>
              <a:rPr lang="en-US"/>
              <a:t>Ai assistant</a:t>
            </a:r>
          </a:p>
        </p:txBody>
      </p:sp>
      <p:sp>
        <p:nvSpPr>
          <p:cNvPr id="4" name="Title 1">
            <a:extLst>
              <a:ext uri="{FF2B5EF4-FFF2-40B4-BE49-F238E27FC236}">
                <a16:creationId xmlns:a16="http://schemas.microsoft.com/office/drawing/2014/main" id="{08A86C91-B0FE-2742-6409-792B49CDCEA5}"/>
              </a:ext>
            </a:extLst>
          </p:cNvPr>
          <p:cNvSpPr txBox="1">
            <a:spLocks/>
          </p:cNvSpPr>
          <p:nvPr/>
        </p:nvSpPr>
        <p:spPr>
          <a:xfrm>
            <a:off x="633478" y="2953160"/>
            <a:ext cx="10924476" cy="1406977"/>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7200" b="0" i="0" kern="1200" cap="all" baseline="0">
                <a:solidFill>
                  <a:schemeClr val="bg1"/>
                </a:solidFill>
                <a:latin typeface="+mj-lt"/>
                <a:ea typeface="+mj-ea"/>
                <a:cs typeface="+mj-cs"/>
              </a:defRPr>
            </a:lvl1pPr>
          </a:lstStyle>
          <a:p>
            <a:pPr marL="285750" indent="-285750">
              <a:lnSpc>
                <a:spcPct val="150000"/>
              </a:lnSpc>
              <a:buFont typeface="Arial"/>
              <a:buChar char="•"/>
            </a:pPr>
            <a:r>
              <a:rPr lang="en-US" sz="1600" cap="none">
                <a:ea typeface="+mj-lt"/>
                <a:cs typeface="+mj-lt"/>
              </a:rPr>
              <a:t>Natural language search </a:t>
            </a:r>
            <a:endParaRPr lang="en-US" cap="none"/>
          </a:p>
          <a:p>
            <a:pPr marL="285750" indent="-285750">
              <a:lnSpc>
                <a:spcPct val="150000"/>
              </a:lnSpc>
              <a:buFont typeface="Arial"/>
              <a:buChar char="•"/>
            </a:pPr>
            <a:r>
              <a:rPr lang="en-US" sz="1600" cap="none">
                <a:ea typeface="+mj-lt"/>
                <a:cs typeface="+mj-lt"/>
              </a:rPr>
              <a:t>Explains results </a:t>
            </a:r>
          </a:p>
          <a:p>
            <a:pPr marL="285750" indent="-285750">
              <a:lnSpc>
                <a:spcPct val="150000"/>
              </a:lnSpc>
              <a:buFont typeface="Arial"/>
              <a:buChar char="•"/>
            </a:pPr>
            <a:r>
              <a:rPr lang="en-US" sz="1600" cap="none">
                <a:ea typeface="+mj-lt"/>
                <a:cs typeface="+mj-lt"/>
              </a:rPr>
              <a:t>Finds diamonds based on user intent</a:t>
            </a:r>
            <a:endParaRPr lang="en-US" sz="1600" cap="none"/>
          </a:p>
        </p:txBody>
      </p:sp>
      <p:sp>
        <p:nvSpPr>
          <p:cNvPr id="6" name="Footer Placeholder 4">
            <a:extLst>
              <a:ext uri="{FF2B5EF4-FFF2-40B4-BE49-F238E27FC236}">
                <a16:creationId xmlns:a16="http://schemas.microsoft.com/office/drawing/2014/main" id="{0EAE2E68-B485-B9FF-5739-5B390D73532E}"/>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bg1"/>
                </a:solidFill>
                <a:ea typeface="Batang"/>
              </a:rPr>
              <a:t>Diamonds Predictor Application</a:t>
            </a:r>
          </a:p>
        </p:txBody>
      </p:sp>
      <p:pic>
        <p:nvPicPr>
          <p:cNvPr id="3074" name="Picture 2" descr="Lexi - Your first AI employee for customer support">
            <a:extLst>
              <a:ext uri="{FF2B5EF4-FFF2-40B4-BE49-F238E27FC236}">
                <a16:creationId xmlns:a16="http://schemas.microsoft.com/office/drawing/2014/main" id="{1E324AFB-3AB0-0C13-9490-DA2524942802}"/>
              </a:ext>
            </a:extLst>
          </p:cNvPr>
          <p:cNvPicPr>
            <a:picLocks noChangeAspect="1" noChangeArrowheads="1"/>
          </p:cNvPicPr>
          <p:nvPr/>
        </p:nvPicPr>
        <p:blipFill>
          <a:blip r:embed="rId3">
            <a:alphaModFix amt="78000"/>
            <a:extLst>
              <a:ext uri="{28A0092B-C50C-407E-A947-70E740481C1C}">
                <a14:useLocalDpi xmlns:a14="http://schemas.microsoft.com/office/drawing/2010/main" val="0"/>
              </a:ext>
            </a:extLst>
          </a:blip>
          <a:srcRect/>
          <a:stretch>
            <a:fillRect/>
          </a:stretch>
        </p:blipFill>
        <p:spPr bwMode="auto">
          <a:xfrm>
            <a:off x="8077200" y="0"/>
            <a:ext cx="41148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83877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72092-1D93-1C42-71C9-4C3CD1035FA3}"/>
              </a:ext>
            </a:extLst>
          </p:cNvPr>
          <p:cNvSpPr>
            <a:spLocks noGrp="1"/>
          </p:cNvSpPr>
          <p:nvPr>
            <p:ph type="title"/>
          </p:nvPr>
        </p:nvSpPr>
        <p:spPr>
          <a:xfrm>
            <a:off x="634030" y="1001714"/>
            <a:ext cx="6954277" cy="726631"/>
          </a:xfrm>
        </p:spPr>
        <p:txBody>
          <a:bodyPr/>
          <a:lstStyle/>
          <a:p>
            <a:r>
              <a:rPr lang="en-US" dirty="0">
                <a:ea typeface="+mj-lt"/>
                <a:cs typeface="+mj-lt"/>
              </a:rPr>
              <a:t>Gradio Web Application</a:t>
            </a:r>
            <a:endParaRPr lang="en-US" dirty="0"/>
          </a:p>
        </p:txBody>
      </p:sp>
      <p:sp>
        <p:nvSpPr>
          <p:cNvPr id="6" name="Slide Number Placeholder 5">
            <a:extLst>
              <a:ext uri="{FF2B5EF4-FFF2-40B4-BE49-F238E27FC236}">
                <a16:creationId xmlns:a16="http://schemas.microsoft.com/office/drawing/2014/main" id="{A6B74622-7DE0-8F9D-5C52-82D39E218EE1}"/>
              </a:ext>
            </a:extLst>
          </p:cNvPr>
          <p:cNvSpPr>
            <a:spLocks noGrp="1"/>
          </p:cNvSpPr>
          <p:nvPr>
            <p:ph type="sldNum" sz="quarter" idx="12"/>
          </p:nvPr>
        </p:nvSpPr>
        <p:spPr/>
        <p:txBody>
          <a:bodyPr/>
          <a:lstStyle/>
          <a:p>
            <a:fld id="{CC057153-B650-4DEB-B370-79DDCFDCE934}" type="slidenum">
              <a:rPr lang="en-US" smtClean="0"/>
              <a:t>11</a:t>
            </a:fld>
            <a:endParaRPr lang="en-US" dirty="0"/>
          </a:p>
        </p:txBody>
      </p:sp>
      <p:sp>
        <p:nvSpPr>
          <p:cNvPr id="4" name="Footer Placeholder 4">
            <a:extLst>
              <a:ext uri="{FF2B5EF4-FFF2-40B4-BE49-F238E27FC236}">
                <a16:creationId xmlns:a16="http://schemas.microsoft.com/office/drawing/2014/main" id="{80C3E9A2-7C77-6213-4FAB-61F4FD8A2E93}"/>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3" name="Content Placeholder 4">
            <a:extLst>
              <a:ext uri="{FF2B5EF4-FFF2-40B4-BE49-F238E27FC236}">
                <a16:creationId xmlns:a16="http://schemas.microsoft.com/office/drawing/2014/main" id="{FC5F8BB3-7F29-177C-0517-DAB31D503393}"/>
              </a:ext>
            </a:extLst>
          </p:cNvPr>
          <p:cNvSpPr txBox="1">
            <a:spLocks/>
          </p:cNvSpPr>
          <p:nvPr/>
        </p:nvSpPr>
        <p:spPr>
          <a:xfrm>
            <a:off x="634031" y="2496190"/>
            <a:ext cx="6595448" cy="3726809"/>
          </a:xfrm>
          <a:prstGeom prst="rect">
            <a:avLst/>
          </a:prstGeom>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600" b="0" i="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ea typeface="+mn-lt"/>
                <a:cs typeface="+mn-lt"/>
              </a:rPr>
              <a:t>Tabs:</a:t>
            </a:r>
            <a:endParaRPr lang="en-US" b="1" dirty="0"/>
          </a:p>
          <a:p>
            <a:pPr marL="285750" indent="-285750">
              <a:buFont typeface="Arial"/>
              <a:buChar char="•"/>
            </a:pPr>
            <a:r>
              <a:rPr lang="en-US" dirty="0">
                <a:ea typeface="+mn-lt"/>
                <a:cs typeface="+mn-lt"/>
              </a:rPr>
              <a:t>Price Prediction</a:t>
            </a:r>
            <a:endParaRPr lang="en-US" dirty="0"/>
          </a:p>
          <a:p>
            <a:pPr marL="285750" indent="-285750">
              <a:buFont typeface="Arial"/>
              <a:buChar char="•"/>
            </a:pPr>
            <a:r>
              <a:rPr lang="en-US" dirty="0">
                <a:ea typeface="+mn-lt"/>
                <a:cs typeface="+mn-lt"/>
              </a:rPr>
              <a:t>Clarity Prediction</a:t>
            </a:r>
            <a:endParaRPr lang="en-US" dirty="0"/>
          </a:p>
          <a:p>
            <a:pPr marL="285750" indent="-285750">
              <a:buFont typeface="Arial"/>
              <a:buChar char="•"/>
            </a:pPr>
            <a:r>
              <a:rPr lang="en-US" dirty="0">
                <a:ea typeface="+mn-lt"/>
                <a:cs typeface="+mn-lt"/>
              </a:rPr>
              <a:t>AI Assistant</a:t>
            </a:r>
            <a:endParaRPr lang="en-US" dirty="0"/>
          </a:p>
          <a:p>
            <a:pPr marL="0" indent="0">
              <a:buFont typeface="Arial" panose="020B0604020202020204" pitchFamily="34" charset="0"/>
              <a:buNone/>
            </a:pPr>
            <a:endParaRPr lang="en-US" b="1" dirty="0"/>
          </a:p>
        </p:txBody>
      </p:sp>
      <p:pic>
        <p:nvPicPr>
          <p:cNvPr id="7" name="Picture 6">
            <a:extLst>
              <a:ext uri="{FF2B5EF4-FFF2-40B4-BE49-F238E27FC236}">
                <a16:creationId xmlns:a16="http://schemas.microsoft.com/office/drawing/2014/main" id="{A663F28C-3B8C-56A8-AF6B-5E8F29D5BEFB}"/>
              </a:ext>
            </a:extLst>
          </p:cNvPr>
          <p:cNvPicPr>
            <a:picLocks noChangeAspect="1"/>
          </p:cNvPicPr>
          <p:nvPr/>
        </p:nvPicPr>
        <p:blipFill>
          <a:blip r:embed="rId3"/>
          <a:stretch>
            <a:fillRect/>
          </a:stretch>
        </p:blipFill>
        <p:spPr>
          <a:xfrm>
            <a:off x="4603693" y="1759675"/>
            <a:ext cx="7296866" cy="4852416"/>
          </a:xfrm>
          <a:prstGeom prst="rect">
            <a:avLst/>
          </a:prstGeom>
        </p:spPr>
      </p:pic>
    </p:spTree>
    <p:extLst>
      <p:ext uri="{BB962C8B-B14F-4D97-AF65-F5344CB8AC3E}">
        <p14:creationId xmlns:p14="http://schemas.microsoft.com/office/powerpoint/2010/main" val="11350434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21C934B4-77E0-387F-5DB4-390615124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328115-DC2E-BC4A-4E9F-DFECB075204D}"/>
              </a:ext>
            </a:extLst>
          </p:cNvPr>
          <p:cNvSpPr>
            <a:spLocks noGrp="1"/>
          </p:cNvSpPr>
          <p:nvPr>
            <p:ph type="title"/>
          </p:nvPr>
        </p:nvSpPr>
        <p:spPr/>
        <p:txBody>
          <a:bodyPr/>
          <a:lstStyle/>
          <a:p>
            <a:r>
              <a:rPr lang="en-US" dirty="0">
                <a:ea typeface="+mj-lt"/>
                <a:cs typeface="+mj-lt"/>
              </a:rPr>
              <a:t>Model usage Summary</a:t>
            </a:r>
          </a:p>
        </p:txBody>
      </p:sp>
      <p:sp>
        <p:nvSpPr>
          <p:cNvPr id="6" name="Slide Number Placeholder 5">
            <a:extLst>
              <a:ext uri="{FF2B5EF4-FFF2-40B4-BE49-F238E27FC236}">
                <a16:creationId xmlns:a16="http://schemas.microsoft.com/office/drawing/2014/main" id="{E06AA4A9-AA6C-8136-B31B-8CB416D4DC7C}"/>
              </a:ext>
            </a:extLst>
          </p:cNvPr>
          <p:cNvSpPr>
            <a:spLocks noGrp="1"/>
          </p:cNvSpPr>
          <p:nvPr>
            <p:ph type="sldNum" sz="quarter" idx="12"/>
          </p:nvPr>
        </p:nvSpPr>
        <p:spPr/>
        <p:txBody>
          <a:bodyPr/>
          <a:lstStyle/>
          <a:p>
            <a:fld id="{CC057153-B650-4DEB-B370-79DDCFDCE934}" type="slidenum">
              <a:rPr lang="en-US" smtClean="0"/>
              <a:t>12</a:t>
            </a:fld>
            <a:endParaRPr lang="en-US" dirty="0"/>
          </a:p>
        </p:txBody>
      </p:sp>
      <p:sp>
        <p:nvSpPr>
          <p:cNvPr id="4" name="Footer Placeholder 4">
            <a:extLst>
              <a:ext uri="{FF2B5EF4-FFF2-40B4-BE49-F238E27FC236}">
                <a16:creationId xmlns:a16="http://schemas.microsoft.com/office/drawing/2014/main" id="{FBF1ED02-CDEE-392C-37EE-30A9AC6489BB}"/>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9" name="Content Placeholder 8">
            <a:extLst>
              <a:ext uri="{FF2B5EF4-FFF2-40B4-BE49-F238E27FC236}">
                <a16:creationId xmlns:a16="http://schemas.microsoft.com/office/drawing/2014/main" id="{26492EBA-7F3B-40A6-3B21-35CAA817D2ED}"/>
              </a:ext>
            </a:extLst>
          </p:cNvPr>
          <p:cNvSpPr>
            <a:spLocks noGrp="1"/>
          </p:cNvSpPr>
          <p:nvPr>
            <p:ph idx="1"/>
          </p:nvPr>
        </p:nvSpPr>
        <p:spPr/>
        <p:txBody>
          <a:bodyPr vert="horz" lIns="91440" tIns="45720" rIns="91440" bIns="45720" rtlCol="0" anchor="t">
            <a:normAutofit/>
          </a:bodyPr>
          <a:lstStyle/>
          <a:p>
            <a:pPr>
              <a:lnSpc>
                <a:spcPct val="150000"/>
              </a:lnSpc>
            </a:pPr>
            <a:r>
              <a:rPr lang="en-GB">
                <a:ea typeface="+mn-lt"/>
                <a:cs typeface="+mn-lt"/>
              </a:rPr>
              <a:t>The regression model predicts price accurately. </a:t>
            </a:r>
            <a:endParaRPr lang="en-US">
              <a:ea typeface="+mn-lt"/>
              <a:cs typeface="+mn-lt"/>
            </a:endParaRPr>
          </a:p>
          <a:p>
            <a:pPr>
              <a:lnSpc>
                <a:spcPct val="150000"/>
              </a:lnSpc>
            </a:pPr>
            <a:r>
              <a:rPr lang="en-GB">
                <a:ea typeface="+mn-lt"/>
                <a:cs typeface="+mn-lt"/>
              </a:rPr>
              <a:t>The classification model predicts clarity reliably. </a:t>
            </a:r>
            <a:endParaRPr lang="en-US">
              <a:ea typeface="+mn-lt"/>
              <a:cs typeface="+mn-lt"/>
            </a:endParaRPr>
          </a:p>
          <a:p>
            <a:pPr>
              <a:lnSpc>
                <a:spcPct val="150000"/>
              </a:lnSpc>
            </a:pPr>
            <a:r>
              <a:rPr lang="en-GB">
                <a:ea typeface="+mn-lt"/>
                <a:cs typeface="+mn-lt"/>
              </a:rPr>
              <a:t>The clustering model segments diamonds into meaningful groups. </a:t>
            </a:r>
            <a:endParaRPr lang="en-US">
              <a:ea typeface="+mn-lt"/>
              <a:cs typeface="+mn-lt"/>
            </a:endParaRPr>
          </a:p>
          <a:p>
            <a:pPr marL="0" indent="0">
              <a:lnSpc>
                <a:spcPct val="150000"/>
              </a:lnSpc>
              <a:buNone/>
            </a:pPr>
            <a:endParaRPr lang="en-GB" dirty="0">
              <a:ea typeface="+mn-lt"/>
              <a:cs typeface="+mn-lt"/>
            </a:endParaRPr>
          </a:p>
          <a:p>
            <a:pPr marL="0" indent="0">
              <a:lnSpc>
                <a:spcPct val="150000"/>
              </a:lnSpc>
              <a:buNone/>
            </a:pPr>
            <a:r>
              <a:rPr lang="en-GB">
                <a:ea typeface="+mn-lt"/>
                <a:cs typeface="+mn-lt"/>
              </a:rPr>
              <a:t>Together, these models solve the business problem I introduced at the beginning.</a:t>
            </a:r>
            <a:endParaRPr lang="en-US"/>
          </a:p>
        </p:txBody>
      </p:sp>
    </p:spTree>
    <p:extLst>
      <p:ext uri="{BB962C8B-B14F-4D97-AF65-F5344CB8AC3E}">
        <p14:creationId xmlns:p14="http://schemas.microsoft.com/office/powerpoint/2010/main" val="3440860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073E4AA0-E8D9-6A08-79A9-AAD5C67952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C9EB82-6F2C-2B4D-4488-667079AA34FF}"/>
              </a:ext>
            </a:extLst>
          </p:cNvPr>
          <p:cNvSpPr>
            <a:spLocks noGrp="1"/>
          </p:cNvSpPr>
          <p:nvPr>
            <p:ph type="title"/>
          </p:nvPr>
        </p:nvSpPr>
        <p:spPr>
          <a:xfrm>
            <a:off x="430830" y="958171"/>
            <a:ext cx="11758505" cy="755659"/>
          </a:xfrm>
        </p:spPr>
        <p:txBody>
          <a:bodyPr/>
          <a:lstStyle/>
          <a:p>
            <a:pPr algn="ctr"/>
            <a:r>
              <a:rPr lang="en-US">
                <a:ea typeface="+mj-lt"/>
                <a:cs typeface="+mj-lt"/>
              </a:rPr>
              <a:t>Conclusion &amp; Future Work</a:t>
            </a:r>
            <a:endParaRPr lang="en-US"/>
          </a:p>
        </p:txBody>
      </p:sp>
      <p:sp>
        <p:nvSpPr>
          <p:cNvPr id="6" name="Slide Number Placeholder 5">
            <a:extLst>
              <a:ext uri="{FF2B5EF4-FFF2-40B4-BE49-F238E27FC236}">
                <a16:creationId xmlns:a16="http://schemas.microsoft.com/office/drawing/2014/main" id="{68708E90-F984-43C0-418C-E10B8FF84144}"/>
              </a:ext>
            </a:extLst>
          </p:cNvPr>
          <p:cNvSpPr>
            <a:spLocks noGrp="1"/>
          </p:cNvSpPr>
          <p:nvPr>
            <p:ph type="sldNum" sz="quarter" idx="12"/>
          </p:nvPr>
        </p:nvSpPr>
        <p:spPr/>
        <p:txBody>
          <a:bodyPr/>
          <a:lstStyle/>
          <a:p>
            <a:fld id="{CC057153-B650-4DEB-B370-79DDCFDCE934}" type="slidenum">
              <a:rPr lang="en-US" smtClean="0"/>
              <a:t>13</a:t>
            </a:fld>
            <a:endParaRPr lang="en-US" dirty="0"/>
          </a:p>
        </p:txBody>
      </p:sp>
      <p:sp>
        <p:nvSpPr>
          <p:cNvPr id="4" name="Footer Placeholder 4">
            <a:extLst>
              <a:ext uri="{FF2B5EF4-FFF2-40B4-BE49-F238E27FC236}">
                <a16:creationId xmlns:a16="http://schemas.microsoft.com/office/drawing/2014/main" id="{80DD91F1-3630-0267-69EB-E9E9280EF8AA}"/>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9" name="Content Placeholder 8">
            <a:extLst>
              <a:ext uri="{FF2B5EF4-FFF2-40B4-BE49-F238E27FC236}">
                <a16:creationId xmlns:a16="http://schemas.microsoft.com/office/drawing/2014/main" id="{F703017D-232C-9880-1453-331EA908B059}"/>
              </a:ext>
            </a:extLst>
          </p:cNvPr>
          <p:cNvSpPr>
            <a:spLocks noGrp="1"/>
          </p:cNvSpPr>
          <p:nvPr>
            <p:ph idx="1"/>
          </p:nvPr>
        </p:nvSpPr>
        <p:spPr>
          <a:xfrm>
            <a:off x="1700830" y="2129474"/>
            <a:ext cx="5241592" cy="4093525"/>
          </a:xfrm>
        </p:spPr>
        <p:txBody>
          <a:bodyPr vert="horz" lIns="91440" tIns="45720" rIns="91440" bIns="45720" rtlCol="0" anchor="t">
            <a:normAutofit/>
          </a:bodyPr>
          <a:lstStyle/>
          <a:p>
            <a:pPr marL="0" indent="0">
              <a:lnSpc>
                <a:spcPct val="150000"/>
              </a:lnSpc>
              <a:buNone/>
            </a:pPr>
            <a:r>
              <a:rPr lang="en-GB" b="1" dirty="0">
                <a:ea typeface="+mn-lt"/>
                <a:cs typeface="+mn-lt"/>
              </a:rPr>
              <a:t>Conclusion:</a:t>
            </a:r>
          </a:p>
          <a:p>
            <a:pPr>
              <a:lnSpc>
                <a:spcPct val="150000"/>
              </a:lnSpc>
            </a:pPr>
            <a:r>
              <a:rPr lang="en-GB" dirty="0">
                <a:ea typeface="+mn-lt"/>
                <a:cs typeface="+mn-lt"/>
              </a:rPr>
              <a:t>Complete ML pipeline</a:t>
            </a:r>
          </a:p>
          <a:p>
            <a:pPr>
              <a:lnSpc>
                <a:spcPct val="150000"/>
              </a:lnSpc>
            </a:pPr>
            <a:r>
              <a:rPr lang="en-GB" dirty="0">
                <a:ea typeface="+mn-lt"/>
                <a:cs typeface="+mn-lt"/>
              </a:rPr>
              <a:t>Accurate price prediction</a:t>
            </a:r>
          </a:p>
          <a:p>
            <a:pPr>
              <a:lnSpc>
                <a:spcPct val="150000"/>
              </a:lnSpc>
            </a:pPr>
            <a:r>
              <a:rPr lang="en-GB" dirty="0">
                <a:ea typeface="+mn-lt"/>
                <a:cs typeface="+mn-lt"/>
              </a:rPr>
              <a:t>Automated clarity prediction</a:t>
            </a:r>
          </a:p>
          <a:p>
            <a:pPr>
              <a:lnSpc>
                <a:spcPct val="150000"/>
              </a:lnSpc>
            </a:pPr>
            <a:r>
              <a:rPr lang="en-GB" dirty="0">
                <a:ea typeface="+mn-lt"/>
                <a:cs typeface="+mn-lt"/>
              </a:rPr>
              <a:t>Customer segmentation</a:t>
            </a:r>
          </a:p>
          <a:p>
            <a:pPr>
              <a:lnSpc>
                <a:spcPct val="150000"/>
              </a:lnSpc>
            </a:pPr>
            <a:r>
              <a:rPr lang="en-GB" dirty="0">
                <a:ea typeface="+mn-lt"/>
                <a:cs typeface="+mn-lt"/>
              </a:rPr>
              <a:t>Deployed Gradio app</a:t>
            </a:r>
          </a:p>
          <a:p>
            <a:pPr>
              <a:lnSpc>
                <a:spcPct val="150000"/>
              </a:lnSpc>
            </a:pPr>
            <a:r>
              <a:rPr lang="en-GB" dirty="0">
                <a:ea typeface="+mn-lt"/>
                <a:cs typeface="+mn-lt"/>
              </a:rPr>
              <a:t>AI assistant</a:t>
            </a:r>
          </a:p>
          <a:p>
            <a:pPr>
              <a:lnSpc>
                <a:spcPct val="150000"/>
              </a:lnSpc>
            </a:pPr>
            <a:endParaRPr lang="en-GB" dirty="0"/>
          </a:p>
        </p:txBody>
      </p:sp>
      <p:sp>
        <p:nvSpPr>
          <p:cNvPr id="5" name="Content Placeholder 8">
            <a:extLst>
              <a:ext uri="{FF2B5EF4-FFF2-40B4-BE49-F238E27FC236}">
                <a16:creationId xmlns:a16="http://schemas.microsoft.com/office/drawing/2014/main" id="{6948F1B0-063D-7F6C-D1B0-BA9F34258AA1}"/>
              </a:ext>
            </a:extLst>
          </p:cNvPr>
          <p:cNvSpPr txBox="1">
            <a:spLocks/>
          </p:cNvSpPr>
          <p:nvPr/>
        </p:nvSpPr>
        <p:spPr>
          <a:xfrm>
            <a:off x="6947745" y="2129474"/>
            <a:ext cx="5241592" cy="4093525"/>
          </a:xfrm>
          <a:prstGeom prst="rect">
            <a:avLst/>
          </a:prstGeom>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600" b="0" i="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GB" b="1">
                <a:ea typeface="+mn-lt"/>
                <a:cs typeface="+mn-lt"/>
              </a:rPr>
              <a:t>Future Work:</a:t>
            </a:r>
            <a:endParaRPr lang="en-GB" b="1" dirty="0">
              <a:ea typeface="+mn-lt"/>
              <a:cs typeface="+mn-lt"/>
            </a:endParaRPr>
          </a:p>
          <a:p>
            <a:pPr>
              <a:lnSpc>
                <a:spcPct val="150000"/>
              </a:lnSpc>
            </a:pPr>
            <a:r>
              <a:rPr lang="en-GB" dirty="0">
                <a:ea typeface="+mn-lt"/>
                <a:cs typeface="+mn-lt"/>
              </a:rPr>
              <a:t>Add XGBoost or CNN models</a:t>
            </a:r>
          </a:p>
          <a:p>
            <a:pPr>
              <a:lnSpc>
                <a:spcPct val="150000"/>
              </a:lnSpc>
            </a:pPr>
            <a:r>
              <a:rPr lang="en-GB" dirty="0">
                <a:ea typeface="+mn-lt"/>
                <a:cs typeface="+mn-lt"/>
              </a:rPr>
              <a:t>Deploy on HuggingFace Spaces</a:t>
            </a:r>
          </a:p>
          <a:p>
            <a:pPr>
              <a:lnSpc>
                <a:spcPct val="150000"/>
              </a:lnSpc>
            </a:pPr>
            <a:r>
              <a:rPr lang="en-GB">
                <a:ea typeface="+mn-lt"/>
                <a:cs typeface="+mn-lt"/>
              </a:rPr>
              <a:t>Add recommendation system</a:t>
            </a:r>
          </a:p>
          <a:p>
            <a:pPr>
              <a:lnSpc>
                <a:spcPct val="150000"/>
              </a:lnSpc>
            </a:pPr>
            <a:r>
              <a:rPr lang="en-GB">
                <a:ea typeface="+mn-lt"/>
                <a:cs typeface="+mn-lt"/>
              </a:rPr>
              <a:t>Add real‑time pricing API</a:t>
            </a:r>
          </a:p>
          <a:p>
            <a:endParaRPr lang="en-GB" dirty="0">
              <a:ea typeface="+mn-lt"/>
              <a:cs typeface="+mn-lt"/>
            </a:endParaRPr>
          </a:p>
          <a:p>
            <a:pPr>
              <a:lnSpc>
                <a:spcPct val="150000"/>
              </a:lnSpc>
            </a:pPr>
            <a:endParaRPr lang="en-GB" dirty="0"/>
          </a:p>
        </p:txBody>
      </p:sp>
    </p:spTree>
    <p:extLst>
      <p:ext uri="{BB962C8B-B14F-4D97-AF65-F5344CB8AC3E}">
        <p14:creationId xmlns:p14="http://schemas.microsoft.com/office/powerpoint/2010/main" val="15005604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C21CBA-BF0E-B09D-1B6D-7B68C95FAF55}"/>
              </a:ext>
            </a:extLst>
          </p:cNvPr>
          <p:cNvSpPr>
            <a:spLocks noGrp="1"/>
          </p:cNvSpPr>
          <p:nvPr>
            <p:ph type="title"/>
          </p:nvPr>
        </p:nvSpPr>
        <p:spPr/>
        <p:txBody>
          <a:bodyPr/>
          <a:lstStyle/>
          <a:p>
            <a:r>
              <a:rPr lang="en-US" dirty="0"/>
              <a:t>Q &amp; A</a:t>
            </a:r>
          </a:p>
        </p:txBody>
      </p:sp>
      <p:sp>
        <p:nvSpPr>
          <p:cNvPr id="6" name="Slide Number Placeholder 5">
            <a:extLst>
              <a:ext uri="{FF2B5EF4-FFF2-40B4-BE49-F238E27FC236}">
                <a16:creationId xmlns:a16="http://schemas.microsoft.com/office/drawing/2014/main" id="{390E8512-F192-F148-7D3C-9D173B81DA84}"/>
              </a:ext>
            </a:extLst>
          </p:cNvPr>
          <p:cNvSpPr>
            <a:spLocks noGrp="1"/>
          </p:cNvSpPr>
          <p:nvPr>
            <p:ph type="sldNum" sz="quarter" idx="12"/>
          </p:nvPr>
        </p:nvSpPr>
        <p:spPr/>
        <p:txBody>
          <a:bodyPr/>
          <a:lstStyle/>
          <a:p>
            <a:fld id="{CC057153-B650-4DEB-B370-79DDCFDCE934}" type="slidenum">
              <a:rPr lang="en-US" smtClean="0"/>
              <a:pPr/>
              <a:t>14</a:t>
            </a:fld>
            <a:endParaRPr lang="en-US" dirty="0"/>
          </a:p>
        </p:txBody>
      </p:sp>
      <p:sp>
        <p:nvSpPr>
          <p:cNvPr id="3" name="Content Placeholder 2">
            <a:extLst>
              <a:ext uri="{FF2B5EF4-FFF2-40B4-BE49-F238E27FC236}">
                <a16:creationId xmlns:a16="http://schemas.microsoft.com/office/drawing/2014/main" id="{F50FAF19-45F3-90C6-51C9-DEA3089E4D18}"/>
              </a:ext>
            </a:extLst>
          </p:cNvPr>
          <p:cNvSpPr>
            <a:spLocks noGrp="1"/>
          </p:cNvSpPr>
          <p:nvPr>
            <p:ph sz="quarter" idx="14"/>
          </p:nvPr>
        </p:nvSpPr>
        <p:spPr/>
        <p:txBody>
          <a:bodyPr/>
          <a:lstStyle/>
          <a:p>
            <a:pPr>
              <a:spcBef>
                <a:spcPts val="0"/>
              </a:spcBef>
            </a:pPr>
            <a:r>
              <a:rPr lang="en-US" dirty="0"/>
              <a:t>Let’s discuss questions </a:t>
            </a:r>
          </a:p>
          <a:p>
            <a:pPr>
              <a:spcBef>
                <a:spcPts val="0"/>
              </a:spcBef>
            </a:pPr>
            <a:r>
              <a:rPr lang="en-US" dirty="0"/>
              <a:t>as a team.</a:t>
            </a:r>
          </a:p>
        </p:txBody>
      </p:sp>
      <p:pic>
        <p:nvPicPr>
          <p:cNvPr id="8" name="Picture Placeholder 7" descr="A living room with a white sofa and a coffee table">
            <a:extLst>
              <a:ext uri="{FF2B5EF4-FFF2-40B4-BE49-F238E27FC236}">
                <a16:creationId xmlns:a16="http://schemas.microsoft.com/office/drawing/2014/main" id="{4CEF7857-464F-3B7A-9327-7E3B813EECFF}"/>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a:ext>
            </a:extLst>
          </a:blip>
          <a:srcRect/>
          <a:stretch/>
        </p:blipFill>
        <p:spPr/>
      </p:pic>
    </p:spTree>
    <p:extLst>
      <p:ext uri="{BB962C8B-B14F-4D97-AF65-F5344CB8AC3E}">
        <p14:creationId xmlns:p14="http://schemas.microsoft.com/office/powerpoint/2010/main" val="3843793409"/>
      </p:ext>
    </p:extLst>
  </p:cSld>
  <p:clrMapOvr>
    <a:masterClrMapping/>
  </p:clrMapOvr>
</p:sld>
</file>

<file path=ppt/theme/theme1.xml><?xml version="1.0" encoding="utf-8"?>
<a:theme xmlns:a="http://schemas.openxmlformats.org/drawingml/2006/main" name="JapandiLinearHarmony">
  <a:themeElements>
    <a:clrScheme name="Japandi Linear Harmony">
      <a:dk1>
        <a:srgbClr val="000000"/>
      </a:dk1>
      <a:lt1>
        <a:srgbClr val="FFFFFF"/>
      </a:lt1>
      <a:dk2>
        <a:srgbClr val="2C3932"/>
      </a:dk2>
      <a:lt2>
        <a:srgbClr val="FEFDFB"/>
      </a:lt2>
      <a:accent1>
        <a:srgbClr val="ECE7DA"/>
      </a:accent1>
      <a:accent2>
        <a:srgbClr val="8A835B"/>
      </a:accent2>
      <a:accent3>
        <a:srgbClr val="D7D9CF"/>
      </a:accent3>
      <a:accent4>
        <a:srgbClr val="A39382"/>
      </a:accent4>
      <a:accent5>
        <a:srgbClr val="87A3BF"/>
      </a:accent5>
      <a:accent6>
        <a:srgbClr val="343826"/>
      </a:accent6>
      <a:hlink>
        <a:srgbClr val="169C9A"/>
      </a:hlink>
      <a:folHlink>
        <a:srgbClr val="E15C3D"/>
      </a:folHlink>
    </a:clrScheme>
    <a:fontScheme name="Custom 24">
      <a:majorFont>
        <a:latin typeface="Nunito Sans"/>
        <a:ea typeface=""/>
        <a:cs typeface=""/>
      </a:majorFont>
      <a:minorFont>
        <a:latin typeface="Nuni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apandi linear_Marketing Presentation_win32_SD_V9" id="{57601A81-7059-40B9-B27D-CFA4D443B3D6}" vid="{9FBC8E92-EE9C-44F9-AA8A-E22EDCB5B7B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3301439-688F-4D19-B908-B48B62C56078}">
  <ds:schemaRefs>
    <ds:schemaRef ds:uri="http://schemas.microsoft.com/sharepoint/v3/contenttype/forms"/>
  </ds:schemaRefs>
</ds:datastoreItem>
</file>

<file path=customXml/itemProps2.xml><?xml version="1.0" encoding="utf-8"?>
<ds:datastoreItem xmlns:ds="http://schemas.openxmlformats.org/officeDocument/2006/customXml" ds:itemID="{D1CEDABF-7176-4A42-8EF9-E5D4DD31FF6C}">
  <ds:schemaRefs>
    <ds:schemaRef ds:uri="71af3243-3dd4-4a8d-8c0d-dd76da1f02a5"/>
    <ds:schemaRef ds:uri="http://purl.org/dc/dcmitype/"/>
    <ds:schemaRef ds:uri="16c05727-aa75-4e4a-9b5f-8a80a1165891"/>
    <ds:schemaRef ds:uri="http://purl.org/dc/elements/1.1/"/>
    <ds:schemaRef ds:uri="http://www.w3.org/XML/1998/namespace"/>
    <ds:schemaRef ds:uri="http://schemas.microsoft.com/sharepoint/v3"/>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230e9df3-be65-4c73-a93b-d1236ebd677e"/>
  </ds:schemaRefs>
</ds:datastoreItem>
</file>

<file path=customXml/itemProps3.xml><?xml version="1.0" encoding="utf-8"?>
<ds:datastoreItem xmlns:ds="http://schemas.openxmlformats.org/officeDocument/2006/customXml" ds:itemID="{9EEC3793-C1BC-496C-A03C-202DFFC513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964</TotalTime>
  <Words>1572</Words>
  <Application>Microsoft Office PowerPoint</Application>
  <PresentationFormat>Widescreen</PresentationFormat>
  <Paragraphs>288</Paragraphs>
  <Slides>14</Slides>
  <Notes>14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14</vt:i4>
      </vt:variant>
    </vt:vector>
  </HeadingPairs>
  <TitlesOfParts>
    <vt:vector size="23" baseType="lpstr">
      <vt:lpstr>Batang</vt:lpstr>
      <vt:lpstr>Dotum</vt:lpstr>
      <vt:lpstr>Aptos</vt:lpstr>
      <vt:lpstr>Arial</vt:lpstr>
      <vt:lpstr>Cambria</vt:lpstr>
      <vt:lpstr>Nunito Sans</vt:lpstr>
      <vt:lpstr>Segoe UI</vt:lpstr>
      <vt:lpstr>Univers Light</vt:lpstr>
      <vt:lpstr>JapandiLinearHarmony</vt:lpstr>
      <vt:lpstr>Diamonds Predictor Application </vt:lpstr>
      <vt:lpstr>What This Project Is About</vt:lpstr>
      <vt:lpstr>Business Problem</vt:lpstr>
      <vt:lpstr>Dataset OVERVIEW</vt:lpstr>
      <vt:lpstr>key eda insights</vt:lpstr>
      <vt:lpstr>Preprocessing Pipeline</vt:lpstr>
      <vt:lpstr>ANN Regression Model (Price Prediction)</vt:lpstr>
      <vt:lpstr>ANN classification Model (clarity Prediction)</vt:lpstr>
      <vt:lpstr>Customer Segmentation (Clustering)</vt:lpstr>
      <vt:lpstr>Ai assistant</vt:lpstr>
      <vt:lpstr>Gradio Web Application</vt:lpstr>
      <vt:lpstr>Model usage Summary</vt:lpstr>
      <vt:lpstr>Conclusion &amp; Future Work</vt:lpstr>
      <vt:lpstr>Q &amp; 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Saad Ehsan</dc:creator>
  <cp:lastModifiedBy>Saad Ehsan</cp:lastModifiedBy>
  <cp:revision>318</cp:revision>
  <dcterms:created xsi:type="dcterms:W3CDTF">2026-07-28T01:14:52Z</dcterms:created>
  <dcterms:modified xsi:type="dcterms:W3CDTF">2026-07-29T01:01:00Z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